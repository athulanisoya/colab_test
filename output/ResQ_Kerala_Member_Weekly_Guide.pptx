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2c0e537910d4ab3" /><Relationship Type="http://schemas.openxmlformats.org/officeDocument/2006/relationships/extended-properties" Target="/docProps/app.xml" Id="R560d0337caa74b51" /><Relationship Type="http://schemas.openxmlformats.org/officeDocument/2006/relationships/officeDocument" Target="/ppt/presentation.xml" Id="R290e862e84844a57" /></Relationships>
</file>

<file path=ppt/presentation.xml><?xml version="1.0" encoding="utf-8"?>
<p:presentation xmlns:p="http://schemas.openxmlformats.org/presentationml/2006/main">
  <p:sldMasterIdLst>
    <p:sldMasterId xmlns:r="http://schemas.openxmlformats.org/officeDocument/2006/relationships" id="2147483648" r:id="Re3e2eafcc2284fe4"/>
  </p:sldMasterIdLst>
  <p:notesMasterIdLst>
    <p:notesMasterId xmlns:r="http://schemas.openxmlformats.org/officeDocument/2006/relationships" r:id="Rf45ee8358b1446ee"/>
  </p:notesMasterIdLst>
  <p:sldIdLst>
    <p:sldId xmlns:r="http://schemas.openxmlformats.org/officeDocument/2006/relationships" id="256" r:id="R67bad632f1604ecc"/>
    <p:sldId xmlns:r="http://schemas.openxmlformats.org/officeDocument/2006/relationships" id="257" r:id="R2243e1acd6a247d7"/>
    <p:sldId xmlns:r="http://schemas.openxmlformats.org/officeDocument/2006/relationships" id="258" r:id="Rf363420054754d27"/>
    <p:sldId xmlns:r="http://schemas.openxmlformats.org/officeDocument/2006/relationships" id="259" r:id="R0dca2892797e4aec"/>
    <p:sldId xmlns:r="http://schemas.openxmlformats.org/officeDocument/2006/relationships" id="260" r:id="Re417d3a7d03345dc"/>
    <p:sldId xmlns:r="http://schemas.openxmlformats.org/officeDocument/2006/relationships" id="261" r:id="R5042ed40f35e4dd1"/>
    <p:sldId xmlns:r="http://schemas.openxmlformats.org/officeDocument/2006/relationships" id="262" r:id="R2b593d3bac254818"/>
    <p:sldId xmlns:r="http://schemas.openxmlformats.org/officeDocument/2006/relationships" id="263" r:id="R0524907bd5cd46d2"/>
    <p:sldId xmlns:r="http://schemas.openxmlformats.org/officeDocument/2006/relationships" id="264" r:id="R86366abc161a41ea"/>
    <p:sldId xmlns:r="http://schemas.openxmlformats.org/officeDocument/2006/relationships" id="265" r:id="R45ec9059253047ff"/>
    <p:sldId xmlns:r="http://schemas.openxmlformats.org/officeDocument/2006/relationships" id="266" r:id="R7c21b073654a4be0"/>
    <p:sldId xmlns:r="http://schemas.openxmlformats.org/officeDocument/2006/relationships" id="267" r:id="R5a02a7c3286c4de4"/>
    <p:sldId xmlns:r="http://schemas.openxmlformats.org/officeDocument/2006/relationships" id="268" r:id="R9b0ebf7d91ed483a"/>
    <p:sldId xmlns:r="http://schemas.openxmlformats.org/officeDocument/2006/relationships" id="269" r:id="R64ab14a5d9f742e1"/>
    <p:sldId xmlns:r="http://schemas.openxmlformats.org/officeDocument/2006/relationships" id="270" r:id="R2655d8a780994511"/>
    <p:sldId xmlns:r="http://schemas.openxmlformats.org/officeDocument/2006/relationships" id="271" r:id="R3ca70c6415d348db"/>
    <p:sldId xmlns:r="http://schemas.openxmlformats.org/officeDocument/2006/relationships" id="272" r:id="R7bd6aed561f844ad"/>
    <p:sldId xmlns:r="http://schemas.openxmlformats.org/officeDocument/2006/relationships" id="273" r:id="R1054e590573d4c6a"/>
    <p:sldId xmlns:r="http://schemas.openxmlformats.org/officeDocument/2006/relationships" id="274" r:id="R05eab718e1a74802"/>
    <p:sldId xmlns:r="http://schemas.openxmlformats.org/officeDocument/2006/relationships" id="275" r:id="R8e199b277366479b"/>
    <p:sldId xmlns:r="http://schemas.openxmlformats.org/officeDocument/2006/relationships" id="276" r:id="Rd6e1d711dacf4172"/>
    <p:sldId xmlns:r="http://schemas.openxmlformats.org/officeDocument/2006/relationships" id="277" r:id="Rdb0cc84f6ace4491"/>
    <p:sldId xmlns:r="http://schemas.openxmlformats.org/officeDocument/2006/relationships" id="278" r:id="Ra2908bf168214db3"/>
    <p:sldId xmlns:r="http://schemas.openxmlformats.org/officeDocument/2006/relationships" id="279" r:id="R51644857b4e640b0"/>
    <p:sldId xmlns:r="http://schemas.openxmlformats.org/officeDocument/2006/relationships" id="280" r:id="Rdaad2707ea2d402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b978f1c56e534c07" /><Relationship Type="http://schemas.openxmlformats.org/officeDocument/2006/relationships/slideMaster" Target="/ppt/slideMasters/slideMaster1.xml" Id="Re3e2eafcc2284fe4" /><Relationship Type="http://schemas.openxmlformats.org/officeDocument/2006/relationships/notesMaster" Target="/ppt/notesMasters/notesMaster1.xml" Id="Rf45ee8358b1446ee" /><Relationship Type="http://schemas.openxmlformats.org/officeDocument/2006/relationships/presProps" Target="/ppt/presProps.xml" Id="Rc301088951944c92" /><Relationship Type="http://schemas.openxmlformats.org/officeDocument/2006/relationships/viewProps" Target="/ppt/viewProps.xml" Id="Rf904a1470a81498d" /><Relationship Type="http://schemas.openxmlformats.org/officeDocument/2006/relationships/tableStyles" Target="/ppt/tableStyles.xml" Id="R5527c85a6ddf4814" /><Relationship Type="http://schemas.openxmlformats.org/officeDocument/2006/relationships/slide" Target="/ppt/slides/slide1.xml" Id="R67bad632f1604ecc" /><Relationship Type="http://schemas.openxmlformats.org/officeDocument/2006/relationships/slide" Target="/ppt/slides/slide2.xml" Id="R2243e1acd6a247d7" /><Relationship Type="http://schemas.openxmlformats.org/officeDocument/2006/relationships/slide" Target="/ppt/slides/slide3.xml" Id="Rf363420054754d27" /><Relationship Type="http://schemas.openxmlformats.org/officeDocument/2006/relationships/slide" Target="/ppt/slides/slide4.xml" Id="R0dca2892797e4aec" /><Relationship Type="http://schemas.openxmlformats.org/officeDocument/2006/relationships/slide" Target="/ppt/slides/slide5.xml" Id="Re417d3a7d03345dc" /><Relationship Type="http://schemas.openxmlformats.org/officeDocument/2006/relationships/slide" Target="/ppt/slides/slide6.xml" Id="R5042ed40f35e4dd1" /><Relationship Type="http://schemas.openxmlformats.org/officeDocument/2006/relationships/slide" Target="/ppt/slides/slide7.xml" Id="R2b593d3bac254818" /><Relationship Type="http://schemas.openxmlformats.org/officeDocument/2006/relationships/slide" Target="/ppt/slides/slide8.xml" Id="R0524907bd5cd46d2" /><Relationship Type="http://schemas.openxmlformats.org/officeDocument/2006/relationships/slide" Target="/ppt/slides/slide9.xml" Id="R86366abc161a41ea" /><Relationship Type="http://schemas.openxmlformats.org/officeDocument/2006/relationships/slide" Target="/ppt/slides/slide10.xml" Id="R45ec9059253047ff" /><Relationship Type="http://schemas.openxmlformats.org/officeDocument/2006/relationships/slide" Target="/ppt/slides/slide11.xml" Id="R7c21b073654a4be0" /><Relationship Type="http://schemas.openxmlformats.org/officeDocument/2006/relationships/slide" Target="/ppt/slides/slide12.xml" Id="R5a02a7c3286c4de4" /><Relationship Type="http://schemas.openxmlformats.org/officeDocument/2006/relationships/slide" Target="/ppt/slides/slide13.xml" Id="R9b0ebf7d91ed483a" /><Relationship Type="http://schemas.openxmlformats.org/officeDocument/2006/relationships/slide" Target="/ppt/slides/slide14.xml" Id="R64ab14a5d9f742e1" /><Relationship Type="http://schemas.openxmlformats.org/officeDocument/2006/relationships/slide" Target="/ppt/slides/slide15.xml" Id="R2655d8a780994511" /><Relationship Type="http://schemas.openxmlformats.org/officeDocument/2006/relationships/slide" Target="/ppt/slides/slide16.xml" Id="R3ca70c6415d348db" /><Relationship Type="http://schemas.openxmlformats.org/officeDocument/2006/relationships/slide" Target="/ppt/slides/slide17.xml" Id="R7bd6aed561f844ad" /><Relationship Type="http://schemas.openxmlformats.org/officeDocument/2006/relationships/slide" Target="/ppt/slides/slide18.xml" Id="R1054e590573d4c6a" /><Relationship Type="http://schemas.openxmlformats.org/officeDocument/2006/relationships/slide" Target="/ppt/slides/slide19.xml" Id="R05eab718e1a74802" /><Relationship Type="http://schemas.openxmlformats.org/officeDocument/2006/relationships/slide" Target="/ppt/slides/slide20.xml" Id="R8e199b277366479b" /><Relationship Type="http://schemas.openxmlformats.org/officeDocument/2006/relationships/slide" Target="/ppt/slides/slide21.xml" Id="Rd6e1d711dacf4172" /><Relationship Type="http://schemas.openxmlformats.org/officeDocument/2006/relationships/slide" Target="/ppt/slides/slide22.xml" Id="Rdb0cc84f6ace4491" /><Relationship Type="http://schemas.openxmlformats.org/officeDocument/2006/relationships/slide" Target="/ppt/slides/slide23.xml" Id="Ra2908bf168214db3" /><Relationship Type="http://schemas.openxmlformats.org/officeDocument/2006/relationships/slide" Target="/ppt/slides/slide24.xml" Id="R51644857b4e640b0" /><Relationship Type="http://schemas.openxmlformats.org/officeDocument/2006/relationships/slide" Target="/ppt/slides/slide25.xml" Id="Rdaad2707ea2d402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4ac7af305da42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1e190141d3340ee" /><Relationship Type="http://schemas.openxmlformats.org/officeDocument/2006/relationships/notesMaster" Target="/ppt/notesMasters/notesMaster1.xml" Id="Rd0f0b504ae394cc7" /></Relationships>
</file>

<file path=ppt/notesSlides/_rels/notesSlide2.xml.rels>&#65279;<?xml version="1.0" encoding="utf-8"?><Relationships xmlns="http://schemas.openxmlformats.org/package/2006/relationships"><Relationship Type="http://schemas.openxmlformats.org/officeDocument/2006/relationships/slide" Target="/ppt/slides/slide2.xml" Id="Rc0f42275eb21466f" /><Relationship Type="http://schemas.openxmlformats.org/officeDocument/2006/relationships/notesMaster" Target="/ppt/notesMasters/notesMaster1.xml" Id="R8be729047ed5485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384bca969de4283" /><Relationship Type="http://schemas.openxmlformats.org/officeDocument/2006/relationships/notesMaster" Target="/ppt/notesMasters/notesMaster1.xml" Id="R705ec318a4544ddb" /></Relationships>
</file>

<file path=ppt/notesSlides/_rels/notesSlide4.xml.rels>&#65279;<?xml version="1.0" encoding="utf-8"?><Relationships xmlns="http://schemas.openxmlformats.org/package/2006/relationships"><Relationship Type="http://schemas.openxmlformats.org/officeDocument/2006/relationships/slide" Target="/ppt/slides/slide4.xml" Id="Rded28a58735c4010" /><Relationship Type="http://schemas.openxmlformats.org/officeDocument/2006/relationships/notesMaster" Target="/ppt/notesMasters/notesMaster1.xml" Id="R0cf9d1f9ec0d40ca" /></Relationships>
</file>

<file path=ppt/notesSlides/_rels/notesSlide5.xml.rels>&#65279;<?xml version="1.0" encoding="utf-8"?><Relationships xmlns="http://schemas.openxmlformats.org/package/2006/relationships"><Relationship Type="http://schemas.openxmlformats.org/officeDocument/2006/relationships/slide" Target="/ppt/slides/slide5.xml" Id="R96ff546f82e44bac" /><Relationship Type="http://schemas.openxmlformats.org/officeDocument/2006/relationships/notesMaster" Target="/ppt/notesMasters/notesMaster1.xml" Id="R2fa00b8e9ef24f05" /></Relationships>
</file>

<file path=ppt/notesSlides/_rels/notesSlide6.xml.rels>&#65279;<?xml version="1.0" encoding="utf-8"?><Relationships xmlns="http://schemas.openxmlformats.org/package/2006/relationships"><Relationship Type="http://schemas.openxmlformats.org/officeDocument/2006/relationships/slide" Target="/ppt/slides/slide6.xml" Id="R92fc0ecb288f40e1" /><Relationship Type="http://schemas.openxmlformats.org/officeDocument/2006/relationships/notesMaster" Target="/ppt/notesMasters/notesMaster1.xml" Id="Ra72bc9fe6f5f4afe" /></Relationships>
</file>

<file path=ppt/notesSlides/_rels/notesSlide7.xml.rels>&#65279;<?xml version="1.0" encoding="utf-8"?><Relationships xmlns="http://schemas.openxmlformats.org/package/2006/relationships"><Relationship Type="http://schemas.openxmlformats.org/officeDocument/2006/relationships/slide" Target="/ppt/slides/slide7.xml" Id="Ra738dd3fb6754850" /><Relationship Type="http://schemas.openxmlformats.org/officeDocument/2006/relationships/notesMaster" Target="/ppt/notesMasters/notesMaster1.xml" Id="R16c848d4745b49f0" /></Relationships>
</file>

<file path=ppt/notesSlides/_rels/notesSlide8.xml.rels>&#65279;<?xml version="1.0" encoding="utf-8"?><Relationships xmlns="http://schemas.openxmlformats.org/package/2006/relationships"><Relationship Type="http://schemas.openxmlformats.org/officeDocument/2006/relationships/slide" Target="/ppt/slides/slide8.xml" Id="Rc2f41d652c984d44" /><Relationship Type="http://schemas.openxmlformats.org/officeDocument/2006/relationships/notesMaster" Target="/ppt/notesMasters/notesMaster1.xml" Id="R47b6687c80984ac7" /></Relationships>
</file>

<file path=ppt/notesSlides/_rels/notesSlide9.xml.rels>&#65279;<?xml version="1.0" encoding="utf-8"?><Relationships xmlns="http://schemas.openxmlformats.org/package/2006/relationships"><Relationship Type="http://schemas.openxmlformats.org/officeDocument/2006/relationships/slide" Target="/ppt/slides/slide9.xml" Id="R3b14cf371f2a4cd4" /><Relationship Type="http://schemas.openxmlformats.org/officeDocument/2006/relationships/notesMaster" Target="/ppt/notesMasters/notesMaster1.xml" Id="R515d9ecb73d745d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de3f0fd5e004f3c" /><Relationship Type="http://schemas.openxmlformats.org/officeDocument/2006/relationships/notesMaster" Target="/ppt/notesMasters/notesMaster1.xml" Id="R428d09b39a454c6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a64eb2934654f3b" /><Relationship Type="http://schemas.openxmlformats.org/officeDocument/2006/relationships/notesMaster" Target="/ppt/notesMasters/notesMaster1.xml" Id="Rcee33a7f4b4d48c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ad5a4182ea240f1" /><Relationship Type="http://schemas.openxmlformats.org/officeDocument/2006/relationships/notesMaster" Target="/ppt/notesMasters/notesMaster1.xml" Id="Ree3ee3355e5e4d3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419468fc96a4e84" /><Relationship Type="http://schemas.openxmlformats.org/officeDocument/2006/relationships/notesMaster" Target="/ppt/notesMasters/notesMaster1.xml" Id="Rc757450ab2834a8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e52ed2d1fa5468d" /><Relationship Type="http://schemas.openxmlformats.org/officeDocument/2006/relationships/notesMaster" Target="/ppt/notesMasters/notesMaster1.xml" Id="R119c401e18c0484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0e97bef5f1b4c4d" /><Relationship Type="http://schemas.openxmlformats.org/officeDocument/2006/relationships/notesMaster" Target="/ppt/notesMasters/notesMaster1.xml" Id="R9c150da509254c4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89beda7f7c34a96" /><Relationship Type="http://schemas.openxmlformats.org/officeDocument/2006/relationships/notesMaster" Target="/ppt/notesMasters/notesMaster1.xml" Id="R87f18418df27405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beb6b03f5d940bb" /><Relationship Type="http://schemas.openxmlformats.org/officeDocument/2006/relationships/notesMaster" Target="/ppt/notesMasters/notesMaster1.xml" Id="Ra8c10a49f87441b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64ba1857477404f" /><Relationship Type="http://schemas.openxmlformats.org/officeDocument/2006/relationships/notesMaster" Target="/ppt/notesMasters/notesMaster1.xml" Id="Rf715d9ebc94944b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a3920457b4f437c" /><Relationship Type="http://schemas.openxmlformats.org/officeDocument/2006/relationships/notesMaster" Target="/ppt/notesMasters/notesMaster1.xml" Id="R135bf547aa234e3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a8de3b141714c0e" /><Relationship Type="http://schemas.openxmlformats.org/officeDocument/2006/relationships/notesMaster" Target="/ppt/notesMasters/notesMaster1.xml" Id="Rd5fca64e78e240a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9ac5d535c4d4e59" /><Relationship Type="http://schemas.openxmlformats.org/officeDocument/2006/relationships/notesMaster" Target="/ppt/notesMasters/notesMaster1.xml" Id="Rb417defde5d342e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8536c6489d048fb" /><Relationship Type="http://schemas.openxmlformats.org/officeDocument/2006/relationships/notesMaster" Target="/ppt/notesMasters/notesMaster1.xml" Id="R3326232bb15642f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d6800ef99bd46a9" /><Relationship Type="http://schemas.openxmlformats.org/officeDocument/2006/relationships/notesMaster" Target="/ppt/notesMasters/notesMaster1.xml" Id="R59d654ae7b58433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11ddb9981df4d05" /><Relationship Type="http://schemas.openxmlformats.org/officeDocument/2006/relationships/notesMaster" Target="/ppt/notesMasters/notesMaster1.xml" Id="Rd2265f3fe415414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bb5c8e210ad41e1" /><Relationship Type="http://schemas.openxmlformats.org/officeDocument/2006/relationships/notesMaster" Target="/ppt/notesMasters/notesMaster1.xml" Id="Rd9304cbddba74f3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plan: C:/Users/athul/Downloads/ResQ_Kerala_Presentation.pptx, slides 10–14. Current code: C:/Users/athul/DL_Dec/ResQ_Kerala. Created 3 October 2026. This guideline does not move, copy, rename or modify the project source. File allocation is inferred from responsibilities in the supplied presentation and verified against the current implementation; it is not historical authorship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root: C:/Users/athul/DL_Dec/ResQ_Kerala. Member slides list eight main files; their notes identify related files, specific functions, test references and coordination details. No files are assigned exclusively when several members work in the same module. The workspace has no Git history establishing historical weekly versions. Optional voice, photos and donations remain optional extensions from source slide 8, not new mandatory weekly assignments.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C:/Users/athul/Downloads/ResQ_Kerala_Presentation.pptx, slide 10. V1–V4 are cumulative weekly demonstration targets, not recovered historical code snapshots. See individual member slides for current source references.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Assignments and results follow source presentation slide 11. File responsibilities on the next four slides are mapped to the current implementation and are proposed feature ownership, not proof of historical contribution.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responsibility: C:/Users/athul/Downloads/ResQ_Kerala_Presentation.pptx, slide 11, Athul.</a:t>
            </a:r>
          </a:p>
          <a:p xmlns:a="http://schemas.openxmlformats.org/drawingml/2006/main">
            <a:r>
              <a:t>Task: Registration, login, logout and role permissions.</a:t>
            </a:r>
          </a:p>
          <a:p xmlns:a="http://schemas.openxmlformats.org/drawingml/2006/main">
            <a:r>
              <a:t>Result/demonstration: Register, sign in as each role, show allowed pages, then sign out.</a:t>
            </a:r>
          </a:p>
          <a:p xmlns:a="http://schemas.openxmlformats.org/drawingml/2006/main">
            <a:r>
              <a:t>Project root: C:/Users/athul/DL_Dec/ResQ_Kerala</a:t>
            </a:r>
          </a:p>
          <a:p xmlns:a="http://schemas.openxmlformats.org/drawingml/2006/main">
            <a:r>
              <a:t/>
            </a:r>
          </a:p>
          <a:p xmlns:a="http://schemas.openxmlformats.org/drawingml/2006/main">
            <a:r>
              <a:t>Main files:</a:t>
            </a:r>
          </a:p>
          <a:p xmlns:a="http://schemas.openxmlformats.org/drawingml/2006/main">
            <a:r>
              <a:t>Feature responsibility: backend/routers/auth.py — Account endpoints</a:t>
            </a:r>
          </a:p>
          <a:p xmlns:a="http://schemas.openxmlformats.org/drawingml/2006/main">
            <a:r>
              <a:t>Feature responsibility: backend/services/auth_service.py — Tokens / account responses</a:t>
            </a:r>
          </a:p>
          <a:p xmlns:a="http://schemas.openxmlformats.org/drawingml/2006/main">
            <a:r>
              <a:t>Feature responsibility: backend/schemas/auth_schema.py — Register / login validation</a:t>
            </a:r>
          </a:p>
          <a:p xmlns:a="http://schemas.openxmlformats.org/drawingml/2006/main">
            <a:r>
              <a:t>Feature responsibility: backend/utils/security.py — Password hashing</a:t>
            </a:r>
          </a:p>
          <a:p xmlns:a="http://schemas.openxmlformats.org/drawingml/2006/main">
            <a:r>
              <a:t>Feature responsibility: backend/utils/jwt.py — Authenticated-user checks</a:t>
            </a:r>
          </a:p>
          <a:p xmlns:a="http://schemas.openxmlformats.org/drawingml/2006/main">
            <a:r>
              <a:t>Shared: backend/utils/permissions.py — Role and ownership gates</a:t>
            </a:r>
          </a:p>
          <a:p xmlns:a="http://schemas.openxmlformats.org/drawingml/2006/main">
            <a:r>
              <a:t>Feature responsibility: frontend/src/components/shared/Login.jsx — Registration / login screens</a:t>
            </a:r>
          </a:p>
          <a:p xmlns:a="http://schemas.openxmlformats.org/drawingml/2006/main">
            <a:r>
              <a:t>Shared: frontend/src/App.jsx — Session / role navigation</a:t>
            </a:r>
          </a:p>
          <a:p xmlns:a="http://schemas.openxmlformats.org/drawingml/2006/main">
            <a:r>
              <a:t/>
            </a:r>
          </a:p>
          <a:p xmlns:a="http://schemas.openxmlformats.org/drawingml/2006/main">
            <a:r>
              <a:t>Related/reference files:</a:t>
            </a:r>
          </a:p>
          <a:p xmlns:a="http://schemas.openxmlformats.org/drawingml/2006/main">
            <a:r>
              <a:t>backend/models/user.py</a:t>
            </a:r>
          </a:p>
          <a:p xmlns:a="http://schemas.openxmlformats.org/drawingml/2006/main">
            <a:r>
              <a:t>frontend/src/services/api.js</a:t>
            </a:r>
          </a:p>
          <a:p xmlns:a="http://schemas.openxmlformats.org/drawingml/2006/main">
            <a:r>
              <a:t>backend/tests/test_workflows.py</a:t>
            </a:r>
          </a:p>
          <a:p xmlns:a="http://schemas.openxmlformats.org/drawingml/2006/main">
            <a:r>
              <a:t/>
            </a:r>
          </a:p>
          <a:p xmlns:a="http://schemas.openxmlformats.org/drawingml/2006/main">
            <a:r>
              <a:t>Detailed guidance:</a:t>
            </a:r>
          </a:p>
          <a:p xmlns:a="http://schemas.openxmlformats.org/drawingml/2006/main">
            <a:r>
              <a:t>Focus on register, login, refresh, logout; issue_tokens; get_current_user; require_admin and operator/owner checks. Coordinate App.jsx routing with Vidya and Maanaz. Public registration cannot choose an admin role. Confirm a signed-out user cannot access protected data. API session helpers and normalized role tables are shared dependencies.</a:t>
            </a:r>
          </a:p>
          <a:p xmlns:a="http://schemas.openxmlformats.org/drawingml/2006/main">
            <a:r>
              <a:t/>
            </a:r>
          </a:p>
          <a:p xmlns:a="http://schemas.openxmlformats.org/drawingml/2006/main">
            <a:r>
              <a:t>Submission reference: explain the feature, identify the functions changed or studied, attach relevant source/test evidence and show the weekly demo. Keep existing relative paths. Shared full files contain other members' code; identify your section and coordinate changes. Exclude private .env values, credentials, reset tokens, uploads, .venv, node_modules and generated caches. No historical weekly build or individual authorship is asserted by this mapping.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responsibility: C:/Users/athul/Downloads/ResQ_Kerala_Presentation.pptx, slide 11, Arya.</a:t>
            </a:r>
          </a:p>
          <a:p xmlns:a="http://schemas.openxmlformats.org/drawingml/2006/main">
            <a:r>
              <a:t>Task: Incident APIs, database fields and report validation.</a:t>
            </a:r>
          </a:p>
          <a:p xmlns:a="http://schemas.openxmlformats.org/drawingml/2006/main">
            <a:r>
              <a:t>Result/demonstration: Save and retrieve a flood report; reject invalid facts and cross-user access.</a:t>
            </a:r>
          </a:p>
          <a:p xmlns:a="http://schemas.openxmlformats.org/drawingml/2006/main">
            <a:r>
              <a:t>Project root: C:/Users/athul/DL_Dec/ResQ_Kerala</a:t>
            </a:r>
          </a:p>
          <a:p xmlns:a="http://schemas.openxmlformats.org/drawingml/2006/main">
            <a:r>
              <a:t/>
            </a:r>
          </a:p>
          <a:p xmlns:a="http://schemas.openxmlformats.org/drawingml/2006/main">
            <a:r>
              <a:t>Main files:</a:t>
            </a:r>
          </a:p>
          <a:p xmlns:a="http://schemas.openxmlformats.org/drawingml/2006/main">
            <a:r>
              <a:t>Shared: backend/routers/incidents.py — Create / read / report history</a:t>
            </a:r>
          </a:p>
          <a:p xmlns:a="http://schemas.openxmlformats.org/drawingml/2006/main">
            <a:r>
              <a:t>Feature responsibility: backend/schemas/incident_schema.py — IncidentCreate validation</a:t>
            </a:r>
          </a:p>
          <a:p xmlns:a="http://schemas.openxmlformats.org/drawingml/2006/main">
            <a:r>
              <a:t>Feature responsibility: backend/models/incident.py — Report / analysis / history</a:t>
            </a:r>
          </a:p>
          <a:p xmlns:a="http://schemas.openxmlformats.org/drawingml/2006/main">
            <a:r>
              <a:t>Shared: backend/services/incident_service.py — Scoped report responses</a:t>
            </a:r>
          </a:p>
          <a:p xmlns:a="http://schemas.openxmlformats.org/drawingml/2006/main">
            <a:r>
              <a:t>Shared: backend/database/connection.py — Database sessions</a:t>
            </a:r>
          </a:p>
          <a:p xmlns:a="http://schemas.openxmlformats.org/drawingml/2006/main">
            <a:r>
              <a:t>Shared: backend/utils/validators.py — Lookup / serialization</a:t>
            </a:r>
          </a:p>
          <a:p xmlns:a="http://schemas.openxmlformats.org/drawingml/2006/main">
            <a:r>
              <a:t>Shared: backend/main.py — Router / startup integration</a:t>
            </a:r>
          </a:p>
          <a:p xmlns:a="http://schemas.openxmlformats.org/drawingml/2006/main">
            <a:r>
              <a:t>Shared: backend/tests/test_workflows.py — Ownership / validation checks</a:t>
            </a:r>
          </a:p>
          <a:p xmlns:a="http://schemas.openxmlformats.org/drawingml/2006/main">
            <a:r>
              <a:t/>
            </a:r>
          </a:p>
          <a:p xmlns:a="http://schemas.openxmlformats.org/drawingml/2006/main">
            <a:r>
              <a:t>Related/reference files:</a:t>
            </a:r>
          </a:p>
          <a:p xmlns:a="http://schemas.openxmlformats.org/drawingml/2006/main">
            <a:r>
              <a:t>backend/database/models.py</a:t>
            </a:r>
          </a:p>
          <a:p xmlns:a="http://schemas.openxmlformats.org/drawingml/2006/main">
            <a:r>
              <a:t/>
            </a:r>
          </a:p>
          <a:p xmlns:a="http://schemas.openxmlformats.org/drawingml/2006/main">
            <a:r>
              <a:t>Detailed guidance:</a:t>
            </a:r>
          </a:p>
          <a:p xmlns:a="http://schemas.openxmlformats.org/drawingml/2006/main">
            <a:r>
              <a:t>Focus on create_incident, my_incidents, incidents, detail, history; paired coordinate validation and nullable unknown facts. Actual ORM table definitions are in backend/models/*; database/models.py is a compatibility registry. Agree response fields with Vidya and review/assignment inputs with Maanaz. Keep the original report and case reference.</a:t>
            </a:r>
          </a:p>
          <a:p xmlns:a="http://schemas.openxmlformats.org/drawingml/2006/main">
            <a:r>
              <a:t/>
            </a:r>
          </a:p>
          <a:p xmlns:a="http://schemas.openxmlformats.org/drawingml/2006/main">
            <a:r>
              <a:t>Submission reference: explain the feature, identify the functions changed or studied, attach relevant source/test evidence and show the weekly demo. Keep existing relative paths. Shared full files contain other members' code; identify your section and coordinate changes. Exclude private .env values, credentials, reset tokens, uploads, .venv, node_modules and generated caches. No historical weekly build or individual authorship is asserted by this mapping.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responsibility: C:/Users/athul/Downloads/ResQ_Kerala_Presentation.pptx, slide 11, Maanaz.</a:t>
            </a:r>
          </a:p>
          <a:p xmlns:a="http://schemas.openxmlformats.org/drawingml/2006/main">
            <a:r>
              <a:t>Task: Admin report list, review and team assignment.</a:t>
            </a:r>
          </a:p>
          <a:p xmlns:a="http://schemas.openxmlformats.org/drawingml/2006/main">
            <a:r>
              <a:t>Result/demonstration: Review a report, verify it and assign an available response team.</a:t>
            </a:r>
          </a:p>
          <a:p xmlns:a="http://schemas.openxmlformats.org/drawingml/2006/main">
            <a:r>
              <a:t>Project root: C:/Users/athul/DL_Dec/ResQ_Kerala</a:t>
            </a:r>
          </a:p>
          <a:p xmlns:a="http://schemas.openxmlformats.org/drawingml/2006/main">
            <a:r>
              <a:t/>
            </a:r>
          </a:p>
          <a:p xmlns:a="http://schemas.openxmlformats.org/drawingml/2006/main">
            <a:r>
              <a:t>Main files:</a:t>
            </a:r>
          </a:p>
          <a:p xmlns:a="http://schemas.openxmlformats.org/drawingml/2006/main">
            <a:r>
              <a:t>Feature responsibility: frontend/src/pages/admin/IncidentQueue.jsx — Incoming admin reports</a:t>
            </a:r>
          </a:p>
          <a:p xmlns:a="http://schemas.openxmlformats.org/drawingml/2006/main">
            <a:r>
              <a:t>Shared: frontend/src/components/shared/IncidentListView.jsx — Admin queue / filters</a:t>
            </a:r>
          </a:p>
          <a:p xmlns:a="http://schemas.openxmlformats.org/drawingml/2006/main">
            <a:r>
              <a:t>Shared: frontend/src/components/shared/IncidentDetail.jsx — Review / assignment controls</a:t>
            </a:r>
          </a:p>
          <a:p xmlns:a="http://schemas.openxmlformats.org/drawingml/2006/main">
            <a:r>
              <a:t>Shared: backend/routers/incidents.py — Admin list / review</a:t>
            </a:r>
          </a:p>
          <a:p xmlns:a="http://schemas.openxmlformats.org/drawingml/2006/main">
            <a:r>
              <a:t>Shared: backend/routers/teams.py — Available teams / assignment</a:t>
            </a:r>
          </a:p>
          <a:p xmlns:a="http://schemas.openxmlformats.org/drawingml/2006/main">
            <a:r>
              <a:t>Feature responsibility: backend/services/team_service.py — Assignment / availability</a:t>
            </a:r>
          </a:p>
          <a:p xmlns:a="http://schemas.openxmlformats.org/drawingml/2006/main">
            <a:r>
              <a:t>Feature responsibility: backend/schemas/team_schema.py — AssignTeam request</a:t>
            </a:r>
          </a:p>
          <a:p xmlns:a="http://schemas.openxmlformats.org/drawingml/2006/main">
            <a:r>
              <a:t>Shared: backend/services/incident_service.py — Saved assignment status</a:t>
            </a:r>
          </a:p>
          <a:p xmlns:a="http://schemas.openxmlformats.org/drawingml/2006/main">
            <a:r>
              <a:t/>
            </a:r>
          </a:p>
          <a:p xmlns:a="http://schemas.openxmlformats.org/drawingml/2006/main">
            <a:r>
              <a:t>Related/reference files:</a:t>
            </a:r>
          </a:p>
          <a:p xmlns:a="http://schemas.openxmlformats.org/drawingml/2006/main">
            <a:r>
              <a:t>backend/tests/test_workflows.py</a:t>
            </a:r>
          </a:p>
          <a:p xmlns:a="http://schemas.openxmlformats.org/drawingml/2006/main">
            <a:r>
              <a:t>frontend/src/App.jsx</a:t>
            </a:r>
          </a:p>
          <a:p xmlns:a="http://schemas.openxmlformats.org/drawingml/2006/main">
            <a:r>
              <a:t/>
            </a:r>
          </a:p>
          <a:p xmlns:a="http://schemas.openxmlformats.org/drawingml/2006/main">
            <a:r>
              <a:t>Detailed guidance:</a:t>
            </a:r>
          </a:p>
          <a:p xmlns:a="http://schemas.openxmlformats.org/drawingml/2006/main">
            <a:r>
              <a:t>Use incidents/review, available_teams/assign_team and assign_incident_team. Record the review note and assignment note. An unverified case can be assigned to investigation, not operational rescue/relief. Coordinate citizen list/detail sections with Vidya, base incident APIs with Arya and protected routes with Athul.</a:t>
            </a:r>
          </a:p>
          <a:p xmlns:a="http://schemas.openxmlformats.org/drawingml/2006/main">
            <a:r>
              <a:t/>
            </a:r>
          </a:p>
          <a:p xmlns:a="http://schemas.openxmlformats.org/drawingml/2006/main">
            <a:r>
              <a:t>Submission reference: explain the feature, identify the functions changed or studied, attach relevant source/test evidence and show the weekly demo. Keep existing relative paths. Shared full files contain other members' code; identify your section and coordinate changes. Exclude private .env values, credentials, reset tokens, uploads, .venv, node_modules and generated caches. No historical weekly build or individual authorship is asserted by this mapping.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responsibility: C:/Users/athul/Downloads/ResQ_Kerala_Presentation.pptx, slide 11, Vidya.</a:t>
            </a:r>
          </a:p>
          <a:p xmlns:a="http://schemas.openxmlformats.org/drawingml/2006/main">
            <a:r>
              <a:t>Task: Citizen report form, My Reports and status page.</a:t>
            </a:r>
          </a:p>
          <a:p xmlns:a="http://schemas.openxmlformats.org/drawingml/2006/main">
            <a:r>
              <a:t>Result/demonstration: Submit a report, open My Reports and show its status and timeline.</a:t>
            </a:r>
          </a:p>
          <a:p xmlns:a="http://schemas.openxmlformats.org/drawingml/2006/main">
            <a:r>
              <a:t>Project root: C:/Users/athul/DL_Dec/ResQ_Kerala</a:t>
            </a:r>
          </a:p>
          <a:p xmlns:a="http://schemas.openxmlformats.org/drawingml/2006/main">
            <a:r>
              <a:t/>
            </a:r>
          </a:p>
          <a:p xmlns:a="http://schemas.openxmlformats.org/drawingml/2006/main">
            <a:r>
              <a:t>Main files:</a:t>
            </a:r>
          </a:p>
          <a:p xmlns:a="http://schemas.openxmlformats.org/drawingml/2006/main">
            <a:r>
              <a:t>Feature responsibility: frontend/src/pages/citizen/ReportForm.jsx — Citizen report submission</a:t>
            </a:r>
          </a:p>
          <a:p xmlns:a="http://schemas.openxmlformats.org/drawingml/2006/main">
            <a:r>
              <a:t>Feature responsibility: frontend/src/pages/citizen/MyReports.jsx — Personal report list</a:t>
            </a:r>
          </a:p>
          <a:p xmlns:a="http://schemas.openxmlformats.org/drawingml/2006/main">
            <a:r>
              <a:t>Shared: frontend/src/components/shared/IncidentListView.jsx — Citizen list / filters</a:t>
            </a:r>
          </a:p>
          <a:p xmlns:a="http://schemas.openxmlformats.org/drawingml/2006/main">
            <a:r>
              <a:t>Shared: frontend/src/components/shared/IncidentDetail.jsx — Citizen status / timeline</a:t>
            </a:r>
          </a:p>
          <a:p xmlns:a="http://schemas.openxmlformats.org/drawingml/2006/main">
            <a:r>
              <a:t>Shared: frontend/src/hooks/useData.js — Loading / polling / refresh</a:t>
            </a:r>
          </a:p>
          <a:p xmlns:a="http://schemas.openxmlformats.org/drawingml/2006/main">
            <a:r>
              <a:t>Shared: frontend/src/services/api.js — Submit / retrieve reports</a:t>
            </a:r>
          </a:p>
          <a:p xmlns:a="http://schemas.openxmlformats.org/drawingml/2006/main">
            <a:r>
              <a:t>Shared: backend/routers/incidents.py — Report API contract</a:t>
            </a:r>
          </a:p>
          <a:p xmlns:a="http://schemas.openxmlformats.org/drawingml/2006/main">
            <a:r>
              <a:t>Shared: backend/schemas/incident_schema.py — Fields / validation contract</a:t>
            </a:r>
          </a:p>
          <a:p xmlns:a="http://schemas.openxmlformats.org/drawingml/2006/main">
            <a:r>
              <a:t/>
            </a:r>
          </a:p>
          <a:p xmlns:a="http://schemas.openxmlformats.org/drawingml/2006/main">
            <a:r>
              <a:t>Related/reference files:</a:t>
            </a:r>
          </a:p>
          <a:p xmlns:a="http://schemas.openxmlformats.org/drawingml/2006/main">
            <a:r>
              <a:t>backend/tests/test_workflows.py</a:t>
            </a:r>
          </a:p>
          <a:p xmlns:a="http://schemas.openxmlformats.org/drawingml/2006/main">
            <a:r>
              <a:t/>
            </a:r>
          </a:p>
          <a:p xmlns:a="http://schemas.openxmlformats.org/drawingml/2006/main">
            <a:r>
              <a:t>Detailed guidance:</a:t>
            </a:r>
          </a:p>
          <a:p xmlns:a="http://schemas.openxmlformats.org/drawingml/2006/main">
            <a:r>
              <a:t>ReportForm submit must agree with Arya's IncidentCreate contract and Athul's authenticated API helper. Preserve the report reference, original message, optional unknown facts and case timeline. A second citizen must not see this report. There is no standalone StatusPage.jsx: MyReports, IncidentListView and IncidentDetail provide that experience.</a:t>
            </a:r>
          </a:p>
          <a:p xmlns:a="http://schemas.openxmlformats.org/drawingml/2006/main">
            <a:r>
              <a:t/>
            </a:r>
          </a:p>
          <a:p xmlns:a="http://schemas.openxmlformats.org/drawingml/2006/main">
            <a:r>
              <a:t>Submission reference: explain the feature, identify the functions changed or studied, attach relevant source/test evidence and show the weekly demo. Keep existing relative paths. Shared full files contain other members' code; identify your section and coordinate changes. Exclude private .env values, credentials, reset tokens, uploads, .venv, node_modules and generated caches. No historical weekly build or individual authorship is asserted by this mapping.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Assignments and results follow source presentation slide 12. File responsibilities on the next four slides are mapped to the current implementation and are proposed feature ownership, not proof of historical contribution.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responsibility: C:/Users/athul/Downloads/ResQ_Kerala_Presentation.pptx, slide 12, Vidya.</a:t>
            </a:r>
          </a:p>
          <a:p xmlns:a="http://schemas.openxmlformats.org/drawingml/2006/main">
            <a:r>
              <a:t>Task: Prepare labeled messages; train and test the urgency model.</a:t>
            </a:r>
          </a:p>
          <a:p xmlns:a="http://schemas.openxmlformats.org/drawingml/2006/main">
            <a:r>
              <a:t>Result/demonstration: Show Low / Moderate / High and explain errors on the separate test set.</a:t>
            </a:r>
          </a:p>
          <a:p xmlns:a="http://schemas.openxmlformats.org/drawingml/2006/main">
            <a:r>
              <a:t>Project root: C:/Users/athul/DL_Dec/ResQ_Kerala</a:t>
            </a:r>
          </a:p>
          <a:p xmlns:a="http://schemas.openxmlformats.org/drawingml/2006/main">
            <a:r>
              <a:t/>
            </a:r>
          </a:p>
          <a:p xmlns:a="http://schemas.openxmlformats.org/drawingml/2006/main">
            <a:r>
              <a:t>Main files:</a:t>
            </a:r>
          </a:p>
          <a:p xmlns:a="http://schemas.openxmlformats.org/drawingml/2006/main">
            <a:r>
              <a:t>Feature responsibility: data/severity_dataset/synthetic_flood_messages.csv — Labeled synthetic messages</a:t>
            </a:r>
          </a:p>
          <a:p xmlns:a="http://schemas.openxmlformats.org/drawingml/2006/main">
            <a:r>
              <a:t>Feature responsibility: notebooks/data_analysis.ipynb — Inspect labels / examples</a:t>
            </a:r>
          </a:p>
          <a:p xmlns:a="http://schemas.openxmlformats.org/drawingml/2006/main">
            <a:r>
              <a:t>Feature responsibility: notebooks/severity_training.ipynb — Training reference</a:t>
            </a:r>
          </a:p>
          <a:p xmlns:a="http://schemas.openxmlformats.org/drawingml/2006/main">
            <a:r>
              <a:t>Feature responsibility: notebooks/evaluation.ipynb — Held-out model evaluation</a:t>
            </a:r>
          </a:p>
          <a:p xmlns:a="http://schemas.openxmlformats.org/drawingml/2006/main">
            <a:r>
              <a:t>Feature responsibility: scripts/train_severity.py — Reproducible training / export</a:t>
            </a:r>
          </a:p>
          <a:p xmlns:a="http://schemas.openxmlformats.org/drawingml/2006/main">
            <a:r>
              <a:t>Feature responsibility: backend/ai/severity_model.py — Prediction / artifact loading</a:t>
            </a:r>
          </a:p>
          <a:p xmlns:a="http://schemas.openxmlformats.org/drawingml/2006/main">
            <a:r>
              <a:t>Feature responsibility: data/severity_dataset/evaluation.json — Class metrics / missed cases</a:t>
            </a:r>
          </a:p>
          <a:p xmlns:a="http://schemas.openxmlformats.org/drawingml/2006/main">
            <a:r>
              <a:t>Feature responsibility: models/severity_classifier/pipeline.joblib — Generated serving pipeline</a:t>
            </a:r>
          </a:p>
          <a:p xmlns:a="http://schemas.openxmlformats.org/drawingml/2006/main">
            <a:r>
              <a:t/>
            </a:r>
          </a:p>
          <a:p xmlns:a="http://schemas.openxmlformats.org/drawingml/2006/main">
            <a:r>
              <a:t>Related/reference files:</a:t>
            </a:r>
          </a:p>
          <a:p xmlns:a="http://schemas.openxmlformats.org/drawingml/2006/main">
            <a:r>
              <a:t>models/severity_classifier/metadata.json</a:t>
            </a:r>
          </a:p>
          <a:p xmlns:a="http://schemas.openxmlformats.org/drawingml/2006/main">
            <a:r>
              <a:t>backend/routers/chatbot.py</a:t>
            </a:r>
          </a:p>
          <a:p xmlns:a="http://schemas.openxmlformats.org/drawingml/2006/main">
            <a:r>
              <a:t>data/processed/train.csv</a:t>
            </a:r>
          </a:p>
          <a:p xmlns:a="http://schemas.openxmlformats.org/drawingml/2006/main">
            <a:r>
              <a:t>data/processed/test.csv</a:t>
            </a:r>
          </a:p>
          <a:p xmlns:a="http://schemas.openxmlformats.org/drawingml/2006/main">
            <a:r>
              <a:t>data/processed/held_out_predictions.csv</a:t>
            </a:r>
          </a:p>
          <a:p xmlns:a="http://schemas.openxmlformats.org/drawingml/2006/main">
            <a:r>
              <a:t/>
            </a:r>
          </a:p>
          <a:p xmlns:a="http://schemas.openxmlformats.org/drawingml/2006/main">
            <a:r>
              <a:t>Detailed guidance:</a:t>
            </a:r>
          </a:p>
          <a:p xmlns:a="http://schemas.openxmlformats.org/drawingml/2006/main">
            <a:r>
              <a:t>Baseline: TF-IDF + Logistic Regression, 60 synthetic messages, stratified 42 training / 18 test examples, 66.7% held-out accuracy. Fit preprocessing on the training fold only. Inspect missed urgent cases and class recall; scores are experimental and uncalibrated. get_model validates and loads the fixed-path artifact, falling back to in-memory training when missing/incompatible. Do not repeat the stale notebook introduction saying the API never loads it. Authenticated severity helper is in routers/chatbot.py. Keep metadata with the artifact.</a:t>
            </a:r>
          </a:p>
          <a:p xmlns:a="http://schemas.openxmlformats.org/drawingml/2006/main">
            <a:r>
              <a:t/>
            </a:r>
          </a:p>
          <a:p xmlns:a="http://schemas.openxmlformats.org/drawingml/2006/main">
            <a:r>
              <a:t>Submission reference: explain the feature, identify the functions changed or studied, attach relevant source/test evidence and show the weekly demo. Keep existing relative paths. Shared full files contain other members' code; identify your section and coordinate changes. Exclude private .env values, credentials, reset tokens, uploads, .venv, node_modules and generated caches. No historical weekly build or individual authorship is asserted by this mapping.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responsibility: C:/Users/athul/Downloads/ResQ_Kerala_Presentation.pptx, slide 12, Athul.</a:t>
            </a:r>
          </a:p>
          <a:p xmlns:a="http://schemas.openxmlformats.org/drawingml/2006/main">
            <a:r>
              <a:t>Task: Extract location, manage alerts and match report locations.</a:t>
            </a:r>
          </a:p>
          <a:p xmlns:a="http://schemas.openxmlformats.org/drawingml/2006/main">
            <a:r>
              <a:t>Result/demonstration: Demonstrate MATCH, NO_MATCH and UNCERTAIN without inventing a location.</a:t>
            </a:r>
          </a:p>
          <a:p xmlns:a="http://schemas.openxmlformats.org/drawingml/2006/main">
            <a:r>
              <a:t>Project root: C:/Users/athul/DL_Dec/ResQ_Kerala</a:t>
            </a:r>
          </a:p>
          <a:p xmlns:a="http://schemas.openxmlformats.org/drawingml/2006/main">
            <a:r>
              <a:t/>
            </a:r>
          </a:p>
          <a:p xmlns:a="http://schemas.openxmlformats.org/drawingml/2006/main">
            <a:r>
              <a:t>Main files:</a:t>
            </a:r>
          </a:p>
          <a:p xmlns:a="http://schemas.openxmlformats.org/drawingml/2006/main">
            <a:r>
              <a:t>Feature responsibility: backend/ai/location_extractor.py — Location / geography lookup</a:t>
            </a:r>
          </a:p>
          <a:p xmlns:a="http://schemas.openxmlformats.org/drawingml/2006/main">
            <a:r>
              <a:t>Feature responsibility: data/raw/kerala_gazetteer.json — Place aliases / source data</a:t>
            </a:r>
          </a:p>
          <a:p xmlns:a="http://schemas.openxmlformats.org/drawingml/2006/main">
            <a:r>
              <a:t>Shared: backend/ai/agent.py — Extraction / alert tools</a:t>
            </a:r>
          </a:p>
          <a:p xmlns:a="http://schemas.openxmlformats.org/drawingml/2006/main">
            <a:r>
              <a:t>Feature responsibility: backend/routers/alerts.py — Create / edit / expire alerts</a:t>
            </a:r>
          </a:p>
          <a:p xmlns:a="http://schemas.openxmlformats.org/drawingml/2006/main">
            <a:r>
              <a:t>Feature responsibility: backend/services/alert_service.py — Active / current-area matching</a:t>
            </a:r>
          </a:p>
          <a:p xmlns:a="http://schemas.openxmlformats.org/drawingml/2006/main">
            <a:r>
              <a:t>Shared: backend/models/alert.py — Alert table section</a:t>
            </a:r>
          </a:p>
          <a:p xmlns:a="http://schemas.openxmlformats.org/drawingml/2006/main">
            <a:r>
              <a:t>Shared: backend/schemas/alert_schema.py — Alert input contracts</a:t>
            </a:r>
          </a:p>
          <a:p xmlns:a="http://schemas.openxmlformats.org/drawingml/2006/main">
            <a:r>
              <a:t>Feature responsibility: frontend/src/pages/admin/Alerts.jsx — Admin alert management</a:t>
            </a:r>
          </a:p>
          <a:p xmlns:a="http://schemas.openxmlformats.org/drawingml/2006/main">
            <a:r>
              <a:t/>
            </a:r>
          </a:p>
          <a:p xmlns:a="http://schemas.openxmlformats.org/drawingml/2006/main">
            <a:r>
              <a:t>Related/reference files:</a:t>
            </a:r>
          </a:p>
          <a:p xmlns:a="http://schemas.openxmlformats.org/drawingml/2006/main">
            <a:r>
              <a:t>backend/tests/test_ai_acceptance.py</a:t>
            </a:r>
          </a:p>
          <a:p xmlns:a="http://schemas.openxmlformats.org/drawingml/2006/main">
            <a:r>
              <a:t>backend/tests/test_core_acceptance.py</a:t>
            </a:r>
          </a:p>
          <a:p xmlns:a="http://schemas.openxmlformats.org/drawingml/2006/main">
            <a:r>
              <a:t/>
            </a:r>
          </a:p>
          <a:p xmlns:a="http://schemas.openxmlformats.org/drawingml/2006/main">
            <a:r>
              <a:t>Detailed guidance:</a:t>
            </a:r>
          </a:p>
          <a:p xmlns:a="http://schemas.openxmlformats.org/drawingml/2006/main">
            <a:r>
              <a:t>Focus on geocode_location, resolve_geography, extract_location, check_alerts and pipeline_tools extraction/match handlers. Source-linked pilot town coordinates are approximate centroids; unresolved wards stay unknown. No alert match does not mean the report is false or the area safe. Optional external geocoding needs consent and excludes private report text. Current report and alert snapshots must agree before historical match IDs can influence monitoring. Coordinate the shared agent workflow with Arya.</a:t>
            </a:r>
          </a:p>
          <a:p xmlns:a="http://schemas.openxmlformats.org/drawingml/2006/main">
            <a:r>
              <a:t/>
            </a:r>
          </a:p>
          <a:p xmlns:a="http://schemas.openxmlformats.org/drawingml/2006/main">
            <a:r>
              <a:t>Submission reference: explain the feature, identify the functions changed or studied, attach relevant source/test evidence and show the weekly demo. Keep existing relative paths. Shared full files contain other members' code; identify your section and coordinate changes. Exclude private .env values, credentials, reset tokens, uploads, .venv, node_modules and generated caches. No historical weekly build or individual authorship is asserted by this mapping.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responsibility: C:/Users/athul/Downloads/ResQ_Kerala_Presentation.pptx, slide 12, Arya.</a:t>
            </a:r>
          </a:p>
          <a:p xmlns:a="http://schemas.openxmlformats.org/drawingml/2006/main">
            <a:r>
              <a:t>Task: Show AI results and add an investigation option.</a:t>
            </a:r>
          </a:p>
          <a:p xmlns:a="http://schemas.openxmlformats.org/drawingml/2006/main">
            <a:r>
              <a:t>Result/demonstration: Review analysis, assign investigation and record verified findings.</a:t>
            </a:r>
          </a:p>
          <a:p xmlns:a="http://schemas.openxmlformats.org/drawingml/2006/main">
            <a:r>
              <a:t>Project root: C:/Users/athul/DL_Dec/ResQ_Kerala</a:t>
            </a:r>
          </a:p>
          <a:p xmlns:a="http://schemas.openxmlformats.org/drawingml/2006/main">
            <a:r>
              <a:t/>
            </a:r>
          </a:p>
          <a:p xmlns:a="http://schemas.openxmlformats.org/drawingml/2006/main">
            <a:r>
              <a:t>Main files:</a:t>
            </a:r>
          </a:p>
          <a:p xmlns:a="http://schemas.openxmlformats.org/drawingml/2006/main">
            <a:r>
              <a:t>Shared: frontend/src/components/shared/IncidentDetail.jsx — Analysis / investigation UI</a:t>
            </a:r>
          </a:p>
          <a:p xmlns:a="http://schemas.openxmlformats.org/drawingml/2006/main">
            <a:r>
              <a:t>Shared: frontend/src/pages/admin/IncidentQueue.jsx — Review queue entry point</a:t>
            </a:r>
          </a:p>
          <a:p xmlns:a="http://schemas.openxmlformats.org/drawingml/2006/main">
            <a:r>
              <a:t>Shared: frontend/src/components/shared/IncidentListView.jsx — Priority / status display</a:t>
            </a:r>
          </a:p>
          <a:p xmlns:a="http://schemas.openxmlformats.org/drawingml/2006/main">
            <a:r>
              <a:t>Shared: backend/routers/incidents.py — Analysis / review / findings</a:t>
            </a:r>
          </a:p>
          <a:p xmlns:a="http://schemas.openxmlformats.org/drawingml/2006/main">
            <a:r>
              <a:t>Shared: backend/schemas/incident_schema.py — Review / findings inputs</a:t>
            </a:r>
          </a:p>
          <a:p xmlns:a="http://schemas.openxmlformats.org/drawingml/2006/main">
            <a:r>
              <a:t>Shared: backend/models/incident.py — Analysis / investigation data</a:t>
            </a:r>
          </a:p>
          <a:p xmlns:a="http://schemas.openxmlformats.org/drawingml/2006/main">
            <a:r>
              <a:t>Shared: backend/services/team_service.py — Investigation assignment</a:t>
            </a:r>
          </a:p>
          <a:p xmlns:a="http://schemas.openxmlformats.org/drawingml/2006/main">
            <a:r>
              <a:t>Shared: backend/tests/test_extended.py — Investigation / access cases</a:t>
            </a:r>
          </a:p>
          <a:p xmlns:a="http://schemas.openxmlformats.org/drawingml/2006/main">
            <a:r>
              <a:t/>
            </a:r>
          </a:p>
          <a:p xmlns:a="http://schemas.openxmlformats.org/drawingml/2006/main">
            <a:r>
              <a:t>Related/reference files:</a:t>
            </a:r>
          </a:p>
          <a:p xmlns:a="http://schemas.openxmlformats.org/drawingml/2006/main">
            <a:r>
              <a:t>frontend/src/App.jsx</a:t>
            </a:r>
          </a:p>
          <a:p xmlns:a="http://schemas.openxmlformats.org/drawingml/2006/main">
            <a:r>
              <a:t/>
            </a:r>
          </a:p>
          <a:p xmlns:a="http://schemas.openxmlformats.org/drawingml/2006/main">
            <a:r>
              <a:t>Detailed guidance:</a:t>
            </a:r>
          </a:p>
          <a:p xmlns:a="http://schemas.openxmlformats.org/drawingml/2006/main">
            <a:r>
              <a:t>Focus on process_incident, analyze, review, investigation_report and investigations; Review/InvestigationCreate inputs; ReportAnalysis, InvestigationReport, SeverityPrediction and AlertMatch. UI sections: analysisFields, GeographyDetails, MatchedAlerts, AnalysisRevisions. Coordinate summary rendering with Maanaz. Admin must review analysis before operational action, and investigation findings return for renewed review rather than automatic dispatch.</a:t>
            </a:r>
          </a:p>
          <a:p xmlns:a="http://schemas.openxmlformats.org/drawingml/2006/main">
            <a:r>
              <a:t/>
            </a:r>
          </a:p>
          <a:p xmlns:a="http://schemas.openxmlformats.org/drawingml/2006/main">
            <a:r>
              <a:t>Submission reference: explain the feature, identify the functions changed or studied, attach relevant source/test evidence and show the weekly demo. Keep existing relative paths. Shared full files contain other members' code; identify your section and coordinate changes. Exclude private .env values, credentials, reset tokens, uploads, .venv, node_modules and generated caches. No historical weekly build or individual authorship is asserted by this mapping.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responsibility: C:/Users/athul/Downloads/ResQ_Kerala_Presentation.pptx, slide 12, Maanaz.</a:t>
            </a:r>
          </a:p>
          <a:p xmlns:a="http://schemas.openxmlformats.org/drawingml/2006/main">
            <a:r>
              <a:t>Task: Generate short summaries and display analysis results.</a:t>
            </a:r>
          </a:p>
          <a:p xmlns:a="http://schemas.openxmlformats.org/drawingml/2006/main">
            <a:r>
              <a:t>Result/demonstration: Compare original text with its summary; show provisional output when needed.</a:t>
            </a:r>
          </a:p>
          <a:p xmlns:a="http://schemas.openxmlformats.org/drawingml/2006/main">
            <a:r>
              <a:t>Project root: C:/Users/athul/DL_Dec/ResQ_Kerala</a:t>
            </a:r>
          </a:p>
          <a:p xmlns:a="http://schemas.openxmlformats.org/drawingml/2006/main">
            <a:r>
              <a:t/>
            </a:r>
          </a:p>
          <a:p xmlns:a="http://schemas.openxmlformats.org/drawingml/2006/main">
            <a:r>
              <a:t>Main files:</a:t>
            </a:r>
          </a:p>
          <a:p xmlns:a="http://schemas.openxmlformats.org/drawingml/2006/main">
            <a:r>
              <a:t>Feature responsibility: backend/ai/summarizer.py — Summary wrapper / fallback</a:t>
            </a:r>
          </a:p>
          <a:p xmlns:a="http://schemas.openxmlformats.org/drawingml/2006/main">
            <a:r>
              <a:t>Shared: backend/ai/agent.py — Gemma summary tool</a:t>
            </a:r>
          </a:p>
          <a:p xmlns:a="http://schemas.openxmlformats.org/drawingml/2006/main">
            <a:r>
              <a:t>Shared: backend/routers/chatbot.py — Authenticated summary helper</a:t>
            </a:r>
          </a:p>
          <a:p xmlns:a="http://schemas.openxmlformats.org/drawingml/2006/main">
            <a:r>
              <a:t>Shared: backend/routers/incidents.py — Save the analysis packet</a:t>
            </a:r>
          </a:p>
          <a:p xmlns:a="http://schemas.openxmlformats.org/drawingml/2006/main">
            <a:r>
              <a:t>Shared: backend/models/incident.py — Current / historical analysis</a:t>
            </a:r>
          </a:p>
          <a:p xmlns:a="http://schemas.openxmlformats.org/drawingml/2006/main">
            <a:r>
              <a:t>Shared: backend/services/incident_service.py — Role-appropriate results</a:t>
            </a:r>
          </a:p>
          <a:p xmlns:a="http://schemas.openxmlformats.org/drawingml/2006/main">
            <a:r>
              <a:t>Shared: frontend/src/components/shared/IncidentDetail.jsx — Summary / revision display</a:t>
            </a:r>
          </a:p>
          <a:p xmlns:a="http://schemas.openxmlformats.org/drawingml/2006/main">
            <a:r>
              <a:t>Shared: backend/tests/test_ai.py — Generation-failure cases</a:t>
            </a:r>
          </a:p>
          <a:p xmlns:a="http://schemas.openxmlformats.org/drawingml/2006/main">
            <a:r>
              <a:t/>
            </a:r>
          </a:p>
          <a:p xmlns:a="http://schemas.openxmlformats.org/drawingml/2006/main">
            <a:r>
              <a:t>Related/reference files:</a:t>
            </a:r>
          </a:p>
          <a:p xmlns:a="http://schemas.openxmlformats.org/drawingml/2006/main">
            <a:r>
              <a:t>backend/tests/test_ai_acceptance.py</a:t>
            </a:r>
          </a:p>
          <a:p xmlns:a="http://schemas.openxmlformats.org/drawingml/2006/main">
            <a:r>
              <a:t/>
            </a:r>
          </a:p>
          <a:p xmlns:a="http://schemas.openxmlformats.org/drawingml/2006/main">
            <a:r>
              <a:t>Detailed guidance:</a:t>
            </a:r>
          </a:p>
          <a:p xmlns:a="http://schemas.openxmlformats.org/drawingml/2006/main">
            <a:r>
              <a:t>Focus on summarize_report, fallback_summary, the generate_summary handler in pipeline_tools, routers/chatbot.py summary, process_incident persistence and ReportAnalysis.result/history. Actual Gemma summary generation executes in agent.py, while summarizer.py provides a public wrapper and fallback. Never lose or replace the original report. Generation failure must be shown as provisional/manual-review output, not confident invented analysis.</a:t>
            </a:r>
          </a:p>
          <a:p xmlns:a="http://schemas.openxmlformats.org/drawingml/2006/main">
            <a:r>
              <a:t/>
            </a:r>
          </a:p>
          <a:p xmlns:a="http://schemas.openxmlformats.org/drawingml/2006/main">
            <a:r>
              <a:t>Submission reference: explain the feature, identify the functions changed or studied, attach relevant source/test evidence and show the weekly demo. Keep existing relative paths. Shared full files contain other members' code; identify your section and coordinate changes. Exclude private .env values, credentials, reset tokens, uploads, .venv, node_modules and generated caches. No historical weekly build or individual authorship is asserted by this mapping.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Assignments and results follow source presentation slide 13. File responsibilities on the next four slides are mapped to the current implementation and are proposed feature ownership, not proof of historical contribution.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responsibility: C:/Users/athul/Downloads/ResQ_Kerala_Presentation.pptx, slide 13, Maanaz.</a:t>
            </a:r>
          </a:p>
          <a:p xmlns:a="http://schemas.openxmlformats.org/drawingml/2006/main">
            <a:r>
              <a:t>Task: Test difficult messages and improve model handling.</a:t>
            </a:r>
          </a:p>
          <a:p xmlns:a="http://schemas.openxmlformats.org/drawingml/2006/main">
            <a:r>
              <a:t>Result/demonstration: Test unknown, negated and malformed messages; show honest review flags.</a:t>
            </a:r>
          </a:p>
          <a:p xmlns:a="http://schemas.openxmlformats.org/drawingml/2006/main">
            <a:r>
              <a:t>Project root: C:/Users/athul/DL_Dec/ResQ_Kerala</a:t>
            </a:r>
          </a:p>
          <a:p xmlns:a="http://schemas.openxmlformats.org/drawingml/2006/main">
            <a:r>
              <a:t/>
            </a:r>
          </a:p>
          <a:p xmlns:a="http://schemas.openxmlformats.org/drawingml/2006/main">
            <a:r>
              <a:t>Main files:</a:t>
            </a:r>
          </a:p>
          <a:p xmlns:a="http://schemas.openxmlformats.org/drawingml/2006/main">
            <a:r>
              <a:t>Shared: backend/tests/test_ai.py — Unknown / long / failed inputs</a:t>
            </a:r>
          </a:p>
          <a:p xmlns:a="http://schemas.openxmlformats.org/drawingml/2006/main">
            <a:r>
              <a:t>Shared: backend/tests/test_ai_acceptance.py — Negation / fidelity cases</a:t>
            </a:r>
          </a:p>
          <a:p xmlns:a="http://schemas.openxmlformats.org/drawingml/2006/main">
            <a:r>
              <a:t>Shared: backend/ai/severity_model.py — Danger / uncertainty handling</a:t>
            </a:r>
          </a:p>
          <a:p xmlns:a="http://schemas.openxmlformats.org/drawingml/2006/main">
            <a:r>
              <a:t>Shared: backend/ai/translator.py — Translation fidelity checks</a:t>
            </a:r>
          </a:p>
          <a:p xmlns:a="http://schemas.openxmlformats.org/drawingml/2006/main">
            <a:r>
              <a:t>Shared: backend/ai/agent.py — Failures / missing facts</a:t>
            </a:r>
          </a:p>
          <a:p xmlns:a="http://schemas.openxmlformats.org/drawingml/2006/main">
            <a:r>
              <a:t>Feature responsibility: backend/ai/summarizer.py — Provisional fallback summary</a:t>
            </a:r>
          </a:p>
          <a:p xmlns:a="http://schemas.openxmlformats.org/drawingml/2006/main">
            <a:r>
              <a:t>Shared: backend/schemas/incident_schema.py — Bounded AIInput contract</a:t>
            </a:r>
          </a:p>
          <a:p xmlns:a="http://schemas.openxmlformats.org/drawingml/2006/main">
            <a:r>
              <a:t>Shared: frontend/src/components/shared/IncidentDetail.jsx — Uncertainty / review flags</a:t>
            </a:r>
          </a:p>
          <a:p xmlns:a="http://schemas.openxmlformats.org/drawingml/2006/main">
            <a:r>
              <a:t/>
            </a:r>
          </a:p>
          <a:p xmlns:a="http://schemas.openxmlformats.org/drawingml/2006/main">
            <a:r>
              <a:t>Related/reference files:</a:t>
            </a:r>
          </a:p>
          <a:p xmlns:a="http://schemas.openxmlformats.org/drawingml/2006/main">
            <a:r>
              <a:t>backend/tests/test_ai_audit.py</a:t>
            </a:r>
          </a:p>
          <a:p xmlns:a="http://schemas.openxmlformats.org/drawingml/2006/main">
            <a:r>
              <a:t/>
            </a:r>
          </a:p>
          <a:p xmlns:a="http://schemas.openxmlformats.org/drawingml/2006/main">
            <a:r>
              <a:t>Detailed guidance:</a:t>
            </a:r>
          </a:p>
          <a:p xmlns:a="http://schemas.openxmlformats.org/drawingml/2006/main">
            <a:r>
              <a:t>Test affirmative, negated, historical and mixed current danger, unfamiliar vocabulary, changed numbers, unsupported translation, malformed JSON and unavailable Gemma. Unknown vocabulary returns Moderate with unavailable confidence; a rule escalation carries no calibrated classifier probability. Preserve missing facts and clarification/investigation flags. Coordinate severity changes with Vidya and translator/workflow changes with Arya. These are difficult-case improvements, not operational model validation.</a:t>
            </a:r>
          </a:p>
          <a:p xmlns:a="http://schemas.openxmlformats.org/drawingml/2006/main">
            <a:r>
              <a:t/>
            </a:r>
          </a:p>
          <a:p xmlns:a="http://schemas.openxmlformats.org/drawingml/2006/main">
            <a:r>
              <a:t>Submission reference: explain the feature, identify the functions changed or studied, attach relevant source/test evidence and show the weekly demo. Keep existing relative paths. Shared full files contain other members' code; identify your section and coordinate changes. Exclude private .env values, credentials, reset tokens, uploads, .venv, node_modules and generated caches. No historical weekly build or individual authorship is asserted by this mapping.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responsibility: C:/Users/athul/Downloads/ResQ_Kerala_Presentation.pptx, slide 13, Vidya.</a:t>
            </a:r>
          </a:p>
          <a:p xmlns:a="http://schemas.openxmlformats.org/drawingml/2006/main">
            <a:r>
              <a:t>Task: Connect rescue, relief and shelter APIs with permissions.</a:t>
            </a:r>
          </a:p>
          <a:p xmlns:a="http://schemas.openxmlformats.org/drawingml/2006/main">
            <a:r>
              <a:t>Result/demonstration: Save service updates and reject unrelated-team actions and invalid capacity.</a:t>
            </a:r>
          </a:p>
          <a:p xmlns:a="http://schemas.openxmlformats.org/drawingml/2006/main">
            <a:r>
              <a:t>Project root: C:/Users/athul/DL_Dec/ResQ_Kerala</a:t>
            </a:r>
          </a:p>
          <a:p xmlns:a="http://schemas.openxmlformats.org/drawingml/2006/main">
            <a:r>
              <a:t/>
            </a:r>
          </a:p>
          <a:p xmlns:a="http://schemas.openxmlformats.org/drawingml/2006/main">
            <a:r>
              <a:t>Main files:</a:t>
            </a:r>
          </a:p>
          <a:p xmlns:a="http://schemas.openxmlformats.org/drawingml/2006/main">
            <a:r>
              <a:t>Shared: backend/routers/incidents.py — Progress / relief handoff</a:t>
            </a:r>
          </a:p>
          <a:p xmlns:a="http://schemas.openxmlformats.org/drawingml/2006/main">
            <a:r>
              <a:t>Shared: backend/routers/teams.py — Task acceptance / team scope</a:t>
            </a:r>
          </a:p>
          <a:p xmlns:a="http://schemas.openxmlformats.org/drawingml/2006/main">
            <a:r>
              <a:t>Shared: backend/routers/relief.py — Requests / distribution APIs</a:t>
            </a:r>
          </a:p>
          <a:p xmlns:a="http://schemas.openxmlformats.org/drawingml/2006/main">
            <a:r>
              <a:t>Shared: backend/routers/shelters.py — Shelter updates / history</a:t>
            </a:r>
          </a:p>
          <a:p xmlns:a="http://schemas.openxmlformats.org/drawingml/2006/main">
            <a:r>
              <a:t>Shared: backend/utils/permissions.py — Assigned-team access gates</a:t>
            </a:r>
          </a:p>
          <a:p xmlns:a="http://schemas.openxmlformats.org/drawingml/2006/main">
            <a:r>
              <a:t>Feature responsibility: backend/schemas/relief_schema.py — Service / handoff inputs</a:t>
            </a:r>
          </a:p>
          <a:p xmlns:a="http://schemas.openxmlformats.org/drawingml/2006/main">
            <a:r>
              <a:t>Feature responsibility: backend/schemas/shelter_schema.py — Capacity / occupancy inputs</a:t>
            </a:r>
          </a:p>
          <a:p xmlns:a="http://schemas.openxmlformats.org/drawingml/2006/main">
            <a:r>
              <a:t>Shared: backend/tests/test_workflows.py — Permissions / service checks</a:t>
            </a:r>
          </a:p>
          <a:p xmlns:a="http://schemas.openxmlformats.org/drawingml/2006/main">
            <a:r>
              <a:t/>
            </a:r>
          </a:p>
          <a:p xmlns:a="http://schemas.openxmlformats.org/drawingml/2006/main">
            <a:r>
              <a:t>Related/reference files:</a:t>
            </a:r>
          </a:p>
          <a:p xmlns:a="http://schemas.openxmlformats.org/drawingml/2006/main">
            <a:r>
              <a:t>backend/services/relief_service.py</a:t>
            </a:r>
          </a:p>
          <a:p xmlns:a="http://schemas.openxmlformats.org/drawingml/2006/main">
            <a:r>
              <a:t>backend/services/shelter_service.py</a:t>
            </a:r>
          </a:p>
          <a:p xmlns:a="http://schemas.openxmlformats.org/drawingml/2006/main">
            <a:r>
              <a:t>backend/models/inventory.py</a:t>
            </a:r>
          </a:p>
          <a:p xmlns:a="http://schemas.openxmlformats.org/drawingml/2006/main">
            <a:r>
              <a:t>backend/models/shelter.py</a:t>
            </a:r>
          </a:p>
          <a:p xmlns:a="http://schemas.openxmlformats.org/drawingml/2006/main">
            <a:r>
              <a:t/>
            </a:r>
          </a:p>
          <a:p xmlns:a="http://schemas.openxmlformats.org/drawingml/2006/main">
            <a:r>
              <a:t>Detailed guidance:</a:t>
            </a:r>
          </a:p>
          <a:p xmlns:a="http://schemas.openxmlformats.org/drawingml/2006/main">
            <a:r>
              <a:t>Connect update_status/handoff, accept_task, request_relief/assign_request/complete_support/distribute, and update_shelter/shelter_history. Reuse Athul's stock/distribution services and Arya's shelter discovery. Apply permission gates to every mutation, preserve units and request IDs, and save shelter snapshots. A shelter operator can update only its assigned shelter; occupancy cannot exceed capacity. Match rescue-support work to a rescue team and supply delivery to a relief team.</a:t>
            </a:r>
          </a:p>
          <a:p xmlns:a="http://schemas.openxmlformats.org/drawingml/2006/main">
            <a:r>
              <a:t/>
            </a:r>
          </a:p>
          <a:p xmlns:a="http://schemas.openxmlformats.org/drawingml/2006/main">
            <a:r>
              <a:t>Submission reference: explain the feature, identify the functions changed or studied, attach relevant source/test evidence and show the weekly demo. Keep existing relative paths. Shared full files contain other members' code; identify your section and coordinate changes. Exclude private .env values, credentials, reset tokens, uploads, .venv, node_modules and generated caches. No historical weekly build or individual authorship is asserted by this mapping.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responsibility: C:/Users/athul/Downloads/ResQ_Kerala_Presentation.pptx, slide 13, Athul.</a:t>
            </a:r>
          </a:p>
          <a:p xmlns:a="http://schemas.openxmlformats.org/drawingml/2006/main">
            <a:r>
              <a:t>Task: Build rescue progress, inventory and relief distribution.</a:t>
            </a:r>
          </a:p>
          <a:p xmlns:a="http://schemas.openxmlformats.org/drawingml/2006/main">
            <a:r>
              <a:t>Result/demonstration: Accept a task, update progress and record stock-safe partial delivery.</a:t>
            </a:r>
          </a:p>
          <a:p xmlns:a="http://schemas.openxmlformats.org/drawingml/2006/main">
            <a:r>
              <a:t>Project root: C:/Users/athul/DL_Dec/ResQ_Kerala</a:t>
            </a:r>
          </a:p>
          <a:p xmlns:a="http://schemas.openxmlformats.org/drawingml/2006/main">
            <a:r>
              <a:t/>
            </a:r>
          </a:p>
          <a:p xmlns:a="http://schemas.openxmlformats.org/drawingml/2006/main">
            <a:r>
              <a:t>Main files:</a:t>
            </a:r>
          </a:p>
          <a:p xmlns:a="http://schemas.openxmlformats.org/drawingml/2006/main">
            <a:r>
              <a:t>Feature responsibility: frontend/src/pages/response_team/Assignments.jsx — Assigned tasks / past history</a:t>
            </a:r>
          </a:p>
          <a:p xmlns:a="http://schemas.openxmlformats.org/drawingml/2006/main">
            <a:r>
              <a:t>Shared: frontend/src/components/shared/IncidentDetail.jsx — Accept / travel / progress</a:t>
            </a:r>
          </a:p>
          <a:p xmlns:a="http://schemas.openxmlformats.org/drawingml/2006/main">
            <a:r>
              <a:t>Feature responsibility: frontend/src/pages/response_team/ReliefDistribution.jsx — Team supply delivery</a:t>
            </a:r>
          </a:p>
          <a:p xmlns:a="http://schemas.openxmlformats.org/drawingml/2006/main">
            <a:r>
              <a:t>Feature responsibility: frontend/src/pages/admin/ReliefInventory.jsx — Admin stock management</a:t>
            </a:r>
          </a:p>
          <a:p xmlns:a="http://schemas.openxmlformats.org/drawingml/2006/main">
            <a:r>
              <a:t>Shared: frontend/src/components/shared/ReliefWorkspace.jsx — Delivery / remaining demand</a:t>
            </a:r>
          </a:p>
          <a:p xmlns:a="http://schemas.openxmlformats.org/drawingml/2006/main">
            <a:r>
              <a:t>Shared: backend/routers/relief.py — Stock / delivery endpoints</a:t>
            </a:r>
          </a:p>
          <a:p xmlns:a="http://schemas.openxmlformats.org/drawingml/2006/main">
            <a:r>
              <a:t>Shared: backend/services/relief_service.py — Units / stock transactions</a:t>
            </a:r>
          </a:p>
          <a:p xmlns:a="http://schemas.openxmlformats.org/drawingml/2006/main">
            <a:r>
              <a:t>Shared: backend/routers/teams.py — Acceptance / history</a:t>
            </a:r>
          </a:p>
          <a:p xmlns:a="http://schemas.openxmlformats.org/drawingml/2006/main">
            <a:r>
              <a:t/>
            </a:r>
          </a:p>
          <a:p xmlns:a="http://schemas.openxmlformats.org/drawingml/2006/main">
            <a:r>
              <a:t>Related/reference files:</a:t>
            </a:r>
          </a:p>
          <a:p xmlns:a="http://schemas.openxmlformats.org/drawingml/2006/main">
            <a:r>
              <a:t>backend/routers/incidents.py</a:t>
            </a:r>
          </a:p>
          <a:p xmlns:a="http://schemas.openxmlformats.org/drawingml/2006/main">
            <a:r>
              <a:t>backend/models/inventory.py</a:t>
            </a:r>
          </a:p>
          <a:p xmlns:a="http://schemas.openxmlformats.org/drawingml/2006/main">
            <a:r>
              <a:t>backend/tests/test_incident_acceptance.py</a:t>
            </a:r>
          </a:p>
          <a:p xmlns:a="http://schemas.openxmlformats.org/drawingml/2006/main">
            <a:r>
              <a:t/>
            </a:r>
          </a:p>
          <a:p xmlns:a="http://schemas.openxmlformats.org/drawingml/2006/main">
            <a:r>
              <a:t>Detailed guidance:</a:t>
            </a:r>
          </a:p>
          <a:p xmlns:a="http://schemas.openxmlformats.org/drawingml/2006/main">
            <a:r>
              <a:t>UI: Assignments, ReliefDistribution, ReliefInventory, AssignRelief and CompleteRescue. Backend: accept_task/task_history, update_status/handoff, inventory/create_inventory/update_inventory/assign_request/complete_support/distribute, normalize_requested_items and distribute_relief. Coordinate API/permission contracts with Vidya. Acceptance is a distinct stage before en_route. Partial deliveries must preserve immutable item/unit snapshots and remaining demand; reject overselling and unit mismatch. Rescue-to-relief handoff remains an admin decision.</a:t>
            </a:r>
          </a:p>
          <a:p xmlns:a="http://schemas.openxmlformats.org/drawingml/2006/main">
            <a:r>
              <a:t/>
            </a:r>
          </a:p>
          <a:p xmlns:a="http://schemas.openxmlformats.org/drawingml/2006/main">
            <a:r>
              <a:t>Submission reference: explain the feature, identify the functions changed or studied, attach relevant source/test evidence and show the weekly demo. Keep existing relative paths. Shared full files contain other members' code; identify your section and coordinate changes. Exclude private .env values, credentials, reset tokens, uploads, .venv, node_modules and generated caches. No historical weekly build or individual authorship is asserted by this mapping.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responsibility: C:/Users/athul/Downloads/ResQ_Kerala_Presentation.pptx, slide 13, Arya.</a:t>
            </a:r>
          </a:p>
          <a:p xmlns:a="http://schemas.openxmlformats.org/drawingml/2006/main">
            <a:r>
              <a:t>Task: Build shelter search and a chatbot using approved documents.</a:t>
            </a:r>
          </a:p>
          <a:p xmlns:a="http://schemas.openxmlformats.org/drawingml/2006/main">
            <a:r>
              <a:t>Result/demonstration: Find shelter space and show safety answers with approved source links.</a:t>
            </a:r>
          </a:p>
          <a:p xmlns:a="http://schemas.openxmlformats.org/drawingml/2006/main">
            <a:r>
              <a:t>Project root: C:/Users/athul/DL_Dec/ResQ_Kerala</a:t>
            </a:r>
          </a:p>
          <a:p xmlns:a="http://schemas.openxmlformats.org/drawingml/2006/main">
            <a:r>
              <a:t/>
            </a:r>
          </a:p>
          <a:p xmlns:a="http://schemas.openxmlformats.org/drawingml/2006/main">
            <a:r>
              <a:t>Main files:</a:t>
            </a:r>
          </a:p>
          <a:p xmlns:a="http://schemas.openxmlformats.org/drawingml/2006/main">
            <a:r>
              <a:t>Feature responsibility: frontend/src/components/shared/CommunityInformation.jsx — Shelter search / nearby lookup</a:t>
            </a:r>
          </a:p>
          <a:p xmlns:a="http://schemas.openxmlformats.org/drawingml/2006/main">
            <a:r>
              <a:t>Feature responsibility: frontend/src/components/shared/Assistant.jsx — Chat / citations / sessions</a:t>
            </a:r>
          </a:p>
          <a:p xmlns:a="http://schemas.openxmlformats.org/drawingml/2006/main">
            <a:r>
              <a:t>Shared: backend/routers/shelters.py — Public discovery endpoints</a:t>
            </a:r>
          </a:p>
          <a:p xmlns:a="http://schemas.openxmlformats.org/drawingml/2006/main">
            <a:r>
              <a:t>Shared: backend/services/shelter_service.py — Capacity / distance results</a:t>
            </a:r>
          </a:p>
          <a:p xmlns:a="http://schemas.openxmlformats.org/drawingml/2006/main">
            <a:r>
              <a:t>Shared: backend/routers/chatbot.py — Scoped context / chat history</a:t>
            </a:r>
          </a:p>
          <a:p xmlns:a="http://schemas.openxmlformats.org/drawingml/2006/main">
            <a:r>
              <a:t>Feature responsibility: backend/ai/chatbot.py — Grounded answer handling</a:t>
            </a:r>
          </a:p>
          <a:p xmlns:a="http://schemas.openxmlformats.org/drawingml/2006/main">
            <a:r>
              <a:t>Feature responsibility: backend/ai/rag.py — Local retrieval / vector store</a:t>
            </a:r>
          </a:p>
          <a:p xmlns:a="http://schemas.openxmlformats.org/drawingml/2006/main">
            <a:r>
              <a:t>Feature responsibility: data/raw/safety_knowledge.json — Approved safety extracts</a:t>
            </a:r>
          </a:p>
          <a:p xmlns:a="http://schemas.openxmlformats.org/drawingml/2006/main">
            <a:r>
              <a:t/>
            </a:r>
          </a:p>
          <a:p xmlns:a="http://schemas.openxmlformats.org/drawingml/2006/main">
            <a:r>
              <a:t>Related/reference files:</a:t>
            </a:r>
          </a:p>
          <a:p xmlns:a="http://schemas.openxmlformats.org/drawingml/2006/main">
            <a:r>
              <a:t>backend/models/shelter.py</a:t>
            </a:r>
          </a:p>
          <a:p xmlns:a="http://schemas.openxmlformats.org/drawingml/2006/main">
            <a:r>
              <a:t>backend/schemas/shelter_schema.py</a:t>
            </a:r>
          </a:p>
          <a:p xmlns:a="http://schemas.openxmlformats.org/drawingml/2006/main">
            <a:r>
              <a:t>backend/tests/test_ai_acceptance.py</a:t>
            </a:r>
          </a:p>
          <a:p xmlns:a="http://schemas.openxmlformats.org/drawingml/2006/main">
            <a:r>
              <a:t/>
            </a:r>
          </a:p>
          <a:p xmlns:a="http://schemas.openxmlformats.org/drawingml/2006/main">
            <a:r>
              <a:t>Detailed guidance:</a:t>
            </a:r>
          </a:p>
          <a:p xmlns:a="http://schemas.openxmlformats.org/drawingml/2006/main">
            <a:r>
              <a:t>CommunityInformation Shelters/NearbyShelters provides manual coordinates after denied geolocation; closed/full shelters have no available capacity. Assistant send/startNew/answerSource preserves private sessions and honest provenance. Chat context must be scoped before answer_question. RAG uses classical LSA embeddings, process-local in-memory SQLite, 55% dense plus 45% lexical cosine and a lexical floor; it is not a durable neural vector service. Gemma selects approved sources; generated safety prose is discarded. Current application facts may use a labelled authorized_database_snapshot fallback.</a:t>
            </a:r>
          </a:p>
          <a:p xmlns:a="http://schemas.openxmlformats.org/drawingml/2006/main">
            <a:r>
              <a:t/>
            </a:r>
          </a:p>
          <a:p xmlns:a="http://schemas.openxmlformats.org/drawingml/2006/main">
            <a:r>
              <a:t>Submission reference: explain the feature, identify the functions changed or studied, attach relevant source/test evidence and show the weekly demo. Keep existing relative paths. Shared full files contain other members' code; identify your section and coordinate changes. Exclude private .env values, credentials, reset tokens, uploads, .venv, node_modules and generated caches. No historical weekly build or individual authorship is asserted by this mapping.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Assignments and results follow source presentation slide 14. File responsibilities on the next four slides are mapped to the current implementation and are proposed feature ownership, not proof of historical contribution.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responsibility: C:/Users/athul/Downloads/ResQ_Kerala_Presentation.pptx, slide 14, Arya.</a:t>
            </a:r>
          </a:p>
          <a:p xmlns:a="http://schemas.openxmlformats.org/drawingml/2006/main">
            <a:r>
              <a:t>Task: Connect AI tools in an agent workflow and test Malayalam input.</a:t>
            </a:r>
          </a:p>
          <a:p xmlns:a="http://schemas.openxmlformats.org/drawingml/2006/main">
            <a:r>
              <a:t>Result/demonstration: Analyze Malayalam through seven SDK tools; retain original text and provenance.</a:t>
            </a:r>
          </a:p>
          <a:p xmlns:a="http://schemas.openxmlformats.org/drawingml/2006/main">
            <a:r>
              <a:t>Project root: C:/Users/athul/DL_Dec/ResQ_Kerala</a:t>
            </a:r>
          </a:p>
          <a:p xmlns:a="http://schemas.openxmlformats.org/drawingml/2006/main">
            <a:r>
              <a:t/>
            </a:r>
          </a:p>
          <a:p xmlns:a="http://schemas.openxmlformats.org/drawingml/2006/main">
            <a:r>
              <a:t>Main files:</a:t>
            </a:r>
          </a:p>
          <a:p xmlns:a="http://schemas.openxmlformats.org/drawingml/2006/main">
            <a:r>
              <a:t>Shared: backend/ai/agent.py — SDK workflow / handoff / traces</a:t>
            </a:r>
          </a:p>
          <a:p xmlns:a="http://schemas.openxmlformats.org/drawingml/2006/main">
            <a:r>
              <a:t>Shared: backend/ai/translator.py — Malayalam translation checks</a:t>
            </a:r>
          </a:p>
          <a:p xmlns:a="http://schemas.openxmlformats.org/drawingml/2006/main">
            <a:r>
              <a:t>Shared: backend/ai/location_extractor.py — Reuse geography extraction</a:t>
            </a:r>
          </a:p>
          <a:p xmlns:a="http://schemas.openxmlformats.org/drawingml/2006/main">
            <a:r>
              <a:t>Shared: backend/ai/severity_model.py — Reuse trained urgency model</a:t>
            </a:r>
          </a:p>
          <a:p xmlns:a="http://schemas.openxmlformats.org/drawingml/2006/main">
            <a:r>
              <a:t>Shared: backend/ai/summarizer.py — Reuse summary generation</a:t>
            </a:r>
          </a:p>
          <a:p xmlns:a="http://schemas.openxmlformats.org/drawingml/2006/main">
            <a:r>
              <a:t>Shared: backend/routers/incidents.py — Save / rerun / revision history</a:t>
            </a:r>
          </a:p>
          <a:p xmlns:a="http://schemas.openxmlformats.org/drawingml/2006/main">
            <a:r>
              <a:t>Shared: backend/config.py — Local Ollama settings</a:t>
            </a:r>
          </a:p>
          <a:p xmlns:a="http://schemas.openxmlformats.org/drawingml/2006/main">
            <a:r>
              <a:t>Feature responsibility: Modelfile — Gemma 4 local model profile</a:t>
            </a:r>
          </a:p>
          <a:p xmlns:a="http://schemas.openxmlformats.org/drawingml/2006/main">
            <a:r>
              <a:t/>
            </a:r>
          </a:p>
          <a:p xmlns:a="http://schemas.openxmlformats.org/drawingml/2006/main">
            <a:r>
              <a:t>Related/reference files:</a:t>
            </a:r>
          </a:p>
          <a:p xmlns:a="http://schemas.openxmlformats.org/drawingml/2006/main">
            <a:r>
              <a:t>backend/tests/ai_tool_smoke.py</a:t>
            </a:r>
          </a:p>
          <a:p xmlns:a="http://schemas.openxmlformats.org/drawingml/2006/main">
            <a:r>
              <a:t>backend/tests/ai_smoke.py</a:t>
            </a:r>
          </a:p>
          <a:p xmlns:a="http://schemas.openxmlformats.org/drawingml/2006/main">
            <a:r>
              <a:t>backend/ai/rag.py</a:t>
            </a:r>
          </a:p>
          <a:p xmlns:a="http://schemas.openxmlformats.org/drawingml/2006/main">
            <a:r>
              <a:t>backend/ai/chatbot.py</a:t>
            </a:r>
          </a:p>
          <a:p xmlns:a="http://schemas.openxmlformats.org/drawingml/2006/main">
            <a:r>
              <a:t/>
            </a:r>
          </a:p>
          <a:p xmlns:a="http://schemas.openxmlformats.org/drawingml/2006/main">
            <a:r>
              <a:t>Detailed guidance:</a:t>
            </a:r>
          </a:p>
          <a:p xmlns:a="http://schemas.openxmlformats.org/drawingml/2006/main">
            <a:r>
              <a:t>Integrate _run_agent, _extract_chunks, pipeline_tools and analyze_report with all seven tools: translate_report, extract_location, predict_severity, check_alerts, find_duplicates, generate_summary, list_available_teams. Actual provider is Gemma 4 E4B from Ollama through OpenAI Agents SDK. A deterministic SDK policy chooses tools; Gemma handles language generation. Keep guardrails, admin-review handoff and sanitized local tracing. Reanalysis consumes retained clarification answers. Use Settings names, not secret .env values. Run the real smoke scripts sequentially with browser/model checks to avoid shared GPU contention.</a:t>
            </a:r>
          </a:p>
          <a:p xmlns:a="http://schemas.openxmlformats.org/drawingml/2006/main">
            <a:r>
              <a:t/>
            </a:r>
          </a:p>
          <a:p xmlns:a="http://schemas.openxmlformats.org/drawingml/2006/main">
            <a:r>
              <a:t>Submission reference: explain the feature, identify the functions changed or studied, attach relevant source/test evidence and show the weekly demo. Keep existing relative paths. Shared full files contain other members' code; identify your section and coordinate changes. Exclude private .env values, credentials, reset tokens, uploads, .venv, node_modules and generated caches. No historical weekly build or individual authorship is asserted by this mapping.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responsibility: C:/Users/athul/Downloads/ResQ_Kerala_Presentation.pptx, slide 14, Maanaz.</a:t>
            </a:r>
          </a:p>
          <a:p xmlns:a="http://schemas.openxmlformats.org/drawingml/2006/main">
            <a:r>
              <a:t>Task: Connect notifications, clarification and case closure APIs.</a:t>
            </a:r>
          </a:p>
          <a:p xmlns:a="http://schemas.openxmlformats.org/drawingml/2006/main">
            <a:r>
              <a:t>Result/demonstration: Save clarification, emit private updates and preserve the case timeline.</a:t>
            </a:r>
          </a:p>
          <a:p xmlns:a="http://schemas.openxmlformats.org/drawingml/2006/main">
            <a:r>
              <a:t>Project root: C:/Users/athul/DL_Dec/ResQ_Kerala</a:t>
            </a:r>
          </a:p>
          <a:p xmlns:a="http://schemas.openxmlformats.org/drawingml/2006/main">
            <a:r>
              <a:t/>
            </a:r>
          </a:p>
          <a:p xmlns:a="http://schemas.openxmlformats.org/drawingml/2006/main">
            <a:r>
              <a:t>Main files:</a:t>
            </a:r>
          </a:p>
          <a:p xmlns:a="http://schemas.openxmlformats.org/drawingml/2006/main">
            <a:r>
              <a:t>Shared: backend/routers/users.py — Notifications / read actions</a:t>
            </a:r>
          </a:p>
          <a:p xmlns:a="http://schemas.openxmlformats.org/drawingml/2006/main">
            <a:r>
              <a:t>Feature responsibility: backend/services/notification_service.py — Notify / audit transaction</a:t>
            </a:r>
          </a:p>
          <a:p xmlns:a="http://schemas.openxmlformats.org/drawingml/2006/main">
            <a:r>
              <a:t>Shared: backend/routers/incidents.py — Reply / history / closure</a:t>
            </a:r>
          </a:p>
          <a:p xmlns:a="http://schemas.openxmlformats.org/drawingml/2006/main">
            <a:r>
              <a:t>Shared: backend/services/incident_service.py — Status / citizen updates</a:t>
            </a:r>
          </a:p>
          <a:p xmlns:a="http://schemas.openxmlformats.org/drawingml/2006/main">
            <a:r>
              <a:t>Shared: backend/schemas/incident_schema.py — Reply / status input contracts</a:t>
            </a:r>
          </a:p>
          <a:p xmlns:a="http://schemas.openxmlformats.org/drawingml/2006/main">
            <a:r>
              <a:t>Shared: backend/models/incident.py — Case / analysis / task history</a:t>
            </a:r>
          </a:p>
          <a:p xmlns:a="http://schemas.openxmlformats.org/drawingml/2006/main">
            <a:r>
              <a:t>Shared: backend/models/user.py — Notification / audit tables</a:t>
            </a:r>
          </a:p>
          <a:p xmlns:a="http://schemas.openxmlformats.org/drawingml/2006/main">
            <a:r>
              <a:t>Shared: backend/tests/test_incident_acceptance.py — Clarification / closure cases</a:t>
            </a:r>
          </a:p>
          <a:p xmlns:a="http://schemas.openxmlformats.org/drawingml/2006/main">
            <a:r>
              <a:t/>
            </a:r>
          </a:p>
          <a:p xmlns:a="http://schemas.openxmlformats.org/drawingml/2006/main">
            <a:r>
              <a:t>Related/reference files:</a:t>
            </a:r>
          </a:p>
          <a:p xmlns:a="http://schemas.openxmlformats.org/drawingml/2006/main">
            <a:r>
              <a:t>frontend/src/App.jsx</a:t>
            </a:r>
          </a:p>
          <a:p xmlns:a="http://schemas.openxmlformats.org/drawingml/2006/main">
            <a:r>
              <a:t>frontend/src/components/shared/IncidentDetail.jsx</a:t>
            </a:r>
          </a:p>
          <a:p xmlns:a="http://schemas.openxmlformats.org/drawingml/2006/main">
            <a:r>
              <a:t/>
            </a:r>
          </a:p>
          <a:p xmlns:a="http://schemas.openxmlformats.org/drawingml/2006/main">
            <a:r>
              <a:t>Detailed guidance:</a:t>
            </a:r>
          </a:p>
          <a:p xmlns:a="http://schemas.openxmlformats.org/drawingml/2006/main">
            <a:r>
              <a:t>Connect notifications/read_notification, notify/audit, clarify/history/update_status closure, status_change and serialize_incident. Persist ClarificationReply, StatusHistory and analysis revisions while retaining original text and previously supplied answers. Notifications stay private. Coordinate reply screens and notification UI with Athul and lifecycle regressions with Vidya. The assigned team resolves; only admin closes. Unfinished linked relief must block resolution/closure.</a:t>
            </a:r>
          </a:p>
          <a:p xmlns:a="http://schemas.openxmlformats.org/drawingml/2006/main">
            <a:r>
              <a:t/>
            </a:r>
          </a:p>
          <a:p xmlns:a="http://schemas.openxmlformats.org/drawingml/2006/main">
            <a:r>
              <a:t>Submission reference: explain the feature, identify the functions changed or studied, attach relevant source/test evidence and show the weekly demo. Keep existing relative paths. Shared full files contain other members' code; identify your section and coordinate changes. Exclude private .env values, credentials, reset tokens, uploads, .venv, node_modules and generated caches. No historical weekly build or individual authorship is asserted by this mapping.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responsibility: C:/Users/athul/Downloads/ResQ_Kerala_Presentation.pptx, slide 14, Vidya.</a:t>
            </a:r>
          </a:p>
          <a:p xmlns:a="http://schemas.openxmlformats.org/drawingml/2006/main">
            <a:r>
              <a:t>Task: Test admin and team actions; fix status and assignment issues.</a:t>
            </a:r>
          </a:p>
          <a:p xmlns:a="http://schemas.openxmlformats.org/drawingml/2006/main">
            <a:r>
              <a:t>Result/demonstration: Complete the case; reject skipped stages, busy teams and unauthorized closure.</a:t>
            </a:r>
          </a:p>
          <a:p xmlns:a="http://schemas.openxmlformats.org/drawingml/2006/main">
            <a:r>
              <a:t>Project root: C:/Users/athul/DL_Dec/ResQ_Kerala</a:t>
            </a:r>
          </a:p>
          <a:p xmlns:a="http://schemas.openxmlformats.org/drawingml/2006/main">
            <a:r>
              <a:t/>
            </a:r>
          </a:p>
          <a:p xmlns:a="http://schemas.openxmlformats.org/drawingml/2006/main">
            <a:r>
              <a:t>Main files:</a:t>
            </a:r>
          </a:p>
          <a:p xmlns:a="http://schemas.openxmlformats.org/drawingml/2006/main">
            <a:r>
              <a:t>Shared: backend/tests/test_workflows.py — Full lifecycle / permissions</a:t>
            </a:r>
          </a:p>
          <a:p xmlns:a="http://schemas.openxmlformats.org/drawingml/2006/main">
            <a:r>
              <a:t>Shared: backend/tests/test_backend_audit.py — Assignment / history privacy</a:t>
            </a:r>
          </a:p>
          <a:p xmlns:a="http://schemas.openxmlformats.org/drawingml/2006/main">
            <a:r>
              <a:t>Shared: backend/tests/test_extended.py — Investigation / concurrency</a:t>
            </a:r>
          </a:p>
          <a:p xmlns:a="http://schemas.openxmlformats.org/drawingml/2006/main">
            <a:r>
              <a:t>Shared: backend/tests/test_core_acceptance.py — Acceptance / handoff edges</a:t>
            </a:r>
          </a:p>
          <a:p xmlns:a="http://schemas.openxmlformats.org/drawingml/2006/main">
            <a:r>
              <a:t>Shared: backend/tests/test_incident_acceptance.py — Rescue / relief / closure</a:t>
            </a:r>
          </a:p>
          <a:p xmlns:a="http://schemas.openxmlformats.org/drawingml/2006/main">
            <a:r>
              <a:t>Shared: backend/routers/teams.py — Correct acceptance action</a:t>
            </a:r>
          </a:p>
          <a:p xmlns:a="http://schemas.openxmlformats.org/drawingml/2006/main">
            <a:r>
              <a:t>Shared: backend/services/team_service.py — Assignment / release checks</a:t>
            </a:r>
          </a:p>
          <a:p xmlns:a="http://schemas.openxmlformats.org/drawingml/2006/main">
            <a:r>
              <a:t>Shared: backend/routers/incidents.py — Review / progress / handoff</a:t>
            </a:r>
          </a:p>
          <a:p xmlns:a="http://schemas.openxmlformats.org/drawingml/2006/main">
            <a:r>
              <a:t/>
            </a:r>
          </a:p>
          <a:p xmlns:a="http://schemas.openxmlformats.org/drawingml/2006/main">
            <a:r>
              <a:t>Related/reference files:</a:t>
            </a:r>
          </a:p>
          <a:p xmlns:a="http://schemas.openxmlformats.org/drawingml/2006/main">
            <a:r>
              <a:t>frontend/src/components/shared/IncidentDetail.jsx</a:t>
            </a:r>
          </a:p>
          <a:p xmlns:a="http://schemas.openxmlformats.org/drawingml/2006/main">
            <a:r>
              <a:t>frontend/src/pages/response_team/Assignments.jsx</a:t>
            </a:r>
          </a:p>
          <a:p xmlns:a="http://schemas.openxmlformats.org/drawingml/2006/main">
            <a:r>
              <a:t>docs/verification.md</a:t>
            </a:r>
          </a:p>
          <a:p xmlns:a="http://schemas.openxmlformats.org/drawingml/2006/main">
            <a:r>
              <a:t/>
            </a:r>
          </a:p>
          <a:p xmlns:a="http://schemas.openxmlformats.org/drawingml/2006/main">
            <a:r>
              <a:t>Detailed guidance:</a:t>
            </a:r>
          </a:p>
          <a:p xmlns:a="http://schemas.openxmlformats.org/drawingml/2006/main">
            <a:r>
              <a:t>Verify team_assigned -&gt; task_accepted -&gt; en_route -&gt; in_progress -&gt; resolved -&gt; closed after initial submitted/under_review states. Test bounded acceptance-note persistence/idempotency, skipped-stage rejection, stale available-team rows, handoff release timing, concurrent stock updates, unfinished-relief blocking and private former-team history. Reuse the final test files as verification references, not evidence of historical weekly authorship. Coordinate UI action checks with Athul/Maanaz and AI integration with Arya.</a:t>
            </a:r>
          </a:p>
          <a:p xmlns:a="http://schemas.openxmlformats.org/drawingml/2006/main">
            <a:r>
              <a:t/>
            </a:r>
          </a:p>
          <a:p xmlns:a="http://schemas.openxmlformats.org/drawingml/2006/main">
            <a:r>
              <a:t>Submission reference: explain the feature, identify the functions changed or studied, attach relevant source/test evidence and show the weekly demo. Keep existing relative paths. Shared full files contain other members' code; identify your section and coordinate changes. Exclude private .env values, credentials, reset tokens, uploads, .venv, node_modules and generated caches. No historical weekly build or individual authorship is asserted by this mapping.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responsibility: C:/Users/athul/Downloads/ResQ_Kerala_Presentation.pptx, slide 14, Athul.</a:t>
            </a:r>
          </a:p>
          <a:p xmlns:a="http://schemas.openxmlformats.org/drawingml/2006/main">
            <a:r>
              <a:t>Task: Connect user updates, clarification replies and final screens.</a:t>
            </a:r>
          </a:p>
          <a:p xmlns:a="http://schemas.openxmlformats.org/drawingml/2006/main">
            <a:r>
              <a:t>Result/demonstration: Citizen replies to clarification and sees updates through final admin closure.</a:t>
            </a:r>
          </a:p>
          <a:p xmlns:a="http://schemas.openxmlformats.org/drawingml/2006/main">
            <a:r>
              <a:t>Project root: C:/Users/athul/DL_Dec/ResQ_Kerala</a:t>
            </a:r>
          </a:p>
          <a:p xmlns:a="http://schemas.openxmlformats.org/drawingml/2006/main">
            <a:r>
              <a:t/>
            </a:r>
          </a:p>
          <a:p xmlns:a="http://schemas.openxmlformats.org/drawingml/2006/main">
            <a:r>
              <a:t>Main files:</a:t>
            </a:r>
          </a:p>
          <a:p xmlns:a="http://schemas.openxmlformats.org/drawingml/2006/main">
            <a:r>
              <a:t>Shared: frontend/src/App.jsx — Notifications / navigation</a:t>
            </a:r>
          </a:p>
          <a:p xmlns:a="http://schemas.openxmlformats.org/drawingml/2006/main">
            <a:r>
              <a:t>Shared: frontend/src/components/shared/IncidentDetail.jsx — Clarification / final timeline</a:t>
            </a:r>
          </a:p>
          <a:p xmlns:a="http://schemas.openxmlformats.org/drawingml/2006/main">
            <a:r>
              <a:t>Shared: frontend/src/pages/citizen/MyReports.jsx — Citizen history / status</a:t>
            </a:r>
          </a:p>
          <a:p xmlns:a="http://schemas.openxmlformats.org/drawingml/2006/main">
            <a:r>
              <a:t>Shared: frontend/src/components/shared/IncidentListView.jsx — Citizen search / filters</a:t>
            </a:r>
          </a:p>
          <a:p xmlns:a="http://schemas.openxmlformats.org/drawingml/2006/main">
            <a:r>
              <a:t>Feature responsibility: frontend/src/pages/citizen/Dashboard.jsx — Citizen overview / entry points</a:t>
            </a:r>
          </a:p>
          <a:p xmlns:a="http://schemas.openxmlformats.org/drawingml/2006/main">
            <a:r>
              <a:t>Shared: frontend/src/services/api.js — Errors / authenticated requests</a:t>
            </a:r>
          </a:p>
          <a:p xmlns:a="http://schemas.openxmlformats.org/drawingml/2006/main">
            <a:r>
              <a:t>Shared: frontend/src/hooks/useData.js — Polling / refresh / cleanup</a:t>
            </a:r>
          </a:p>
          <a:p xmlns:a="http://schemas.openxmlformats.org/drawingml/2006/main">
            <a:r>
              <a:t>Shared: backend/routers/users.py — Notification API contract</a:t>
            </a:r>
          </a:p>
          <a:p xmlns:a="http://schemas.openxmlformats.org/drawingml/2006/main">
            <a:r>
              <a:t/>
            </a:r>
          </a:p>
          <a:p xmlns:a="http://schemas.openxmlformats.org/drawingml/2006/main">
            <a:r>
              <a:t>Related/reference files:</a:t>
            </a:r>
          </a:p>
          <a:p xmlns:a="http://schemas.openxmlformats.org/drawingml/2006/main">
            <a:r>
              <a:t>backend/services/notification_service.py</a:t>
            </a:r>
          </a:p>
          <a:p xmlns:a="http://schemas.openxmlformats.org/drawingml/2006/main">
            <a:r>
              <a:t>frontend/src/pages/citizen/ReportForm.jsx</a:t>
            </a:r>
          </a:p>
          <a:p xmlns:a="http://schemas.openxmlformats.org/drawingml/2006/main">
            <a:r>
              <a:t>scripts/browser-smoke.cjs</a:t>
            </a:r>
          </a:p>
          <a:p xmlns:a="http://schemas.openxmlformats.org/drawingml/2006/main">
            <a:r>
              <a:t>scripts/browser-secondary.cjs</a:t>
            </a:r>
          </a:p>
          <a:p xmlns:a="http://schemas.openxmlformats.org/drawingml/2006/main">
            <a:r>
              <a:t/>
            </a:r>
          </a:p>
          <a:p xmlns:a="http://schemas.openxmlformats.org/drawingml/2006/main">
            <a:r>
              <a:t>Detailed guidance:</a:t>
            </a:r>
          </a:p>
          <a:p xmlns:a="http://schemas.openxmlformats.org/drawingml/2006/main">
            <a:r>
              <a:t>Integrate notification polling, unread/read controls and linked-case navigation in App.jsx. ClarificationReply/reply must show the saved answer, preserve original report text and refresh the current timeline. Coordinate backend notifications/closure with Maanaz, permission/assignment checks with Vidya and Malayalam analysis with Arya. Show the complete citizen view after admin closure. Voice, photos and donations were optional extensions in the source PPT; do not treat physical hardware or real provider services as already verified. Do not redistribute .env, passwords, reset links or uploaded private material.</a:t>
            </a:r>
          </a:p>
          <a:p xmlns:a="http://schemas.openxmlformats.org/drawingml/2006/main">
            <a:r>
              <a:t/>
            </a:r>
          </a:p>
          <a:p xmlns:a="http://schemas.openxmlformats.org/drawingml/2006/main">
            <a:r>
              <a:t>Submission reference: explain the feature, identify the functions changed or studied, attach relevant source/test evidence and show the weekly demo. Keep existing relative paths. Shared full files contain other members' code; identify your section and coordinate changes. Exclude private .env values, credentials, reset tokens, uploads, .venv, node_modules and generated caches. No historical weekly build or individual authorship is asserted by this mapping.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Verified paths: backend/routers/incidents.py; backend/ai/agent.py; frontend/src/App.jsx; frontend/src/components/shared/IncidentDetail.jsx; frontend/src/components/shared/IncidentListView.jsx; frontend/src/services/api.js; frontend/src/hooks/useData.js; backend/schemas/incident_schema.py; backend/models/incident.py; backend/services/incident_service.py; backend/services/team_service.py. Assign one agreed integrator for shared routing/imports at each checkpoint; do not silently rename states or response keys. All members share integration tests. Domain tables are defined in backend/models/*, not the compatibility registry database/models.py.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teamwork routine: C:/Users/athul/Downloads/ResQ_Kerala_Presentation.pptx, slide 15. Suggested submission contents are guidance rather than a specified institution format: selected source references, a concise feature explanation, relevant test output, screenshots or a demonstration recording, and known limitations. Keep the existing file structure; do not create separate Week_1/V1 app trees. Use scripts/check_structure.py for structure checks and backend/tests for deterministic checks with isolated databases. docs/verification.md records current verification and limits. Account/email/payment activation, physical microphone/mobile verification and authentic disaster-response model evaluation remain separate from these weekly classroom demonstrations.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c0ca4f1860147e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021dbbd1c2a447f" /><Relationship Type="http://schemas.openxmlformats.org/officeDocument/2006/relationships/slideLayout" Target="/ppt/slideLayouts/slideLayout1.xml" Id="R37994061769a402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7994061769a402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129972362d74872" /><Relationship Type="http://schemas.openxmlformats.org/officeDocument/2006/relationships/notesSlide" Target="/ppt/notesSlides/notesSlide1.xml" Id="R6fef38481c56487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5141d48f0f54fab" /><Relationship Type="http://schemas.openxmlformats.org/officeDocument/2006/relationships/notesSlide" Target="/ppt/notesSlides/notesSlide2.xml" Id="R8c03173705a84d8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89acc02cc904dc0" /><Relationship Type="http://schemas.openxmlformats.org/officeDocument/2006/relationships/notesSlide" Target="/ppt/notesSlides/notesSlide3.xml" Id="Rf88fcda5c21e4e6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14d07a23e8a4f57" /><Relationship Type="http://schemas.openxmlformats.org/officeDocument/2006/relationships/notesSlide" Target="/ppt/notesSlides/notesSlide4.xml" Id="R6179ea21f25b422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3d0e95c1bf6424a" /><Relationship Type="http://schemas.openxmlformats.org/officeDocument/2006/relationships/notesSlide" Target="/ppt/notesSlides/notesSlide5.xml" Id="Rac1eec12c517491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30a80a4bfb64272" /><Relationship Type="http://schemas.openxmlformats.org/officeDocument/2006/relationships/notesSlide" Target="/ppt/notesSlides/notesSlide6.xml" Id="Rdebd756b874b4a7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5cd282b4601469f" /><Relationship Type="http://schemas.openxmlformats.org/officeDocument/2006/relationships/notesSlide" Target="/ppt/notesSlides/notesSlide7.xml" Id="Rf7330e6d2ae24d7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07e2735af894e5e" /><Relationship Type="http://schemas.openxmlformats.org/officeDocument/2006/relationships/notesSlide" Target="/ppt/notesSlides/notesSlide8.xml" Id="Rd9467b742d894a7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6aa2f1bb11b4f8e" /><Relationship Type="http://schemas.openxmlformats.org/officeDocument/2006/relationships/notesSlide" Target="/ppt/notesSlides/notesSlide9.xml" Id="Re9e3a2ca423340d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869bf50e9ad496d" /><Relationship Type="http://schemas.openxmlformats.org/officeDocument/2006/relationships/notesSlide" Target="/ppt/notesSlides/notesSlide10.xml" Id="Rdb2833350507415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ccf3ff8789246c3" /><Relationship Type="http://schemas.openxmlformats.org/officeDocument/2006/relationships/notesSlide" Target="/ppt/notesSlides/notesSlide11.xml" Id="R0c75515dbd6d424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7bdc687fcbc446d" /><Relationship Type="http://schemas.openxmlformats.org/officeDocument/2006/relationships/notesSlide" Target="/ppt/notesSlides/notesSlide12.xml" Id="Rc2dc67937bcc4b5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191dac517d3494d" /><Relationship Type="http://schemas.openxmlformats.org/officeDocument/2006/relationships/notesSlide" Target="/ppt/notesSlides/notesSlide13.xml" Id="Rf2d0222aa34a484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5cbadaa27c442a0" /><Relationship Type="http://schemas.openxmlformats.org/officeDocument/2006/relationships/notesSlide" Target="/ppt/notesSlides/notesSlide14.xml" Id="R2fff069dbb0742b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28cb290ace24a82" /><Relationship Type="http://schemas.openxmlformats.org/officeDocument/2006/relationships/notesSlide" Target="/ppt/notesSlides/notesSlide15.xml" Id="R4acede1d49a34f0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0fc18cd5f60410b" /><Relationship Type="http://schemas.openxmlformats.org/officeDocument/2006/relationships/notesSlide" Target="/ppt/notesSlides/notesSlide16.xml" Id="R784fe82a521443a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1257af202a34770" /><Relationship Type="http://schemas.openxmlformats.org/officeDocument/2006/relationships/notesSlide" Target="/ppt/notesSlides/notesSlide17.xml" Id="Rbf1247a194824e2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1a4dfd88fd64779" /><Relationship Type="http://schemas.openxmlformats.org/officeDocument/2006/relationships/notesSlide" Target="/ppt/notesSlides/notesSlide18.xml" Id="Re79df2eb2ef546b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e7eb8dd1a534386" /><Relationship Type="http://schemas.openxmlformats.org/officeDocument/2006/relationships/notesSlide" Target="/ppt/notesSlides/notesSlide19.xml" Id="R9c5fc99d8eff48f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54396ff6ec642a1" /><Relationship Type="http://schemas.openxmlformats.org/officeDocument/2006/relationships/notesSlide" Target="/ppt/notesSlides/notesSlide20.xml" Id="R5f1d661e7cc5476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5ac84bbc47642a6" /><Relationship Type="http://schemas.openxmlformats.org/officeDocument/2006/relationships/notesSlide" Target="/ppt/notesSlides/notesSlide21.xml" Id="R4ce955103b4e4e6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725580696814c0c" /><Relationship Type="http://schemas.openxmlformats.org/officeDocument/2006/relationships/notesSlide" Target="/ppt/notesSlides/notesSlide22.xml" Id="Redb9a29654264e5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cfaeb45686e456d" /><Relationship Type="http://schemas.openxmlformats.org/officeDocument/2006/relationships/notesSlide" Target="/ppt/notesSlides/notesSlide23.xml" Id="Re88cbc8a578b4db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d7f3d15bd874d45" /><Relationship Type="http://schemas.openxmlformats.org/officeDocument/2006/relationships/notesSlide" Target="/ppt/notesSlides/notesSlide24.xml" Id="R8a94c2595290472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7e5891f6d5240af" /><Relationship Type="http://schemas.openxmlformats.org/officeDocument/2006/relationships/notesSlide" Target="/ppt/notesSlides/notesSlide25.xml" Id="R27612a80d321455a" /></Relationships>
</file>

<file path=ppt/slides/slide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6" name="Rectangle 5">
            <a:extLst xmlns:a="http://schemas.openxmlformats.org/drawingml/2006/main">
              <a:ext uri="{FF2B5EF4-FFF2-40B4-BE49-F238E27FC236}">
                <a16:creationId xmlns:a16="http://schemas.microsoft.com/office/drawing/2014/main" id="{ECCF6FE4-C6BE-47BB-9349-09223AA8A6D9}"/>
              </a:ext>
            </a:extLst>
          </p:cNvPr>
          <p:cNvSpPr>
            <a:spLocks xmlns:a="http://schemas.openxmlformats.org/drawingml/2006/main" noGrp="1"/>
          </p:cNvSpPr>
          <p:nvPr/>
        </p:nvSpPr>
        <p:spPr>
          <a:xfrm xmlns:a="http://schemas.openxmlformats.org/drawingml/2006/main">
            <a:off x="628650" y="457200"/>
            <a:ext cx="10934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1111"/>
                </a:solidFill>
                <a:latin typeface="DejaVu Sans"/>
                <a:ea typeface="DejaVu Sans"/>
                <a:cs typeface="DejaVu Sans"/>
              </a:defRPr>
            </a:pPr>
            <a:r>
              <a:rPr sz="3300" b="1">
                <a:solidFill>
                  <a:srgbClr val="111111"/>
                </a:solidFill>
                <a:latin typeface="DejaVu Sans"/>
                <a:ea typeface="DejaVu Sans"/>
                <a:cs typeface="DejaVu Sans"/>
              </a:rPr>
              <a:t>ResQ Kerala</a:t>
            </a:r>
          </a:p>
        </p:txBody>
      </p:sp>
      <p:sp>
        <p:nvSpPr>
          <p:cNvPr id="2" name="Rectangle 1">
            <a:extLst xmlns:a="http://schemas.openxmlformats.org/drawingml/2006/main">
              <a:ext uri="{FF2B5EF4-FFF2-40B4-BE49-F238E27FC236}">
                <a16:creationId xmlns:a16="http://schemas.microsoft.com/office/drawing/2014/main" id="{6CC797E7-F7AC-4EFB-882B-1450DC905D82}"/>
              </a:ext>
            </a:extLst>
          </p:cNvPr>
          <p:cNvSpPr>
            <a:spLocks xmlns:a="http://schemas.openxmlformats.org/drawingml/2006/main" noGrp="1"/>
          </p:cNvSpPr>
          <p:nvPr/>
        </p:nvSpPr>
        <p:spPr>
          <a:xfrm xmlns:a="http://schemas.openxmlformats.org/drawingml/2006/main">
            <a:off x="110299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111111"/>
                </a:solidFill>
                <a:latin typeface="DejaVu Sans"/>
                <a:ea typeface="DejaVu Sans"/>
                <a:cs typeface="DejaVu Sans"/>
              </a:defRPr>
            </a:pPr>
            <a:r>
              <a:rPr sz="1275" b="0">
                <a:solidFill>
                  <a:srgbClr val="111111"/>
                </a:solidFill>
                <a:latin typeface="DejaVu Sans"/>
                <a:ea typeface="DejaVu Sans"/>
                <a:cs typeface="DejaVu Sans"/>
              </a:rPr>
              <a:t>01</a:t>
            </a:r>
          </a:p>
        </p:txBody>
      </p:sp>
      <p:sp>
        <p:nvSpPr>
          <p:cNvPr id="3" name="Rectangle 2">
            <a:extLst xmlns:a="http://schemas.openxmlformats.org/drawingml/2006/main">
              <a:ext uri="{FF2B5EF4-FFF2-40B4-BE49-F238E27FC236}">
                <a16:creationId xmlns:a16="http://schemas.microsoft.com/office/drawing/2014/main" id="{619FF5E7-37A0-4DB0-874B-8774536E3955}"/>
              </a:ext>
            </a:extLst>
          </p:cNvPr>
          <p:cNvSpPr>
            <a:spLocks xmlns:a="http://schemas.openxmlformats.org/drawingml/2006/main" noGrp="1"/>
          </p:cNvSpPr>
          <p:nvPr/>
        </p:nvSpPr>
        <p:spPr>
          <a:xfrm xmlns:a="http://schemas.openxmlformats.org/drawingml/2006/main">
            <a:off x="647700" y="233362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11111"/>
                </a:solidFill>
                <a:latin typeface="DejaVu Sans"/>
                <a:ea typeface="DejaVu Sans"/>
                <a:cs typeface="DejaVu Sans"/>
              </a:defRPr>
            </a:pPr>
            <a:r>
              <a:rPr sz="4050" b="1">
                <a:solidFill>
                  <a:srgbClr val="111111"/>
                </a:solidFill>
                <a:latin typeface="DejaVu Sans"/>
                <a:ea typeface="DejaVu Sans"/>
                <a:cs typeface="DejaVu Sans"/>
              </a:rPr>
              <a:t>Weekly Member Reference Guide</a:t>
            </a:r>
          </a:p>
        </p:txBody>
      </p:sp>
      <p:sp>
        <p:nvSpPr>
          <p:cNvPr id="4" name="Rectangle 3">
            <a:extLst xmlns:a="http://schemas.openxmlformats.org/drawingml/2006/main">
              <a:ext uri="{FF2B5EF4-FFF2-40B4-BE49-F238E27FC236}">
                <a16:creationId xmlns:a16="http://schemas.microsoft.com/office/drawing/2014/main" id="{FF9FDE42-D0AD-41D7-9385-66FE4AFCA31D}"/>
              </a:ext>
            </a:extLst>
          </p:cNvPr>
          <p:cNvSpPr>
            <a:spLocks xmlns:a="http://schemas.openxmlformats.org/drawingml/2006/main" noGrp="1"/>
          </p:cNvSpPr>
          <p:nvPr/>
        </p:nvSpPr>
        <p:spPr>
          <a:xfrm xmlns:a="http://schemas.openxmlformats.org/drawingml/2006/main">
            <a:off x="666750" y="37147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11111"/>
                </a:solidFill>
                <a:latin typeface="DejaVu Sans"/>
                <a:ea typeface="DejaVu Sans"/>
                <a:cs typeface="DejaVu Sans"/>
              </a:defRPr>
            </a:pPr>
            <a:r>
              <a:rPr sz="2175" b="0">
                <a:solidFill>
                  <a:srgbClr val="111111"/>
                </a:solidFill>
                <a:latin typeface="DejaVu Sans"/>
                <a:ea typeface="DejaVu Sans"/>
                <a:cs typeface="DejaVu Sans"/>
              </a:rPr>
              <a:t>Athul  •  Arya  •  Maanaz  •  Vidya</a:t>
            </a:r>
          </a:p>
        </p:txBody>
      </p:sp>
      <p:sp>
        <p:nvSpPr>
          <p:cNvPr id="5" name="Rectangle 4">
            <a:extLst xmlns:a="http://schemas.openxmlformats.org/drawingml/2006/main">
              <a:ext uri="{FF2B5EF4-FFF2-40B4-BE49-F238E27FC236}">
                <a16:creationId xmlns:a16="http://schemas.microsoft.com/office/drawing/2014/main" id="{DAC3C22E-7845-4FAB-98B5-F8BAD90A28A1}"/>
              </a:ext>
            </a:extLst>
          </p:cNvPr>
          <p:cNvSpPr>
            <a:spLocks xmlns:a="http://schemas.openxmlformats.org/drawingml/2006/main" noGrp="1"/>
          </p:cNvSpPr>
          <p:nvPr/>
        </p:nvSpPr>
        <p:spPr>
          <a:xfrm xmlns:a="http://schemas.openxmlformats.org/drawingml/2006/main">
            <a:off x="666750" y="463867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11111"/>
                </a:solidFill>
                <a:latin typeface="DejaVu Sans"/>
                <a:ea typeface="DejaVu Sans"/>
                <a:cs typeface="DejaVu Sans"/>
              </a:defRPr>
            </a:pPr>
            <a:r>
              <a:rPr sz="2250" b="0">
                <a:solidFill>
                  <a:srgbClr val="111111"/>
                </a:solidFill>
                <a:latin typeface="DejaVu Sans"/>
                <a:ea typeface="DejaVu Sans"/>
                <a:cs typeface="DejaVu Sans"/>
              </a:rPr>
              <a:t>Weekly responsibilities, exact files and demonstrations</a:t>
            </a:r>
          </a:p>
        </p:txBody>
      </p:sp>
    </p:spTree>
    <p:extLst>
      <p:ext uri="{BB962C8B-B14F-4D97-AF65-F5344CB8AC3E}">
        <p14:creationId xmlns:p14="http://schemas.microsoft.com/office/powerpoint/2010/main" val="167434229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Rectangle 10">
            <a:extLst xmlns:a="http://schemas.openxmlformats.org/drawingml/2006/main">
              <a:ext uri="{FF2B5EF4-FFF2-40B4-BE49-F238E27FC236}">
                <a16:creationId xmlns:a16="http://schemas.microsoft.com/office/drawing/2014/main" id="{7B3ED5AC-7C3C-4793-959C-3E455F4153DE}"/>
              </a:ext>
            </a:extLst>
          </p:cNvPr>
          <p:cNvSpPr>
            <a:spLocks xmlns:a="http://schemas.openxmlformats.org/drawingml/2006/main" noGrp="1"/>
          </p:cNvSpPr>
          <p:nvPr/>
        </p:nvSpPr>
        <p:spPr>
          <a:xfrm xmlns:a="http://schemas.openxmlformats.org/drawingml/2006/main">
            <a:off x="628650" y="457200"/>
            <a:ext cx="10934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1111"/>
                </a:solidFill>
                <a:latin typeface="DejaVu Sans"/>
                <a:ea typeface="DejaVu Sans"/>
                <a:cs typeface="DejaVu Sans"/>
              </a:defRPr>
            </a:pPr>
            <a:r>
              <a:rPr sz="3300" b="1">
                <a:solidFill>
                  <a:srgbClr val="111111"/>
                </a:solidFill>
                <a:latin typeface="DejaVu Sans"/>
                <a:ea typeface="DejaVu Sans"/>
                <a:cs typeface="DejaVu Sans"/>
              </a:rPr>
              <a:t>How to use this guide</a:t>
            </a:r>
          </a:p>
        </p:txBody>
      </p:sp>
      <p:sp>
        <p:nvSpPr>
          <p:cNvPr id="2" name="Rectangle 1">
            <a:extLst xmlns:a="http://schemas.openxmlformats.org/drawingml/2006/main">
              <a:ext uri="{FF2B5EF4-FFF2-40B4-BE49-F238E27FC236}">
                <a16:creationId xmlns:a16="http://schemas.microsoft.com/office/drawing/2014/main" id="{4A1DE227-55DA-4434-A649-B7EB4BFE3C30}"/>
              </a:ext>
            </a:extLst>
          </p:cNvPr>
          <p:cNvSpPr>
            <a:spLocks xmlns:a="http://schemas.openxmlformats.org/drawingml/2006/main" noGrp="1"/>
          </p:cNvSpPr>
          <p:nvPr/>
        </p:nvSpPr>
        <p:spPr>
          <a:xfrm xmlns:a="http://schemas.openxmlformats.org/drawingml/2006/main">
            <a:off x="110299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111111"/>
                </a:solidFill>
                <a:latin typeface="DejaVu Sans"/>
                <a:ea typeface="DejaVu Sans"/>
                <a:cs typeface="DejaVu Sans"/>
              </a:defRPr>
            </a:pPr>
            <a:r>
              <a:rPr sz="1275" b="0">
                <a:solidFill>
                  <a:srgbClr val="111111"/>
                </a:solidFill>
                <a:latin typeface="DejaVu Sans"/>
                <a:ea typeface="DejaVu Sans"/>
                <a:cs typeface="DejaVu Sans"/>
              </a:rPr>
              <a:t>02</a:t>
            </a:r>
          </a:p>
        </p:txBody>
      </p:sp>
      <p:sp>
        <p:nvSpPr>
          <p:cNvPr id="3" name="Rectangle 2">
            <a:extLst xmlns:a="http://schemas.openxmlformats.org/drawingml/2006/main">
              <a:ext uri="{FF2B5EF4-FFF2-40B4-BE49-F238E27FC236}">
                <a16:creationId xmlns:a16="http://schemas.microsoft.com/office/drawing/2014/main" id="{CBE23D78-569D-42C6-AF95-64396BBFAE86}"/>
              </a:ext>
            </a:extLst>
          </p:cNvPr>
          <p:cNvSpPr>
            <a:spLocks xmlns:a="http://schemas.openxmlformats.org/drawingml/2006/main" noGrp="1"/>
          </p:cNvSpPr>
          <p:nvPr/>
        </p:nvSpPr>
        <p:spPr>
          <a:xfrm xmlns:a="http://schemas.openxmlformats.org/drawingml/2006/main">
            <a:off x="666750" y="1581150"/>
            <a:ext cx="309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11111"/>
                </a:solidFill>
                <a:latin typeface="DejaVu Sans"/>
                <a:ea typeface="DejaVu Sans"/>
                <a:cs typeface="DejaVu Sans"/>
              </a:defRPr>
            </a:pPr>
            <a:r>
              <a:rPr sz="1950" b="1">
                <a:solidFill>
                  <a:srgbClr val="111111"/>
                </a:solidFill>
                <a:latin typeface="DejaVu Sans"/>
                <a:ea typeface="DejaVu Sans"/>
                <a:cs typeface="DejaVu Sans"/>
              </a:rPr>
              <a:t>Original assignments</a:t>
            </a:r>
          </a:p>
        </p:txBody>
      </p:sp>
      <p:sp>
        <p:nvSpPr>
          <p:cNvPr id="4" name="Rectangle 3">
            <a:extLst xmlns:a="http://schemas.openxmlformats.org/drawingml/2006/main">
              <a:ext uri="{FF2B5EF4-FFF2-40B4-BE49-F238E27FC236}">
                <a16:creationId xmlns:a16="http://schemas.microsoft.com/office/drawing/2014/main" id="{822DFA20-A87A-4049-9D96-070528AC5193}"/>
              </a:ext>
            </a:extLst>
          </p:cNvPr>
          <p:cNvSpPr>
            <a:spLocks xmlns:a="http://schemas.openxmlformats.org/drawingml/2006/main" noGrp="1"/>
          </p:cNvSpPr>
          <p:nvPr/>
        </p:nvSpPr>
        <p:spPr>
          <a:xfrm xmlns:a="http://schemas.openxmlformats.org/drawingml/2006/main">
            <a:off x="3981450" y="1581150"/>
            <a:ext cx="742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11111"/>
                </a:solidFill>
                <a:latin typeface="DejaVu Sans"/>
                <a:ea typeface="DejaVu Sans"/>
                <a:cs typeface="DejaVu Sans"/>
              </a:defRPr>
            </a:pPr>
            <a:r>
              <a:rPr sz="1875" b="0">
                <a:solidFill>
                  <a:srgbClr val="111111"/>
                </a:solidFill>
                <a:latin typeface="DejaVu Sans"/>
                <a:ea typeface="DejaVu Sans"/>
                <a:cs typeface="DejaVu Sans"/>
              </a:rPr>
              <a:t>The four weekly member assignments follow slides 11–14 of your presentation.</a:t>
            </a:r>
          </a:p>
        </p:txBody>
      </p:sp>
      <p:sp>
        <p:nvSpPr>
          <p:cNvPr id="5" name="Rectangle 4">
            <a:extLst xmlns:a="http://schemas.openxmlformats.org/drawingml/2006/main">
              <a:ext uri="{FF2B5EF4-FFF2-40B4-BE49-F238E27FC236}">
                <a16:creationId xmlns:a16="http://schemas.microsoft.com/office/drawing/2014/main" id="{FF8D808E-764F-4908-BEA6-3828D8213052}"/>
              </a:ext>
            </a:extLst>
          </p:cNvPr>
          <p:cNvSpPr>
            <a:spLocks xmlns:a="http://schemas.openxmlformats.org/drawingml/2006/main" noGrp="1"/>
          </p:cNvSpPr>
          <p:nvPr/>
        </p:nvSpPr>
        <p:spPr>
          <a:xfrm xmlns:a="http://schemas.openxmlformats.org/drawingml/2006/main">
            <a:off x="666750" y="2609850"/>
            <a:ext cx="309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11111"/>
                </a:solidFill>
                <a:latin typeface="DejaVu Sans"/>
                <a:ea typeface="DejaVu Sans"/>
                <a:cs typeface="DejaVu Sans"/>
              </a:defRPr>
            </a:pPr>
            <a:r>
              <a:rPr sz="1950" b="1">
                <a:solidFill>
                  <a:srgbClr val="111111"/>
                </a:solidFill>
                <a:latin typeface="DejaVu Sans"/>
                <a:ea typeface="DejaVu Sans"/>
                <a:cs typeface="DejaVu Sans"/>
              </a:rPr>
              <a:t>Exact project paths</a:t>
            </a:r>
          </a:p>
        </p:txBody>
      </p:sp>
      <p:sp>
        <p:nvSpPr>
          <p:cNvPr id="6" name="Rectangle 5">
            <a:extLst xmlns:a="http://schemas.openxmlformats.org/drawingml/2006/main">
              <a:ext uri="{FF2B5EF4-FFF2-40B4-BE49-F238E27FC236}">
                <a16:creationId xmlns:a16="http://schemas.microsoft.com/office/drawing/2014/main" id="{CDDF5309-7D5D-447D-A2A9-4A35138BCFE1}"/>
              </a:ext>
            </a:extLst>
          </p:cNvPr>
          <p:cNvSpPr>
            <a:spLocks xmlns:a="http://schemas.openxmlformats.org/drawingml/2006/main" noGrp="1"/>
          </p:cNvSpPr>
          <p:nvPr/>
        </p:nvSpPr>
        <p:spPr>
          <a:xfrm xmlns:a="http://schemas.openxmlformats.org/drawingml/2006/main">
            <a:off x="3981450" y="2609850"/>
            <a:ext cx="742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11111"/>
                </a:solidFill>
                <a:latin typeface="DejaVu Sans"/>
                <a:ea typeface="DejaVu Sans"/>
                <a:cs typeface="DejaVu Sans"/>
              </a:defRPr>
            </a:pPr>
            <a:r>
              <a:rPr sz="1875" b="0">
                <a:solidFill>
                  <a:srgbClr val="111111"/>
                </a:solidFill>
                <a:latin typeface="DejaVu Sans"/>
                <a:ea typeface="DejaVu Sans"/>
                <a:cs typeface="DejaVu Sans"/>
              </a:rPr>
              <a:t>Every file path starts at the ResQ_Kerala project root. Keep its existing location.</a:t>
            </a:r>
          </a:p>
        </p:txBody>
      </p:sp>
      <p:sp>
        <p:nvSpPr>
          <p:cNvPr id="7" name="Rectangle 6">
            <a:extLst xmlns:a="http://schemas.openxmlformats.org/drawingml/2006/main">
              <a:ext uri="{FF2B5EF4-FFF2-40B4-BE49-F238E27FC236}">
                <a16:creationId xmlns:a16="http://schemas.microsoft.com/office/drawing/2014/main" id="{6AB05407-EF06-4EF8-9FD4-ECB94A5E3945}"/>
              </a:ext>
            </a:extLst>
          </p:cNvPr>
          <p:cNvSpPr>
            <a:spLocks xmlns:a="http://schemas.openxmlformats.org/drawingml/2006/main" noGrp="1"/>
          </p:cNvSpPr>
          <p:nvPr/>
        </p:nvSpPr>
        <p:spPr>
          <a:xfrm xmlns:a="http://schemas.openxmlformats.org/drawingml/2006/main">
            <a:off x="666750" y="3638550"/>
            <a:ext cx="309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11111"/>
                </a:solidFill>
                <a:latin typeface="DejaVu Sans"/>
                <a:ea typeface="DejaVu Sans"/>
                <a:cs typeface="DejaVu Sans"/>
              </a:defRPr>
            </a:pPr>
            <a:r>
              <a:rPr sz="1950" b="1">
                <a:solidFill>
                  <a:srgbClr val="111111"/>
                </a:solidFill>
                <a:latin typeface="DejaVu Sans"/>
                <a:ea typeface="DejaVu Sans"/>
                <a:cs typeface="DejaVu Sans"/>
              </a:rPr>
              <a:t>Shared files</a:t>
            </a:r>
          </a:p>
        </p:txBody>
      </p:sp>
      <p:sp>
        <p:nvSpPr>
          <p:cNvPr id="8" name="Rectangle 7">
            <a:extLst xmlns:a="http://schemas.openxmlformats.org/drawingml/2006/main">
              <a:ext uri="{FF2B5EF4-FFF2-40B4-BE49-F238E27FC236}">
                <a16:creationId xmlns:a16="http://schemas.microsoft.com/office/drawing/2014/main" id="{7973071E-D5DF-4A82-A349-90AFA4CC4E82}"/>
              </a:ext>
            </a:extLst>
          </p:cNvPr>
          <p:cNvSpPr>
            <a:spLocks xmlns:a="http://schemas.openxmlformats.org/drawingml/2006/main" noGrp="1"/>
          </p:cNvSpPr>
          <p:nvPr/>
        </p:nvSpPr>
        <p:spPr>
          <a:xfrm xmlns:a="http://schemas.openxmlformats.org/drawingml/2006/main">
            <a:off x="3981450" y="3638550"/>
            <a:ext cx="742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11111"/>
                </a:solidFill>
                <a:latin typeface="DejaVu Sans"/>
                <a:ea typeface="DejaVu Sans"/>
                <a:cs typeface="DejaVu Sans"/>
              </a:defRPr>
            </a:pPr>
            <a:r>
              <a:rPr sz="1875" b="0">
                <a:solidFill>
                  <a:srgbClr val="111111"/>
                </a:solidFill>
                <a:latin typeface="DejaVu Sans"/>
                <a:ea typeface="DejaVu Sans"/>
                <a:cs typeface="DejaVu Sans"/>
              </a:rPr>
              <a:t>An asterisk means shared code. Coordinate the named feature, not the whole file.</a:t>
            </a:r>
          </a:p>
        </p:txBody>
      </p:sp>
      <p:sp>
        <p:nvSpPr>
          <p:cNvPr id="9" name="Rectangle 8">
            <a:extLst xmlns:a="http://schemas.openxmlformats.org/drawingml/2006/main">
              <a:ext uri="{FF2B5EF4-FFF2-40B4-BE49-F238E27FC236}">
                <a16:creationId xmlns:a16="http://schemas.microsoft.com/office/drawing/2014/main" id="{DEDE569E-502D-44B7-BA9B-A64341CD901A}"/>
              </a:ext>
            </a:extLst>
          </p:cNvPr>
          <p:cNvSpPr>
            <a:spLocks xmlns:a="http://schemas.openxmlformats.org/drawingml/2006/main" noGrp="1"/>
          </p:cNvSpPr>
          <p:nvPr/>
        </p:nvSpPr>
        <p:spPr>
          <a:xfrm xmlns:a="http://schemas.openxmlformats.org/drawingml/2006/main">
            <a:off x="666750" y="4667250"/>
            <a:ext cx="309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11111"/>
                </a:solidFill>
                <a:latin typeface="DejaVu Sans"/>
                <a:ea typeface="DejaVu Sans"/>
                <a:cs typeface="DejaVu Sans"/>
              </a:defRPr>
            </a:pPr>
            <a:r>
              <a:rPr sz="1950" b="1">
                <a:solidFill>
                  <a:srgbClr val="111111"/>
                </a:solidFill>
                <a:latin typeface="DejaVu Sans"/>
                <a:ea typeface="DejaVu Sans"/>
                <a:cs typeface="DejaVu Sans"/>
              </a:rPr>
              <a:t>Current implementation</a:t>
            </a:r>
          </a:p>
        </p:txBody>
      </p:sp>
      <p:sp>
        <p:nvSpPr>
          <p:cNvPr id="10" name="Rectangle 9">
            <a:extLst xmlns:a="http://schemas.openxmlformats.org/drawingml/2006/main">
              <a:ext uri="{FF2B5EF4-FFF2-40B4-BE49-F238E27FC236}">
                <a16:creationId xmlns:a16="http://schemas.microsoft.com/office/drawing/2014/main" id="{4CFF4953-C854-49B6-9903-DDC7D72AA4DB}"/>
              </a:ext>
            </a:extLst>
          </p:cNvPr>
          <p:cNvSpPr>
            <a:spLocks xmlns:a="http://schemas.openxmlformats.org/drawingml/2006/main" noGrp="1"/>
          </p:cNvSpPr>
          <p:nvPr/>
        </p:nvSpPr>
        <p:spPr>
          <a:xfrm xmlns:a="http://schemas.openxmlformats.org/drawingml/2006/main">
            <a:off x="3981450" y="4667250"/>
            <a:ext cx="742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11111"/>
                </a:solidFill>
                <a:latin typeface="DejaVu Sans"/>
                <a:ea typeface="DejaVu Sans"/>
                <a:cs typeface="DejaVu Sans"/>
              </a:defRPr>
            </a:pPr>
            <a:r>
              <a:rPr sz="1875" b="0">
                <a:solidFill>
                  <a:srgbClr val="111111"/>
                </a:solidFill>
                <a:latin typeface="DejaVu Sans"/>
                <a:ea typeface="DejaVu Sans"/>
                <a:cs typeface="DejaVu Sans"/>
              </a:rPr>
              <a:t>Files reflect the final implementation. These are cumulative targets, not saved V1–V4 builds.</a:t>
            </a:r>
          </a:p>
        </p:txBody>
      </p:sp>
    </p:spTree>
    <p:extLst>
      <p:ext uri="{BB962C8B-B14F-4D97-AF65-F5344CB8AC3E}">
        <p14:creationId xmlns:p14="http://schemas.microsoft.com/office/powerpoint/2010/main" val="15704769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Rectangle 3">
            <a:extLst xmlns:a="http://schemas.openxmlformats.org/drawingml/2006/main">
              <a:ext uri="{FF2B5EF4-FFF2-40B4-BE49-F238E27FC236}">
                <a16:creationId xmlns:a16="http://schemas.microsoft.com/office/drawing/2014/main" id="{AD44566B-DBA5-4B03-8E22-6AB038BBBA44}"/>
              </a:ext>
            </a:extLst>
          </p:cNvPr>
          <p:cNvSpPr>
            <a:spLocks xmlns:a="http://schemas.openxmlformats.org/drawingml/2006/main" noGrp="1"/>
          </p:cNvSpPr>
          <p:nvPr/>
        </p:nvSpPr>
        <p:spPr>
          <a:xfrm xmlns:a="http://schemas.openxmlformats.org/drawingml/2006/main">
            <a:off x="628650" y="457200"/>
            <a:ext cx="10934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00000"/>
                </a:solidFill>
                <a:latin typeface="DejaVu Sans"/>
                <a:ea typeface="DejaVu Sans"/>
                <a:cs typeface="DejaVu Sans"/>
              </a:defRPr>
            </a:pPr>
            <a:r>
              <a:rPr sz="3300" b="1">
                <a:solidFill>
                  <a:srgbClr val="000000"/>
                </a:solidFill>
                <a:latin typeface="DejaVu Sans"/>
                <a:ea typeface="DejaVu Sans"/>
                <a:cs typeface="DejaVu Sans"/>
              </a:rPr>
              <a:t>Four-week plan</a:t>
            </a:r>
          </a:p>
        </p:txBody>
      </p:sp>
      <p:sp>
        <p:nvSpPr>
          <p:cNvPr id="2" name="Rectangle 1">
            <a:extLst xmlns:a="http://schemas.openxmlformats.org/drawingml/2006/main">
              <a:ext uri="{FF2B5EF4-FFF2-40B4-BE49-F238E27FC236}">
                <a16:creationId xmlns:a16="http://schemas.microsoft.com/office/drawing/2014/main" id="{0B11E87F-3942-4C0E-BB4F-8B99451B3613}"/>
              </a:ext>
            </a:extLst>
          </p:cNvPr>
          <p:cNvSpPr>
            <a:spLocks xmlns:a="http://schemas.openxmlformats.org/drawingml/2006/main" noGrp="1"/>
          </p:cNvSpPr>
          <p:nvPr/>
        </p:nvSpPr>
        <p:spPr>
          <a:xfrm xmlns:a="http://schemas.openxmlformats.org/drawingml/2006/main">
            <a:off x="110299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111111"/>
                </a:solidFill>
                <a:latin typeface="DejaVu Sans"/>
                <a:ea typeface="DejaVu Sans"/>
                <a:cs typeface="DejaVu Sans"/>
              </a:defRPr>
            </a:pPr>
            <a:r>
              <a:rPr sz="1275" b="0">
                <a:solidFill>
                  <a:srgbClr val="111111"/>
                </a:solidFill>
                <a:latin typeface="DejaVu Sans"/>
                <a:ea typeface="DejaVu Sans"/>
                <a:cs typeface="DejaVu Sans"/>
              </a:rPr>
              <a:t>03</a:t>
            </a:r>
          </a:p>
        </p:txBody>
      </p:sp>
      <p:graphicFrame>
        <p:nvGraphicFramePr>
          <p:cNvPr id="8" name="Table 5"/>
          <p:cNvGraphicFramePr/>
          <p:nvPr/>
        </p:nvGraphicFramePr>
        <p:xfrm>
          <a:off xmlns:a="http://schemas.openxmlformats.org/drawingml/2006/main" x="628650" y="1581150"/>
          <a:ext xmlns:a="http://schemas.openxmlformats.org/drawingml/2006/main" cx="10934700" cy="4191000"/>
        </p:xfrm>
        <a:graphic xmlns:a="http://schemas.openxmlformats.org/drawingml/2006/main">
          <a:graphicData uri="http://schemas.openxmlformats.org/drawingml/2006/table">
            <a:tbl>
              <a:tblPr/>
              <a:tblGrid>
                <a:gridCol w="2286000"/>
                <a:gridCol w="2952750"/>
                <a:gridCol w="5695950"/>
              </a:tblGrid>
              <a:tr h="838200">
                <a:tc>
                  <a:txBody>
                    <a:bodyPr/>
                    <a:lstStyle/>
                    <a:p>
                      <a:r>
                        <a:rPr sz="1800" b="1">
                          <a:solidFill>
                            <a:schemeClr val="tx1">
                              <a:lumMod val="95000"/>
                              <a:lumOff val="5000"/>
                            </a:schemeClr>
                          </a:solidFill>
                          <a:latin typeface="DejaVu Sans"/>
                          <a:ea typeface="DejaVu Sans"/>
                          <a:cs typeface="DejaVu Sans"/>
                        </a:rPr>
                        <a:t>Week / version</a:t>
                      </a:r>
                    </a:p>
                  </a:txBody>
                  <a:tcPr marL="152400" marR="152400" marT="133350" marB="114300">
                    <a:solidFill>
                      <a:schemeClr val="bg1"/>
                    </a:solidFill>
                  </a:tcPr>
                </a:tc>
                <a:tc>
                  <a:txBody>
                    <a:bodyPr/>
                    <a:lstStyle/>
                    <a:p>
                      <a:r>
                        <a:rPr sz="1800" b="1">
                          <a:solidFill>
                            <a:schemeClr val="tx1">
                              <a:lumMod val="95000"/>
                              <a:lumOff val="5000"/>
                            </a:schemeClr>
                          </a:solidFill>
                          <a:latin typeface="DejaVu Sans"/>
                          <a:ea typeface="DejaVu Sans"/>
                          <a:cs typeface="DejaVu Sans"/>
                        </a:rPr>
                        <a:t>Main focus</a:t>
                      </a:r>
                    </a:p>
                  </a:txBody>
                  <a:tcPr marL="152400" marR="152400" marT="133350" marB="114300">
                    <a:solidFill>
                      <a:schemeClr val="bg1"/>
                    </a:solidFill>
                  </a:tcPr>
                </a:tc>
                <a:tc>
                  <a:txBody>
                    <a:bodyPr/>
                    <a:lstStyle/>
                    <a:p>
                      <a:r>
                        <a:rPr sz="1800" b="1">
                          <a:solidFill>
                            <a:schemeClr val="tx1">
                              <a:lumMod val="95000"/>
                              <a:lumOff val="5000"/>
                            </a:schemeClr>
                          </a:solidFill>
                          <a:latin typeface="DejaVu Sans"/>
                          <a:ea typeface="DejaVu Sans"/>
                          <a:cs typeface="DejaVu Sans"/>
                        </a:rPr>
                        <a:t>Working result</a:t>
                      </a:r>
                    </a:p>
                  </a:txBody>
                  <a:tcPr marL="152400" marR="152400" marT="133350" marB="114300">
                    <a:solidFill>
                      <a:schemeClr val="bg1"/>
                    </a:solidFill>
                  </a:tcPr>
                </a:tc>
              </a:tr>
              <a:tr h="838200">
                <a:tc>
                  <a:txBody>
                    <a:bodyPr/>
                    <a:lstStyle/>
                    <a:p>
                      <a:r>
                        <a:rPr sz="1800">
                          <a:solidFill>
                            <a:srgbClr val="000000"/>
                          </a:solidFill>
                          <a:latin typeface="DejaVu Sans"/>
                          <a:ea typeface="DejaVu Sans"/>
                          <a:cs typeface="DejaVu Sans"/>
                        </a:rPr>
                        <a:t>Week 1 / V1</a:t>
                      </a:r>
                    </a:p>
                  </a:txBody>
                  <a:tcPr marL="152400" marR="152400" marT="133350" marB="114300">
                    <a:solidFill>
                      <a:srgbClr val="FFFFFF"/>
                    </a:solidFill>
                  </a:tcPr>
                </a:tc>
                <a:tc>
                  <a:txBody>
                    <a:bodyPr/>
                    <a:lstStyle/>
                    <a:p>
                      <a:r>
                        <a:rPr sz="1800">
                          <a:solidFill>
                            <a:srgbClr val="000000"/>
                          </a:solidFill>
                          <a:latin typeface="DejaVu Sans"/>
                          <a:ea typeface="DejaVu Sans"/>
                          <a:cs typeface="DejaVu Sans"/>
                        </a:rPr>
                        <a:t>Basic reporting</a:t>
                      </a:r>
                    </a:p>
                  </a:txBody>
                  <a:tcPr marL="152400" marR="152400" marT="133350" marB="114300">
                    <a:solidFill>
                      <a:srgbClr val="FFFFFF"/>
                    </a:solidFill>
                  </a:tcPr>
                </a:tc>
                <a:tc>
                  <a:txBody>
                    <a:bodyPr/>
                    <a:lstStyle/>
                    <a:p>
                      <a:r>
                        <a:rPr sz="1800">
                          <a:solidFill>
                            <a:srgbClr val="000000"/>
                          </a:solidFill>
                          <a:latin typeface="DejaVu Sans"/>
                          <a:ea typeface="DejaVu Sans"/>
                          <a:cs typeface="DejaVu Sans"/>
                        </a:rPr>
                        <a:t>Submit, review, assign and track one report.</a:t>
                      </a:r>
                    </a:p>
                  </a:txBody>
                  <a:tcPr marL="152400" marR="152400" marT="133350" marB="114300">
                    <a:solidFill>
                      <a:srgbClr val="FFFFFF"/>
                    </a:solidFill>
                  </a:tcPr>
                </a:tc>
              </a:tr>
              <a:tr h="838200">
                <a:tc>
                  <a:txBody>
                    <a:bodyPr/>
                    <a:lstStyle/>
                    <a:p>
                      <a:r>
                        <a:rPr sz="1800">
                          <a:solidFill>
                            <a:srgbClr val="000000"/>
                          </a:solidFill>
                          <a:latin typeface="DejaVu Sans"/>
                          <a:ea typeface="DejaVu Sans"/>
                          <a:cs typeface="DejaVu Sans"/>
                        </a:rPr>
                        <a:t>Week 2 / V2</a:t>
                      </a:r>
                    </a:p>
                  </a:txBody>
                  <a:tcPr marL="152400" marR="152400" marT="133350" marB="114300">
                    <a:solidFill>
                      <a:srgbClr val="FFFFFF"/>
                    </a:solidFill>
                  </a:tcPr>
                </a:tc>
                <a:tc>
                  <a:txBody>
                    <a:bodyPr/>
                    <a:lstStyle/>
                    <a:p>
                      <a:r>
                        <a:rPr sz="1800">
                          <a:solidFill>
                            <a:srgbClr val="000000"/>
                          </a:solidFill>
                          <a:latin typeface="DejaVu Sans"/>
                          <a:ea typeface="DejaVu Sans"/>
                          <a:cs typeface="DejaVu Sans"/>
                        </a:rPr>
                        <a:t>AI analysis</a:t>
                      </a:r>
                    </a:p>
                  </a:txBody>
                  <a:tcPr marL="152400" marR="152400" marT="133350" marB="114300">
                    <a:solidFill>
                      <a:srgbClr val="FFFFFF"/>
                    </a:solidFill>
                  </a:tcPr>
                </a:tc>
                <a:tc>
                  <a:txBody>
                    <a:bodyPr/>
                    <a:lstStyle/>
                    <a:p>
                      <a:r>
                        <a:rPr sz="1800">
                          <a:solidFill>
                            <a:srgbClr val="000000"/>
                          </a:solidFill>
                          <a:latin typeface="DejaVu Sans"/>
                          <a:ea typeface="DejaVu Sans"/>
                          <a:cs typeface="DejaVu Sans"/>
                        </a:rPr>
                        <a:t>Show urgency, location, alert match and summary.</a:t>
                      </a:r>
                    </a:p>
                  </a:txBody>
                  <a:tcPr marL="152400" marR="152400" marT="133350" marB="114300">
                    <a:solidFill>
                      <a:srgbClr val="FFFFFF"/>
                    </a:solidFill>
                  </a:tcPr>
                </a:tc>
              </a:tr>
              <a:tr h="838200">
                <a:tc>
                  <a:txBody>
                    <a:bodyPr/>
                    <a:lstStyle/>
                    <a:p>
                      <a:r>
                        <a:rPr sz="1800">
                          <a:solidFill>
                            <a:srgbClr val="000000"/>
                          </a:solidFill>
                          <a:latin typeface="DejaVu Sans"/>
                          <a:ea typeface="DejaVu Sans"/>
                          <a:cs typeface="DejaVu Sans"/>
                        </a:rPr>
                        <a:t>Week 3 / V3</a:t>
                      </a:r>
                    </a:p>
                  </a:txBody>
                  <a:tcPr marL="152400" marR="152400" marT="133350" marB="114300">
                    <a:solidFill>
                      <a:srgbClr val="FFFFFF"/>
                    </a:solidFill>
                  </a:tcPr>
                </a:tc>
                <a:tc>
                  <a:txBody>
                    <a:bodyPr/>
                    <a:lstStyle/>
                    <a:p>
                      <a:r>
                        <a:rPr sz="1800">
                          <a:solidFill>
                            <a:srgbClr val="000000"/>
                          </a:solidFill>
                          <a:latin typeface="DejaVu Sans"/>
                          <a:ea typeface="DejaVu Sans"/>
                          <a:cs typeface="DejaVu Sans"/>
                        </a:rPr>
                        <a:t>Help services</a:t>
                      </a:r>
                    </a:p>
                  </a:txBody>
                  <a:tcPr marL="152400" marR="152400" marT="133350" marB="114300">
                    <a:solidFill>
                      <a:srgbClr val="FFFFFF"/>
                    </a:solidFill>
                  </a:tcPr>
                </a:tc>
                <a:tc>
                  <a:txBody>
                    <a:bodyPr/>
                    <a:lstStyle/>
                    <a:p>
                      <a:r>
                        <a:rPr sz="1800">
                          <a:solidFill>
                            <a:srgbClr val="000000"/>
                          </a:solidFill>
                          <a:latin typeface="DejaVu Sans"/>
                          <a:ea typeface="DejaVu Sans"/>
                          <a:cs typeface="DejaVu Sans"/>
                        </a:rPr>
                        <a:t>Add rescue, relief, shelters and chatbot.</a:t>
                      </a:r>
                    </a:p>
                  </a:txBody>
                  <a:tcPr marL="152400" marR="152400" marT="133350" marB="114300">
                    <a:solidFill>
                      <a:srgbClr val="FFFFFF"/>
                    </a:solidFill>
                  </a:tcPr>
                </a:tc>
              </a:tr>
              <a:tr h="838200">
                <a:tc>
                  <a:txBody>
                    <a:bodyPr/>
                    <a:lstStyle/>
                    <a:p>
                      <a:r>
                        <a:rPr sz="1800">
                          <a:solidFill>
                            <a:srgbClr val="000000"/>
                          </a:solidFill>
                          <a:latin typeface="DejaVu Sans"/>
                          <a:ea typeface="DejaVu Sans"/>
                          <a:cs typeface="DejaVu Sans"/>
                        </a:rPr>
                        <a:t>Week 4 / V4</a:t>
                      </a:r>
                    </a:p>
                  </a:txBody>
                  <a:tcPr marL="152400" marR="152400" marT="133350" marB="114300">
                    <a:solidFill>
                      <a:srgbClr val="FFFFFF"/>
                    </a:solidFill>
                  </a:tcPr>
                </a:tc>
                <a:tc>
                  <a:txBody>
                    <a:bodyPr/>
                    <a:lstStyle/>
                    <a:p>
                      <a:r>
                        <a:rPr sz="1800">
                          <a:solidFill>
                            <a:srgbClr val="000000"/>
                          </a:solidFill>
                          <a:latin typeface="DejaVu Sans"/>
                          <a:ea typeface="DejaVu Sans"/>
                          <a:cs typeface="DejaVu Sans"/>
                        </a:rPr>
                        <a:t>Full integration</a:t>
                      </a:r>
                    </a:p>
                  </a:txBody>
                  <a:tcPr marL="152400" marR="152400" marT="133350" marB="114300">
                    <a:solidFill>
                      <a:srgbClr val="FFFFFF"/>
                    </a:solidFill>
                  </a:tcPr>
                </a:tc>
                <a:tc>
                  <a:txBody>
                    <a:bodyPr/>
                    <a:lstStyle/>
                    <a:p>
                      <a:r>
                        <a:rPr sz="1800">
                          <a:solidFill>
                            <a:srgbClr val="000000"/>
                          </a:solidFill>
                          <a:latin typeface="DejaVu Sans"/>
                          <a:ea typeface="DejaVu Sans"/>
                          <a:cs typeface="DejaVu Sans"/>
                        </a:rPr>
                        <a:t>Complete one case with Malayalam and updates.</a:t>
                      </a:r>
                    </a:p>
                  </a:txBody>
                  <a:tcPr marL="152400" marR="152400" marT="133350" marB="114300">
                    <a:solidFill>
                      <a:srgbClr val="FFFFFF"/>
                    </a:solidFill>
                  </a:tcPr>
                </a:tc>
              </a:tr>
            </a:tbl>
          </a:graphicData>
        </a:graphic>
      </p:graphicFrame>
    </p:spTree>
    <p:extLst>
      <p:ext uri="{BB962C8B-B14F-4D97-AF65-F5344CB8AC3E}">
        <p14:creationId xmlns:p14="http://schemas.microsoft.com/office/powerpoint/2010/main" val="25078991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Rectangle 4">
            <a:extLst xmlns:a="http://schemas.openxmlformats.org/drawingml/2006/main">
              <a:ext uri="{FF2B5EF4-FFF2-40B4-BE49-F238E27FC236}">
                <a16:creationId xmlns:a16="http://schemas.microsoft.com/office/drawing/2014/main" id="{6C591B65-33EE-48CA-856A-0732E675E929}"/>
              </a:ext>
            </a:extLst>
          </p:cNvPr>
          <p:cNvSpPr>
            <a:spLocks xmlns:a="http://schemas.openxmlformats.org/drawingml/2006/main" noGrp="1"/>
          </p:cNvSpPr>
          <p:nvPr/>
        </p:nvSpPr>
        <p:spPr>
          <a:xfrm xmlns:a="http://schemas.openxmlformats.org/drawingml/2006/main">
            <a:off x="628650" y="457200"/>
            <a:ext cx="10934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00000"/>
                </a:solidFill>
                <a:latin typeface="DejaVu Sans"/>
                <a:ea typeface="DejaVu Sans"/>
                <a:cs typeface="DejaVu Sans"/>
              </a:defRPr>
            </a:pPr>
            <a:r>
              <a:rPr sz="3300" b="1">
                <a:solidFill>
                  <a:srgbClr val="000000"/>
                </a:solidFill>
                <a:latin typeface="DejaVu Sans"/>
                <a:ea typeface="DejaVu Sans"/>
                <a:cs typeface="DejaVu Sans"/>
              </a:rPr>
              <a:t>Week 1: basic reporting</a:t>
            </a:r>
          </a:p>
        </p:txBody>
      </p:sp>
      <p:sp>
        <p:nvSpPr>
          <p:cNvPr id="2" name="Rectangle 1">
            <a:extLst xmlns:a="http://schemas.openxmlformats.org/drawingml/2006/main">
              <a:ext uri="{FF2B5EF4-FFF2-40B4-BE49-F238E27FC236}">
                <a16:creationId xmlns:a16="http://schemas.microsoft.com/office/drawing/2014/main" id="{4ECB4455-1A7B-47F9-81AE-0A1F3AF819D3}"/>
              </a:ext>
            </a:extLst>
          </p:cNvPr>
          <p:cNvSpPr>
            <a:spLocks xmlns:a="http://schemas.openxmlformats.org/drawingml/2006/main" noGrp="1"/>
          </p:cNvSpPr>
          <p:nvPr/>
        </p:nvSpPr>
        <p:spPr>
          <a:xfrm xmlns:a="http://schemas.openxmlformats.org/drawingml/2006/main">
            <a:off x="110299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111111"/>
                </a:solidFill>
                <a:latin typeface="DejaVu Sans"/>
                <a:ea typeface="DejaVu Sans"/>
                <a:cs typeface="DejaVu Sans"/>
              </a:defRPr>
            </a:pPr>
            <a:r>
              <a:rPr sz="1275" b="0">
                <a:solidFill>
                  <a:srgbClr val="111111"/>
                </a:solidFill>
                <a:latin typeface="DejaVu Sans"/>
                <a:ea typeface="DejaVu Sans"/>
                <a:cs typeface="DejaVu Sans"/>
              </a:rPr>
              <a:t>04</a:t>
            </a:r>
          </a:p>
        </p:txBody>
      </p:sp>
      <p:graphicFrame>
        <p:nvGraphicFramePr>
          <p:cNvPr id="9" name="Table 6"/>
          <p:cNvGraphicFramePr/>
          <p:nvPr/>
        </p:nvGraphicFramePr>
        <p:xfrm>
          <a:off xmlns:a="http://schemas.openxmlformats.org/drawingml/2006/main" x="391886" y="1581150"/>
          <a:ext xmlns:a="http://schemas.openxmlformats.org/drawingml/2006/main" cx="11171464" cy="3928110"/>
        </p:xfrm>
        <a:graphic xmlns:a="http://schemas.openxmlformats.org/drawingml/2006/main">
          <a:graphicData uri="http://schemas.openxmlformats.org/drawingml/2006/table">
            <a:tbl>
              <a:tblPr/>
              <a:tblGrid>
                <a:gridCol w="1482849"/>
                <a:gridCol w="5825118"/>
                <a:gridCol w="3863497"/>
              </a:tblGrid>
              <a:tr h="742950">
                <a:tc>
                  <a:txBody>
                    <a:bodyPr/>
                    <a:lstStyle/>
                    <a:p>
                      <a:r>
                        <a:rPr sz="1800" b="1">
                          <a:solidFill>
                            <a:schemeClr val="tx1">
                              <a:lumMod val="95000"/>
                              <a:lumOff val="5000"/>
                            </a:schemeClr>
                          </a:solidFill>
                          <a:latin typeface="DejaVu Sans"/>
                          <a:ea typeface="DejaVu Sans"/>
                          <a:cs typeface="DejaVu Sans"/>
                        </a:rPr>
                        <a:t>Member</a:t>
                      </a:r>
                    </a:p>
                  </a:txBody>
                  <a:tcPr marL="114300" marR="114300" marT="47625" marB="47625">
                    <a:solidFill>
                      <a:schemeClr val="bg1"/>
                    </a:solidFill>
                  </a:tcPr>
                </a:tc>
                <a:tc>
                  <a:txBody>
                    <a:bodyPr/>
                    <a:lstStyle/>
                    <a:p>
                      <a:r>
                        <a:rPr sz="1800" b="1">
                          <a:solidFill>
                            <a:schemeClr val="tx1">
                              <a:lumMod val="95000"/>
                              <a:lumOff val="5000"/>
                            </a:schemeClr>
                          </a:solidFill>
                          <a:latin typeface="DejaVu Sans"/>
                          <a:ea typeface="DejaVu Sans"/>
                          <a:cs typeface="DejaVu Sans"/>
                        </a:rPr>
                        <a:t>Work for the week</a:t>
                      </a:r>
                    </a:p>
                  </a:txBody>
                  <a:tcPr marL="114300" marR="114300" marT="47625" marB="47625">
                    <a:solidFill>
                      <a:schemeClr val="bg1"/>
                    </a:solidFill>
                  </a:tcPr>
                </a:tc>
                <a:tc>
                  <a:txBody>
                    <a:bodyPr/>
                    <a:lstStyle/>
                    <a:p>
                      <a:r>
                        <a:rPr sz="1800" b="1">
                          <a:solidFill>
                            <a:schemeClr val="tx1">
                              <a:lumMod val="95000"/>
                              <a:lumOff val="5000"/>
                            </a:schemeClr>
                          </a:solidFill>
                          <a:latin typeface="DejaVu Sans"/>
                          <a:ea typeface="DejaVu Sans"/>
                          <a:cs typeface="DejaVu Sans"/>
                        </a:rPr>
                        <a:t>Result to show</a:t>
                      </a:r>
                    </a:p>
                  </a:txBody>
                  <a:tcPr marL="114300" marR="114300" marT="47625" marB="47625">
                    <a:solidFill>
                      <a:schemeClr val="bg1"/>
                    </a:solidFill>
                  </a:tcPr>
                </a:tc>
              </a:tr>
              <a:tr h="742950">
                <a:tc>
                  <a:txBody>
                    <a:bodyPr/>
                    <a:lstStyle/>
                    <a:p>
                      <a:r>
                        <a:rPr sz="1800">
                          <a:solidFill>
                            <a:srgbClr val="000000"/>
                          </a:solidFill>
                          <a:latin typeface="DejaVu Sans"/>
                          <a:ea typeface="DejaVu Sans"/>
                          <a:cs typeface="DejaVu Sans"/>
                        </a:rPr>
                        <a:t>Athul</a:t>
                      </a:r>
                      <a:endParaRPr sz="1800">
                        <a:solidFill>
                          <a:srgbClr val="000000"/>
                        </a:solidFill>
                        <a:latin typeface="DejaVu Sans"/>
                        <a:ea typeface="DejaVu Sans"/>
                        <a:cs typeface="DejaVu Sans"/>
                      </a:endParaRPr>
                    </a:p>
                  </a:txBody>
                  <a:tcPr marL="114300" marR="114300" marT="47625" marB="47625">
                    <a:solidFill>
                      <a:srgbClr val="FFFFFF"/>
                    </a:solidFill>
                  </a:tcPr>
                </a:tc>
                <a:tc>
                  <a:txBody>
                    <a:bodyPr/>
                    <a:lstStyle/>
                    <a:p>
                      <a:r>
                        <a:rPr sz="1800">
                          <a:solidFill>
                            <a:srgbClr val="000000"/>
                          </a:solidFill>
                          <a:latin typeface="DejaVu Sans"/>
                          <a:ea typeface="DejaVu Sans"/>
                          <a:cs typeface="DejaVu Sans"/>
                        </a:rPr>
                        <a:t>Registration, login, logout and role permissions.</a:t>
                      </a:r>
                    </a:p>
                  </a:txBody>
                  <a:tcPr marL="114300" marR="114300" marT="47625" marB="47625">
                    <a:solidFill>
                      <a:srgbClr val="FFFFFF"/>
                    </a:solidFill>
                  </a:tcPr>
                </a:tc>
                <a:tc>
                  <a:txBody>
                    <a:bodyPr/>
                    <a:lstStyle/>
                    <a:p>
                      <a:r>
                        <a:rPr sz="1800">
                          <a:solidFill>
                            <a:srgbClr val="000000"/>
                          </a:solidFill>
                          <a:latin typeface="DejaVu Sans"/>
                          <a:ea typeface="DejaVu Sans"/>
                          <a:cs typeface="DejaVu Sans"/>
                        </a:rPr>
                        <a:t>Each role can access the correct pages.</a:t>
                      </a:r>
                    </a:p>
                  </a:txBody>
                  <a:tcPr marL="114300" marR="114300" marT="47625" marB="47625">
                    <a:solidFill>
                      <a:srgbClr val="FFFFFF"/>
                    </a:solidFill>
                  </a:tcPr>
                </a:tc>
              </a:tr>
              <a:tr h="742950">
                <a:tc>
                  <a:txBody>
                    <a:bodyPr/>
                    <a:lstStyle/>
                    <a:p>
                      <a:r>
                        <a:rPr sz="1800">
                          <a:solidFill>
                            <a:srgbClr val="000000"/>
                          </a:solidFill>
                          <a:latin typeface="DejaVu Sans"/>
                          <a:ea typeface="DejaVu Sans"/>
                          <a:cs typeface="DejaVu Sans"/>
                        </a:rPr>
                        <a:t>Arya</a:t>
                      </a:r>
                      <a:endParaRPr sz="1800">
                        <a:solidFill>
                          <a:srgbClr val="000000"/>
                        </a:solidFill>
                        <a:latin typeface="DejaVu Sans"/>
                        <a:ea typeface="DejaVu Sans"/>
                        <a:cs typeface="DejaVu Sans"/>
                      </a:endParaRPr>
                    </a:p>
                  </a:txBody>
                  <a:tcPr marL="114300" marR="114300" marT="47625" marB="47625">
                    <a:solidFill>
                      <a:srgbClr val="FFFFFF"/>
                    </a:solidFill>
                  </a:tcPr>
                </a:tc>
                <a:tc>
                  <a:txBody>
                    <a:bodyPr/>
                    <a:lstStyle/>
                    <a:p>
                      <a:r>
                        <a:rPr sz="1800">
                          <a:solidFill>
                            <a:srgbClr val="000000"/>
                          </a:solidFill>
                          <a:latin typeface="DejaVu Sans"/>
                          <a:ea typeface="DejaVu Sans"/>
                          <a:cs typeface="DejaVu Sans"/>
                        </a:rPr>
                        <a:t>Incident APIs, database fields and report validation.</a:t>
                      </a:r>
                    </a:p>
                  </a:txBody>
                  <a:tcPr marL="114300" marR="114300" marT="47625" marB="47625">
                    <a:solidFill>
                      <a:srgbClr val="FFFFFF"/>
                    </a:solidFill>
                  </a:tcPr>
                </a:tc>
                <a:tc>
                  <a:txBody>
                    <a:bodyPr/>
                    <a:lstStyle/>
                    <a:p>
                      <a:r>
                        <a:rPr sz="1800">
                          <a:solidFill>
                            <a:srgbClr val="000000"/>
                          </a:solidFill>
                          <a:latin typeface="DejaVu Sans"/>
                          <a:ea typeface="DejaVu Sans"/>
                          <a:cs typeface="DejaVu Sans"/>
                        </a:rPr>
                        <a:t>Save and retrieve a flood report.</a:t>
                      </a:r>
                    </a:p>
                  </a:txBody>
                  <a:tcPr marL="114300" marR="114300" marT="47625" marB="47625">
                    <a:solidFill>
                      <a:srgbClr val="FFFFFF"/>
                    </a:solidFill>
                  </a:tcPr>
                </a:tc>
              </a:tr>
              <a:tr h="742950">
                <a:tc>
                  <a:txBody>
                    <a:bodyPr/>
                    <a:lstStyle/>
                    <a:p>
                      <a:r>
                        <a:rPr sz="1800">
                          <a:solidFill>
                            <a:srgbClr val="000000"/>
                          </a:solidFill>
                          <a:latin typeface="DejaVu Sans"/>
                          <a:ea typeface="DejaVu Sans"/>
                          <a:cs typeface="DejaVu Sans"/>
                        </a:rPr>
                        <a:t>Maanaz</a:t>
                      </a:r>
                      <a:endParaRPr sz="1800">
                        <a:solidFill>
                          <a:srgbClr val="000000"/>
                        </a:solidFill>
                        <a:latin typeface="DejaVu Sans"/>
                        <a:ea typeface="DejaVu Sans"/>
                        <a:cs typeface="DejaVu Sans"/>
                      </a:endParaRPr>
                    </a:p>
                  </a:txBody>
                  <a:tcPr marL="114300" marR="114300" marT="47625" marB="47625">
                    <a:solidFill>
                      <a:srgbClr val="FFFFFF"/>
                    </a:solidFill>
                  </a:tcPr>
                </a:tc>
                <a:tc>
                  <a:txBody>
                    <a:bodyPr/>
                    <a:lstStyle/>
                    <a:p>
                      <a:r>
                        <a:rPr sz="1800">
                          <a:solidFill>
                            <a:srgbClr val="000000"/>
                          </a:solidFill>
                          <a:latin typeface="DejaVu Sans"/>
                          <a:ea typeface="DejaVu Sans"/>
                          <a:cs typeface="DejaVu Sans"/>
                        </a:rPr>
                        <a:t>Admin report list, review and team assignment.</a:t>
                      </a:r>
                    </a:p>
                  </a:txBody>
                  <a:tcPr marL="114300" marR="114300" marT="47625" marB="47625">
                    <a:solidFill>
                      <a:srgbClr val="FFFFFF"/>
                    </a:solidFill>
                  </a:tcPr>
                </a:tc>
                <a:tc>
                  <a:txBody>
                    <a:bodyPr/>
                    <a:lstStyle/>
                    <a:p>
                      <a:r>
                        <a:rPr sz="1800">
                          <a:solidFill>
                            <a:srgbClr val="000000"/>
                          </a:solidFill>
                          <a:latin typeface="DejaVu Sans"/>
                          <a:ea typeface="DejaVu Sans"/>
                          <a:cs typeface="DejaVu Sans"/>
                        </a:rPr>
                        <a:t>Assign a report to a response team.</a:t>
                      </a:r>
                    </a:p>
                  </a:txBody>
                  <a:tcPr marL="114300" marR="114300" marT="47625" marB="47625">
                    <a:solidFill>
                      <a:srgbClr val="FFFFFF"/>
                    </a:solidFill>
                  </a:tcPr>
                </a:tc>
              </a:tr>
              <a:tr h="742950">
                <a:tc>
                  <a:txBody>
                    <a:bodyPr/>
                    <a:lstStyle/>
                    <a:p>
                      <a:r>
                        <a:rPr sz="1800">
                          <a:solidFill>
                            <a:srgbClr val="000000"/>
                          </a:solidFill>
                          <a:latin typeface="DejaVu Sans"/>
                          <a:ea typeface="DejaVu Sans"/>
                          <a:cs typeface="DejaVu Sans"/>
                        </a:rPr>
                        <a:t>Vidya</a:t>
                      </a:r>
                      <a:endParaRPr sz="1800">
                        <a:solidFill>
                          <a:srgbClr val="000000"/>
                        </a:solidFill>
                        <a:latin typeface="DejaVu Sans"/>
                        <a:ea typeface="DejaVu Sans"/>
                        <a:cs typeface="DejaVu Sans"/>
                      </a:endParaRPr>
                    </a:p>
                  </a:txBody>
                  <a:tcPr marL="114300" marR="114300" marT="47625" marB="47625">
                    <a:solidFill>
                      <a:srgbClr val="FFFFFF"/>
                    </a:solidFill>
                  </a:tcPr>
                </a:tc>
                <a:tc>
                  <a:txBody>
                    <a:bodyPr/>
                    <a:lstStyle/>
                    <a:p>
                      <a:r>
                        <a:rPr sz="1800">
                          <a:solidFill>
                            <a:srgbClr val="000000"/>
                          </a:solidFill>
                          <a:latin typeface="DejaVu Sans"/>
                          <a:ea typeface="DejaVu Sans"/>
                          <a:cs typeface="DejaVu Sans"/>
                        </a:rPr>
                        <a:t>Citizen report form, My Reports and status page.</a:t>
                      </a:r>
                    </a:p>
                  </a:txBody>
                  <a:tcPr marL="114300" marR="114300" marT="47625" marB="47625">
                    <a:solidFill>
                      <a:srgbClr val="FFFFFF"/>
                    </a:solidFill>
                  </a:tcPr>
                </a:tc>
                <a:tc>
                  <a:txBody>
                    <a:bodyPr/>
                    <a:lstStyle/>
                    <a:p>
                      <a:r>
                        <a:rPr sz="1800">
                          <a:solidFill>
                            <a:srgbClr val="000000"/>
                          </a:solidFill>
                          <a:latin typeface="DejaVu Sans"/>
                          <a:ea typeface="DejaVu Sans"/>
                          <a:cs typeface="DejaVu Sans"/>
                        </a:rPr>
                        <a:t>Submit a report and see its status.</a:t>
                      </a:r>
                    </a:p>
                  </a:txBody>
                  <a:tcPr marL="114300" marR="114300" marT="47625" marB="47625">
                    <a:solidFill>
                      <a:srgbClr val="FFFFFF"/>
                    </a:solidFill>
                  </a:tcPr>
                </a:tc>
              </a:tr>
            </a:tbl>
          </a:graphicData>
        </a:graphic>
      </p:graphicFrame>
      <p:sp>
        <p:nvSpPr>
          <p:cNvPr id="4" name="Rectangle 3">
            <a:extLst xmlns:a="http://schemas.openxmlformats.org/drawingml/2006/main">
              <a:ext uri="{FF2B5EF4-FFF2-40B4-BE49-F238E27FC236}">
                <a16:creationId xmlns:a16="http://schemas.microsoft.com/office/drawing/2014/main" id="{5F2DA8B8-7ABC-4ED8-BEB9-7DC2EFD2B9F9}"/>
              </a:ext>
            </a:extLst>
          </p:cNvPr>
          <p:cNvSpPr>
            <a:spLocks xmlns:a="http://schemas.openxmlformats.org/drawingml/2006/main" noGrp="1"/>
          </p:cNvSpPr>
          <p:nvPr/>
        </p:nvSpPr>
        <p:spPr>
          <a:xfrm xmlns:a="http://schemas.openxmlformats.org/drawingml/2006/main">
            <a:off x="666750" y="562927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0000"/>
                </a:solidFill>
                <a:latin typeface="DejaVu Sans"/>
                <a:ea typeface="DejaVu Sans"/>
                <a:cs typeface="DejaVu Sans"/>
              </a:defRPr>
            </a:pPr>
            <a:r>
              <a:rPr sz="1800" b="1">
                <a:solidFill>
                  <a:srgbClr val="000000"/>
                </a:solidFill>
                <a:latin typeface="DejaVu Sans"/>
                <a:ea typeface="DejaVu Sans"/>
                <a:cs typeface="DejaVu Sans"/>
              </a:rPr>
              <a:t>V1 demo: a citizen reports a flood and the admin assigns a team.</a:t>
            </a:r>
          </a:p>
        </p:txBody>
      </p:sp>
    </p:spTree>
    <p:extLst>
      <p:ext uri="{BB962C8B-B14F-4D97-AF65-F5344CB8AC3E}">
        <p14:creationId xmlns:p14="http://schemas.microsoft.com/office/powerpoint/2010/main" val="69354615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Week 1 / V1: Athul">
            <a:extLst xmlns:a="http://schemas.openxmlformats.org/drawingml/2006/main">
              <a:ext uri="{FF2B5EF4-FFF2-40B4-BE49-F238E27FC236}">
                <a16:creationId xmlns:a16="http://schemas.microsoft.com/office/drawing/2014/main" id="{F6A23DD7-486C-4AF6-B0D4-9D308F4AD36A}"/>
              </a:ext>
            </a:extLst>
          </p:cNvPr>
          <p:cNvSpPr>
            <a:spLocks xmlns:a="http://schemas.openxmlformats.org/drawingml/2006/main" noGrp="1"/>
          </p:cNvSpPr>
          <p:nvPr/>
        </p:nvSpPr>
        <p:spPr>
          <a:xfrm xmlns:a="http://schemas.openxmlformats.org/drawingml/2006/main">
            <a:off x="628650" y="457200"/>
            <a:ext cx="10934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11111"/>
                </a:solidFill>
                <a:latin typeface="DejaVu Sans"/>
                <a:ea typeface="DejaVu Sans"/>
                <a:cs typeface="DejaVu Sans"/>
              </a:defRPr>
            </a:pPr>
            <a:r>
              <a:rPr sz="3300" b="1">
                <a:solidFill>
                  <a:srgbClr val="111111"/>
                </a:solidFill>
                <a:latin typeface="DejaVu Sans"/>
                <a:ea typeface="DejaVu Sans"/>
                <a:cs typeface="DejaVu Sans"/>
              </a:rPr>
              <a:t>Week 1 / V1: Athul</a:t>
            </a:r>
          </a:p>
        </p:txBody>
      </p:sp>
      <p:sp>
        <p:nvSpPr>
          <p:cNvPr id="2" name="Registration, login, logout and role permissions.">
            <a:extLst xmlns:a="http://schemas.openxmlformats.org/drawingml/2006/main">
              <a:ext uri="{FF2B5EF4-FFF2-40B4-BE49-F238E27FC236}">
                <a16:creationId xmlns:a16="http://schemas.microsoft.com/office/drawing/2014/main" id="{31073AFE-AE4A-43A0-8D43-C5685A75A14C}"/>
              </a:ext>
            </a:extLst>
          </p:cNvPr>
          <p:cNvSpPr>
            <a:spLocks xmlns:a="http://schemas.openxmlformats.org/drawingml/2006/main" noGrp="1"/>
          </p:cNvSpPr>
          <p:nvPr/>
        </p:nvSpPr>
        <p:spPr>
          <a:xfrm xmlns:a="http://schemas.openxmlformats.org/drawingml/2006/main">
            <a:off x="628650" y="13049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111111"/>
                </a:solidFill>
                <a:latin typeface="DejaVu Sans"/>
                <a:ea typeface="DejaVu Sans"/>
                <a:cs typeface="DejaVu Sans"/>
              </a:defRPr>
            </a:pPr>
            <a:r>
              <a:rPr sz="1800" b="0">
                <a:solidFill>
                  <a:srgbClr val="111111"/>
                </a:solidFill>
                <a:latin typeface="DejaVu Sans"/>
                <a:ea typeface="DejaVu Sans"/>
                <a:cs typeface="DejaVu Sans"/>
              </a:rPr>
              <a:t>Registration, login, logout and role permissions.</a:t>
            </a:r>
          </a:p>
        </p:txBody>
      </p:sp>
      <p:graphicFrame>
        <p:nvGraphicFramePr>
          <p:cNvPr id="9" name=""/>
          <p:cNvGraphicFramePr/>
          <p:nvPr/>
        </p:nvGraphicFramePr>
        <p:xfrm>
          <a:off xmlns:a="http://schemas.openxmlformats.org/drawingml/2006/main" x="628650" y="1771650"/>
          <a:ext xmlns:a="http://schemas.openxmlformats.org/drawingml/2006/main" cx="10934700" cy="3771900"/>
        </p:xfrm>
        <a:graphic xmlns:a="http://schemas.openxmlformats.org/drawingml/2006/main">
          <a:graphicData uri="http://schemas.openxmlformats.org/drawingml/2006/table">
            <a:tbl>
              <a:tblPr firstRow="1" bandRow="0"/>
              <a:tblGrid>
                <a:gridCol w="7067550"/>
                <a:gridCol w="3867150"/>
              </a:tblGrid>
              <a:tr h="419100">
                <a:tc>
                  <a:txBody>
                    <a:bodyPr/>
                    <a:lstStyle/>
                    <a:p>
                      <a:r>
                        <a:rPr sz="1800" b="1">
                          <a:solidFill>
                            <a:srgbClr val="111111"/>
                          </a:solidFill>
                          <a:latin typeface="DejaVu Sans"/>
                          <a:ea typeface="DejaVu Sans"/>
                          <a:cs typeface="DejaVu Sans"/>
                        </a:rPr>
                        <a:t>Project file</a:t>
                      </a:r>
                    </a:p>
                  </a:txBody>
                  <a:tcPr marL="114300" marR="114300" marT="47625" marB="47625" anchor="ctr">
                    <a:solidFill>
                      <a:srgbClr val="FFFFFF"/>
                    </a:solidFill>
                  </a:tcPr>
                </a:tc>
                <a:tc>
                  <a:txBody>
                    <a:bodyPr/>
                    <a:lstStyle/>
                    <a:p>
                      <a:r>
                        <a:rPr sz="1800" b="1">
                          <a:solidFill>
                            <a:srgbClr val="111111"/>
                          </a:solidFill>
                          <a:latin typeface="DejaVu Sans"/>
                          <a:ea typeface="DejaVu Sans"/>
                          <a:cs typeface="DejaVu Sans"/>
                        </a:rPr>
                        <a:t>Feature to reference</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backend/routers/auth.py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Account endpoints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backend/services/auth_service.py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Tokens / account responses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backend/schemas/auth_schema.py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Register / login validation</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backend/utils/security.py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Password hashing</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backend/utils/jwt.py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Authenticated-user checks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backend/utils/permissions.py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Role and ownership gates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frontend/src/components/shared/Login.jsx</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Registration / login screens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frontend/src/App.jsx</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Session / role navigation</a:t>
                      </a:r>
                    </a:p>
                  </a:txBody>
                  <a:tcPr marL="114300" marR="114300" marT="47625" marB="47625" anchor="ctr">
                    <a:solidFill>
                      <a:srgbClr val="FFFFFF"/>
                    </a:solidFill>
                  </a:tcPr>
                </a:tc>
              </a:tr>
            </a:tbl>
          </a:graphicData>
        </a:graphic>
      </p:graphicFrame>
      <p:sp>
        <p:nvSpPr>
          <p:cNvPr id="4" name="Demo: Register, sign in as each role, show allowed">
            <a:extLst xmlns:a="http://schemas.openxmlformats.org/drawingml/2006/main">
              <a:ext uri="{FF2B5EF4-FFF2-40B4-BE49-F238E27FC236}">
                <a16:creationId xmlns:a16="http://schemas.microsoft.com/office/drawing/2014/main" id="{E6F423B8-4F01-4CCA-9F62-B1BBE97C4C6C}"/>
              </a:ext>
            </a:extLst>
          </p:cNvPr>
          <p:cNvSpPr>
            <a:spLocks xmlns:a="http://schemas.openxmlformats.org/drawingml/2006/main" noGrp="1"/>
          </p:cNvSpPr>
          <p:nvPr/>
        </p:nvSpPr>
        <p:spPr>
          <a:xfrm xmlns:a="http://schemas.openxmlformats.org/drawingml/2006/main">
            <a:off x="666750" y="57340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111111"/>
                </a:solidFill>
                <a:latin typeface="DejaVu Sans"/>
                <a:ea typeface="DejaVu Sans"/>
                <a:cs typeface="DejaVu Sans"/>
              </a:defRPr>
            </a:pPr>
            <a:r>
              <a:rPr sz="1725" b="1">
                <a:solidFill>
                  <a:srgbClr val="111111"/>
                </a:solidFill>
                <a:latin typeface="DejaVu Sans"/>
                <a:ea typeface="DejaVu Sans"/>
                <a:cs typeface="DejaVu Sans"/>
              </a:rPr>
              <a:t>Demo: Register, sign in as each role, show allowed pages, then sign out.</a:t>
            </a:r>
          </a:p>
        </p:txBody>
      </p:sp>
      <p:sp>
        <p:nvSpPr>
          <p:cNvPr id="5" name="* Shared file: coordinate your feature with the ot">
            <a:extLst xmlns:a="http://schemas.openxmlformats.org/drawingml/2006/main">
              <a:ext uri="{FF2B5EF4-FFF2-40B4-BE49-F238E27FC236}">
                <a16:creationId xmlns:a16="http://schemas.microsoft.com/office/drawing/2014/main" id="{BE088585-3C48-4F8F-8961-15C5645E9117}"/>
              </a:ext>
            </a:extLst>
          </p:cNvPr>
          <p:cNvSpPr>
            <a:spLocks xmlns:a="http://schemas.openxmlformats.org/drawingml/2006/main" noGrp="1"/>
          </p:cNvSpPr>
          <p:nvPr/>
        </p:nvSpPr>
        <p:spPr>
          <a:xfrm xmlns:a="http://schemas.openxmlformats.org/drawingml/2006/main">
            <a:off x="666750" y="619125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111111"/>
                </a:solidFill>
                <a:latin typeface="DejaVu Sans"/>
                <a:ea typeface="DejaVu Sans"/>
                <a:cs typeface="DejaVu Sans"/>
              </a:defRPr>
            </a:pPr>
            <a:r>
              <a:rPr sz="1350" b="0">
                <a:solidFill>
                  <a:srgbClr val="111111"/>
                </a:solidFill>
                <a:latin typeface="DejaVu Sans"/>
                <a:ea typeface="DejaVu Sans"/>
                <a:cs typeface="DejaVu Sans"/>
              </a:rPr>
              <a:t>* Shared file: coordinate your feature with the other members.</a:t>
            </a:r>
          </a:p>
        </p:txBody>
      </p:sp>
      <p:sp>
        <p:nvSpPr>
          <p:cNvPr id="6" name="05">
            <a:extLst xmlns:a="http://schemas.openxmlformats.org/drawingml/2006/main">
              <a:ext uri="{FF2B5EF4-FFF2-40B4-BE49-F238E27FC236}">
                <a16:creationId xmlns:a16="http://schemas.microsoft.com/office/drawing/2014/main" id="{5BCA77E3-FE69-422E-ACD5-244C7EB6670B}"/>
              </a:ext>
            </a:extLst>
          </p:cNvPr>
          <p:cNvSpPr>
            <a:spLocks xmlns:a="http://schemas.openxmlformats.org/drawingml/2006/main" noGrp="1"/>
          </p:cNvSpPr>
          <p:nvPr/>
        </p:nvSpPr>
        <p:spPr>
          <a:xfrm xmlns:a="http://schemas.openxmlformats.org/drawingml/2006/main">
            <a:off x="110299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111111"/>
                </a:solidFill>
                <a:latin typeface="DejaVu Sans"/>
                <a:ea typeface="DejaVu Sans"/>
                <a:cs typeface="DejaVu Sans"/>
              </a:defRPr>
            </a:pPr>
            <a:r>
              <a:rPr sz="1275" b="0">
                <a:solidFill>
                  <a:srgbClr val="111111"/>
                </a:solidFill>
                <a:latin typeface="DejaVu Sans"/>
                <a:ea typeface="DejaVu Sans"/>
                <a:cs typeface="DejaVu Sans"/>
              </a:rPr>
              <a:t>05</a:t>
            </a:r>
          </a:p>
        </p:txBody>
      </p:sp>
    </p:spTree>
    <p:extLst>
      <p:ext uri="{BB962C8B-B14F-4D97-AF65-F5344CB8AC3E}">
        <p14:creationId xmlns:p14="http://schemas.microsoft.com/office/powerpoint/2010/main" val="181969610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Week 1 / V1: Arya">
            <a:extLst xmlns:a="http://schemas.openxmlformats.org/drawingml/2006/main">
              <a:ext uri="{FF2B5EF4-FFF2-40B4-BE49-F238E27FC236}">
                <a16:creationId xmlns:a16="http://schemas.microsoft.com/office/drawing/2014/main" id="{328C81E4-6E72-4C17-A498-056FB31471A3}"/>
              </a:ext>
            </a:extLst>
          </p:cNvPr>
          <p:cNvSpPr>
            <a:spLocks xmlns:a="http://schemas.openxmlformats.org/drawingml/2006/main" noGrp="1"/>
          </p:cNvSpPr>
          <p:nvPr/>
        </p:nvSpPr>
        <p:spPr>
          <a:xfrm xmlns:a="http://schemas.openxmlformats.org/drawingml/2006/main">
            <a:off x="628650" y="457200"/>
            <a:ext cx="10934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11111"/>
                </a:solidFill>
                <a:latin typeface="DejaVu Sans"/>
                <a:ea typeface="DejaVu Sans"/>
                <a:cs typeface="DejaVu Sans"/>
              </a:defRPr>
            </a:pPr>
            <a:r>
              <a:rPr sz="3300" b="1">
                <a:solidFill>
                  <a:srgbClr val="111111"/>
                </a:solidFill>
                <a:latin typeface="DejaVu Sans"/>
                <a:ea typeface="DejaVu Sans"/>
                <a:cs typeface="DejaVu Sans"/>
              </a:rPr>
              <a:t>Week 1 / V1: Arya</a:t>
            </a:r>
          </a:p>
        </p:txBody>
      </p:sp>
      <p:sp>
        <p:nvSpPr>
          <p:cNvPr id="2" name="Incident APIs, database fields and report validati">
            <a:extLst xmlns:a="http://schemas.openxmlformats.org/drawingml/2006/main">
              <a:ext uri="{FF2B5EF4-FFF2-40B4-BE49-F238E27FC236}">
                <a16:creationId xmlns:a16="http://schemas.microsoft.com/office/drawing/2014/main" id="{BF50CBFD-C03E-46FD-92B3-E3448CE43BC3}"/>
              </a:ext>
            </a:extLst>
          </p:cNvPr>
          <p:cNvSpPr>
            <a:spLocks xmlns:a="http://schemas.openxmlformats.org/drawingml/2006/main" noGrp="1"/>
          </p:cNvSpPr>
          <p:nvPr/>
        </p:nvSpPr>
        <p:spPr>
          <a:xfrm xmlns:a="http://schemas.openxmlformats.org/drawingml/2006/main">
            <a:off x="628650" y="13049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111111"/>
                </a:solidFill>
                <a:latin typeface="DejaVu Sans"/>
                <a:ea typeface="DejaVu Sans"/>
                <a:cs typeface="DejaVu Sans"/>
              </a:defRPr>
            </a:pPr>
            <a:r>
              <a:rPr sz="1800" b="0">
                <a:solidFill>
                  <a:srgbClr val="111111"/>
                </a:solidFill>
                <a:latin typeface="DejaVu Sans"/>
                <a:ea typeface="DejaVu Sans"/>
                <a:cs typeface="DejaVu Sans"/>
              </a:rPr>
              <a:t>Incident APIs, database fields and report validation.</a:t>
            </a:r>
          </a:p>
        </p:txBody>
      </p:sp>
      <p:graphicFrame>
        <p:nvGraphicFramePr>
          <p:cNvPr id="9" name=""/>
          <p:cNvGraphicFramePr/>
          <p:nvPr/>
        </p:nvGraphicFramePr>
        <p:xfrm>
          <a:off xmlns:a="http://schemas.openxmlformats.org/drawingml/2006/main" x="628650" y="1771650"/>
          <a:ext xmlns:a="http://schemas.openxmlformats.org/drawingml/2006/main" cx="10934700" cy="3771900"/>
        </p:xfrm>
        <a:graphic xmlns:a="http://schemas.openxmlformats.org/drawingml/2006/main">
          <a:graphicData uri="http://schemas.openxmlformats.org/drawingml/2006/table">
            <a:tbl>
              <a:tblPr firstRow="1" bandRow="0"/>
              <a:tblGrid>
                <a:gridCol w="7067550"/>
                <a:gridCol w="3867150"/>
              </a:tblGrid>
              <a:tr h="419100">
                <a:tc>
                  <a:txBody>
                    <a:bodyPr/>
                    <a:lstStyle/>
                    <a:p>
                      <a:r>
                        <a:rPr sz="1800" b="1">
                          <a:solidFill>
                            <a:srgbClr val="111111"/>
                          </a:solidFill>
                          <a:latin typeface="DejaVu Sans"/>
                          <a:ea typeface="DejaVu Sans"/>
                          <a:cs typeface="DejaVu Sans"/>
                        </a:rPr>
                        <a:t>Project file</a:t>
                      </a:r>
                    </a:p>
                  </a:txBody>
                  <a:tcPr marL="114300" marR="114300" marT="47625" marB="47625" anchor="ctr">
                    <a:solidFill>
                      <a:srgbClr val="FFFFFF"/>
                    </a:solidFill>
                  </a:tcPr>
                </a:tc>
                <a:tc>
                  <a:txBody>
                    <a:bodyPr/>
                    <a:lstStyle/>
                    <a:p>
                      <a:r>
                        <a:rPr sz="1800" b="1">
                          <a:solidFill>
                            <a:srgbClr val="111111"/>
                          </a:solidFill>
                          <a:latin typeface="DejaVu Sans"/>
                          <a:ea typeface="DejaVu Sans"/>
                          <a:cs typeface="DejaVu Sans"/>
                        </a:rPr>
                        <a:t>Feature to reference</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backend/routers/incidents.py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Create / read / report history</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backend/schemas/incident_schema.py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IncidentCreate validation</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backend/models/incident.py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Report / analysis / history</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backend/services/incident_service.py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Scoped report responses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backend/database/connection.py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Database sessions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backend/utils/validators.py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Lookup / serialization</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backend/main.py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Router / startup integration</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backend/tests/test_workflows.py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Ownership / validation checks</a:t>
                      </a:r>
                    </a:p>
                  </a:txBody>
                  <a:tcPr marL="114300" marR="114300" marT="47625" marB="47625" anchor="ctr">
                    <a:solidFill>
                      <a:srgbClr val="FFFFFF"/>
                    </a:solidFill>
                  </a:tcPr>
                </a:tc>
              </a:tr>
            </a:tbl>
          </a:graphicData>
        </a:graphic>
      </p:graphicFrame>
      <p:sp>
        <p:nvSpPr>
          <p:cNvPr id="4" name="Demo: Save and retrieve a flood report; reject inv">
            <a:extLst xmlns:a="http://schemas.openxmlformats.org/drawingml/2006/main">
              <a:ext uri="{FF2B5EF4-FFF2-40B4-BE49-F238E27FC236}">
                <a16:creationId xmlns:a16="http://schemas.microsoft.com/office/drawing/2014/main" id="{D16CBEEE-F7EF-41BD-8CBB-43A37C2E60D6}"/>
              </a:ext>
            </a:extLst>
          </p:cNvPr>
          <p:cNvSpPr>
            <a:spLocks xmlns:a="http://schemas.openxmlformats.org/drawingml/2006/main" noGrp="1"/>
          </p:cNvSpPr>
          <p:nvPr/>
        </p:nvSpPr>
        <p:spPr>
          <a:xfrm xmlns:a="http://schemas.openxmlformats.org/drawingml/2006/main">
            <a:off x="666750" y="57340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111111"/>
                </a:solidFill>
                <a:latin typeface="DejaVu Sans"/>
                <a:ea typeface="DejaVu Sans"/>
                <a:cs typeface="DejaVu Sans"/>
              </a:defRPr>
            </a:pPr>
            <a:r>
              <a:rPr sz="1725" b="1">
                <a:solidFill>
                  <a:srgbClr val="111111"/>
                </a:solidFill>
                <a:latin typeface="DejaVu Sans"/>
                <a:ea typeface="DejaVu Sans"/>
                <a:cs typeface="DejaVu Sans"/>
              </a:rPr>
              <a:t>Demo: Save and retrieve a flood report; reject invalid facts and cross-user access.</a:t>
            </a:r>
          </a:p>
        </p:txBody>
      </p:sp>
      <p:sp>
        <p:nvSpPr>
          <p:cNvPr id="5" name="* Shared file: coordinate your feature with the ot">
            <a:extLst xmlns:a="http://schemas.openxmlformats.org/drawingml/2006/main">
              <a:ext uri="{FF2B5EF4-FFF2-40B4-BE49-F238E27FC236}">
                <a16:creationId xmlns:a16="http://schemas.microsoft.com/office/drawing/2014/main" id="{E348AF25-4ADF-4FC6-991A-DC9771AC0689}"/>
              </a:ext>
            </a:extLst>
          </p:cNvPr>
          <p:cNvSpPr>
            <a:spLocks xmlns:a="http://schemas.openxmlformats.org/drawingml/2006/main" noGrp="1"/>
          </p:cNvSpPr>
          <p:nvPr/>
        </p:nvSpPr>
        <p:spPr>
          <a:xfrm xmlns:a="http://schemas.openxmlformats.org/drawingml/2006/main">
            <a:off x="666750" y="619125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111111"/>
                </a:solidFill>
                <a:latin typeface="DejaVu Sans"/>
                <a:ea typeface="DejaVu Sans"/>
                <a:cs typeface="DejaVu Sans"/>
              </a:defRPr>
            </a:pPr>
            <a:r>
              <a:rPr sz="1350" b="0">
                <a:solidFill>
                  <a:srgbClr val="111111"/>
                </a:solidFill>
                <a:latin typeface="DejaVu Sans"/>
                <a:ea typeface="DejaVu Sans"/>
                <a:cs typeface="DejaVu Sans"/>
              </a:rPr>
              <a:t>* Shared file: coordinate your feature with the other members.</a:t>
            </a:r>
          </a:p>
        </p:txBody>
      </p:sp>
      <p:sp>
        <p:nvSpPr>
          <p:cNvPr id="6" name="06">
            <a:extLst xmlns:a="http://schemas.openxmlformats.org/drawingml/2006/main">
              <a:ext uri="{FF2B5EF4-FFF2-40B4-BE49-F238E27FC236}">
                <a16:creationId xmlns:a16="http://schemas.microsoft.com/office/drawing/2014/main" id="{2AAF5572-1D41-4940-92D7-0B5BE7E2E54C}"/>
              </a:ext>
            </a:extLst>
          </p:cNvPr>
          <p:cNvSpPr>
            <a:spLocks xmlns:a="http://schemas.openxmlformats.org/drawingml/2006/main" noGrp="1"/>
          </p:cNvSpPr>
          <p:nvPr/>
        </p:nvSpPr>
        <p:spPr>
          <a:xfrm xmlns:a="http://schemas.openxmlformats.org/drawingml/2006/main">
            <a:off x="110299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111111"/>
                </a:solidFill>
                <a:latin typeface="DejaVu Sans"/>
                <a:ea typeface="DejaVu Sans"/>
                <a:cs typeface="DejaVu Sans"/>
              </a:defRPr>
            </a:pPr>
            <a:r>
              <a:rPr sz="1275" b="0">
                <a:solidFill>
                  <a:srgbClr val="111111"/>
                </a:solidFill>
                <a:latin typeface="DejaVu Sans"/>
                <a:ea typeface="DejaVu Sans"/>
                <a:cs typeface="DejaVu Sans"/>
              </a:rPr>
              <a:t>06</a:t>
            </a:r>
          </a:p>
        </p:txBody>
      </p:sp>
    </p:spTree>
    <p:extLst>
      <p:ext uri="{BB962C8B-B14F-4D97-AF65-F5344CB8AC3E}">
        <p14:creationId xmlns:p14="http://schemas.microsoft.com/office/powerpoint/2010/main" val="124575526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Week 1 / V1: Maanaz">
            <a:extLst xmlns:a="http://schemas.openxmlformats.org/drawingml/2006/main">
              <a:ext uri="{FF2B5EF4-FFF2-40B4-BE49-F238E27FC236}">
                <a16:creationId xmlns:a16="http://schemas.microsoft.com/office/drawing/2014/main" id="{D6176E16-C656-40E6-813C-727756607887}"/>
              </a:ext>
            </a:extLst>
          </p:cNvPr>
          <p:cNvSpPr>
            <a:spLocks xmlns:a="http://schemas.openxmlformats.org/drawingml/2006/main" noGrp="1"/>
          </p:cNvSpPr>
          <p:nvPr/>
        </p:nvSpPr>
        <p:spPr>
          <a:xfrm xmlns:a="http://schemas.openxmlformats.org/drawingml/2006/main">
            <a:off x="628650" y="457200"/>
            <a:ext cx="10934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11111"/>
                </a:solidFill>
                <a:latin typeface="DejaVu Sans"/>
                <a:ea typeface="DejaVu Sans"/>
                <a:cs typeface="DejaVu Sans"/>
              </a:defRPr>
            </a:pPr>
            <a:r>
              <a:rPr sz="3300" b="1">
                <a:solidFill>
                  <a:srgbClr val="111111"/>
                </a:solidFill>
                <a:latin typeface="DejaVu Sans"/>
                <a:ea typeface="DejaVu Sans"/>
                <a:cs typeface="DejaVu Sans"/>
              </a:rPr>
              <a:t>Week 1 / V1: Maanaz</a:t>
            </a:r>
          </a:p>
        </p:txBody>
      </p:sp>
      <p:sp>
        <p:nvSpPr>
          <p:cNvPr id="2" name="Admin report list, review and team assignment.">
            <a:extLst xmlns:a="http://schemas.openxmlformats.org/drawingml/2006/main">
              <a:ext uri="{FF2B5EF4-FFF2-40B4-BE49-F238E27FC236}">
                <a16:creationId xmlns:a16="http://schemas.microsoft.com/office/drawing/2014/main" id="{107AF74B-D9CF-4DA2-9B85-263B38EA5592}"/>
              </a:ext>
            </a:extLst>
          </p:cNvPr>
          <p:cNvSpPr>
            <a:spLocks xmlns:a="http://schemas.openxmlformats.org/drawingml/2006/main" noGrp="1"/>
          </p:cNvSpPr>
          <p:nvPr/>
        </p:nvSpPr>
        <p:spPr>
          <a:xfrm xmlns:a="http://schemas.openxmlformats.org/drawingml/2006/main">
            <a:off x="628650" y="13049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111111"/>
                </a:solidFill>
                <a:latin typeface="DejaVu Sans"/>
                <a:ea typeface="DejaVu Sans"/>
                <a:cs typeface="DejaVu Sans"/>
              </a:defRPr>
            </a:pPr>
            <a:r>
              <a:rPr sz="1800" b="0">
                <a:solidFill>
                  <a:srgbClr val="111111"/>
                </a:solidFill>
                <a:latin typeface="DejaVu Sans"/>
                <a:ea typeface="DejaVu Sans"/>
                <a:cs typeface="DejaVu Sans"/>
              </a:rPr>
              <a:t>Admin report list, review and team assignment.</a:t>
            </a:r>
          </a:p>
        </p:txBody>
      </p:sp>
      <p:graphicFrame>
        <p:nvGraphicFramePr>
          <p:cNvPr id="9" name=""/>
          <p:cNvGraphicFramePr/>
          <p:nvPr/>
        </p:nvGraphicFramePr>
        <p:xfrm>
          <a:off xmlns:a="http://schemas.openxmlformats.org/drawingml/2006/main" x="628650" y="1771650"/>
          <a:ext xmlns:a="http://schemas.openxmlformats.org/drawingml/2006/main" cx="10934700" cy="3771900"/>
        </p:xfrm>
        <a:graphic xmlns:a="http://schemas.openxmlformats.org/drawingml/2006/main">
          <a:graphicData uri="http://schemas.openxmlformats.org/drawingml/2006/table">
            <a:tbl>
              <a:tblPr firstRow="1" bandRow="0"/>
              <a:tblGrid>
                <a:gridCol w="7067550"/>
                <a:gridCol w="3867150"/>
              </a:tblGrid>
              <a:tr h="419100">
                <a:tc>
                  <a:txBody>
                    <a:bodyPr/>
                    <a:lstStyle/>
                    <a:p>
                      <a:r>
                        <a:rPr sz="1800" b="1">
                          <a:solidFill>
                            <a:srgbClr val="111111"/>
                          </a:solidFill>
                          <a:latin typeface="DejaVu Sans"/>
                          <a:ea typeface="DejaVu Sans"/>
                          <a:cs typeface="DejaVu Sans"/>
                        </a:rPr>
                        <a:t>Project file</a:t>
                      </a:r>
                    </a:p>
                  </a:txBody>
                  <a:tcPr marL="114300" marR="114300" marT="47625" marB="47625" anchor="ctr">
                    <a:solidFill>
                      <a:srgbClr val="FFFFFF"/>
                    </a:solidFill>
                  </a:tcPr>
                </a:tc>
                <a:tc>
                  <a:txBody>
                    <a:bodyPr/>
                    <a:lstStyle/>
                    <a:p>
                      <a:r>
                        <a:rPr sz="1800" b="1">
                          <a:solidFill>
                            <a:srgbClr val="111111"/>
                          </a:solidFill>
                          <a:latin typeface="DejaVu Sans"/>
                          <a:ea typeface="DejaVu Sans"/>
                          <a:cs typeface="DejaVu Sans"/>
                        </a:rPr>
                        <a:t>Feature to reference</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frontend/src/pages/admin/IncidentQueue.jsx</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Incoming admin reports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frontend/src/components/shared/IncidentListView.jsx</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Admin queue / filters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frontend/src/components/shared/IncidentDetail.jsx</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Review / assignment controls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backend/routers/incidents.py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Admin list / review</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backend/routers/teams.py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Available teams / assignment</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backend/services/team_service.py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Assignment / availability</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backend/schemas/team_schema.py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AssignTeam request</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backend/services/incident_service.py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Saved assignment status</a:t>
                      </a:r>
                    </a:p>
                  </a:txBody>
                  <a:tcPr marL="114300" marR="114300" marT="47625" marB="47625" anchor="ctr">
                    <a:solidFill>
                      <a:srgbClr val="FFFFFF"/>
                    </a:solidFill>
                  </a:tcPr>
                </a:tc>
              </a:tr>
            </a:tbl>
          </a:graphicData>
        </a:graphic>
      </p:graphicFrame>
      <p:sp>
        <p:nvSpPr>
          <p:cNvPr id="4" name="Demo: Review a report, verify it and assign an ava">
            <a:extLst xmlns:a="http://schemas.openxmlformats.org/drawingml/2006/main">
              <a:ext uri="{FF2B5EF4-FFF2-40B4-BE49-F238E27FC236}">
                <a16:creationId xmlns:a16="http://schemas.microsoft.com/office/drawing/2014/main" id="{46D5F683-6DFE-4A78-B3BC-5A2AD4937CF7}"/>
              </a:ext>
            </a:extLst>
          </p:cNvPr>
          <p:cNvSpPr>
            <a:spLocks xmlns:a="http://schemas.openxmlformats.org/drawingml/2006/main" noGrp="1"/>
          </p:cNvSpPr>
          <p:nvPr/>
        </p:nvSpPr>
        <p:spPr>
          <a:xfrm xmlns:a="http://schemas.openxmlformats.org/drawingml/2006/main">
            <a:off x="666750" y="57340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111111"/>
                </a:solidFill>
                <a:latin typeface="DejaVu Sans"/>
                <a:ea typeface="DejaVu Sans"/>
                <a:cs typeface="DejaVu Sans"/>
              </a:defRPr>
            </a:pPr>
            <a:r>
              <a:rPr sz="1725" b="1">
                <a:solidFill>
                  <a:srgbClr val="111111"/>
                </a:solidFill>
                <a:latin typeface="DejaVu Sans"/>
                <a:ea typeface="DejaVu Sans"/>
                <a:cs typeface="DejaVu Sans"/>
              </a:rPr>
              <a:t>Demo: Review a report, verify it and assign an available response team.</a:t>
            </a:r>
          </a:p>
        </p:txBody>
      </p:sp>
      <p:sp>
        <p:nvSpPr>
          <p:cNvPr id="5" name="* Shared file: coordinate your feature with the ot">
            <a:extLst xmlns:a="http://schemas.openxmlformats.org/drawingml/2006/main">
              <a:ext uri="{FF2B5EF4-FFF2-40B4-BE49-F238E27FC236}">
                <a16:creationId xmlns:a16="http://schemas.microsoft.com/office/drawing/2014/main" id="{68678C5B-C118-468F-B64A-E50D0646F645}"/>
              </a:ext>
            </a:extLst>
          </p:cNvPr>
          <p:cNvSpPr>
            <a:spLocks xmlns:a="http://schemas.openxmlformats.org/drawingml/2006/main" noGrp="1"/>
          </p:cNvSpPr>
          <p:nvPr/>
        </p:nvSpPr>
        <p:spPr>
          <a:xfrm xmlns:a="http://schemas.openxmlformats.org/drawingml/2006/main">
            <a:off x="666750" y="619125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111111"/>
                </a:solidFill>
                <a:latin typeface="DejaVu Sans"/>
                <a:ea typeface="DejaVu Sans"/>
                <a:cs typeface="DejaVu Sans"/>
              </a:defRPr>
            </a:pPr>
            <a:r>
              <a:rPr sz="1350" b="0">
                <a:solidFill>
                  <a:srgbClr val="111111"/>
                </a:solidFill>
                <a:latin typeface="DejaVu Sans"/>
                <a:ea typeface="DejaVu Sans"/>
                <a:cs typeface="DejaVu Sans"/>
              </a:rPr>
              <a:t>* Shared file: coordinate your feature with the other members.</a:t>
            </a:r>
          </a:p>
        </p:txBody>
      </p:sp>
      <p:sp>
        <p:nvSpPr>
          <p:cNvPr id="6" name="07">
            <a:extLst xmlns:a="http://schemas.openxmlformats.org/drawingml/2006/main">
              <a:ext uri="{FF2B5EF4-FFF2-40B4-BE49-F238E27FC236}">
                <a16:creationId xmlns:a16="http://schemas.microsoft.com/office/drawing/2014/main" id="{C9877E21-4FC5-42AA-91DF-143F84694917}"/>
              </a:ext>
            </a:extLst>
          </p:cNvPr>
          <p:cNvSpPr>
            <a:spLocks xmlns:a="http://schemas.openxmlformats.org/drawingml/2006/main" noGrp="1"/>
          </p:cNvSpPr>
          <p:nvPr/>
        </p:nvSpPr>
        <p:spPr>
          <a:xfrm xmlns:a="http://schemas.openxmlformats.org/drawingml/2006/main">
            <a:off x="110299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111111"/>
                </a:solidFill>
                <a:latin typeface="DejaVu Sans"/>
                <a:ea typeface="DejaVu Sans"/>
                <a:cs typeface="DejaVu Sans"/>
              </a:defRPr>
            </a:pPr>
            <a:r>
              <a:rPr sz="1275" b="0">
                <a:solidFill>
                  <a:srgbClr val="111111"/>
                </a:solidFill>
                <a:latin typeface="DejaVu Sans"/>
                <a:ea typeface="DejaVu Sans"/>
                <a:cs typeface="DejaVu Sans"/>
              </a:rPr>
              <a:t>07</a:t>
            </a:r>
          </a:p>
        </p:txBody>
      </p:sp>
    </p:spTree>
    <p:extLst>
      <p:ext uri="{BB962C8B-B14F-4D97-AF65-F5344CB8AC3E}">
        <p14:creationId xmlns:p14="http://schemas.microsoft.com/office/powerpoint/2010/main" val="174294131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Week 1 / V1: Vidya">
            <a:extLst xmlns:a="http://schemas.openxmlformats.org/drawingml/2006/main">
              <a:ext uri="{FF2B5EF4-FFF2-40B4-BE49-F238E27FC236}">
                <a16:creationId xmlns:a16="http://schemas.microsoft.com/office/drawing/2014/main" id="{6FC5D0E1-783A-415D-9C8C-6B8EB26BE119}"/>
              </a:ext>
            </a:extLst>
          </p:cNvPr>
          <p:cNvSpPr>
            <a:spLocks xmlns:a="http://schemas.openxmlformats.org/drawingml/2006/main" noGrp="1"/>
          </p:cNvSpPr>
          <p:nvPr/>
        </p:nvSpPr>
        <p:spPr>
          <a:xfrm xmlns:a="http://schemas.openxmlformats.org/drawingml/2006/main">
            <a:off x="628650" y="457200"/>
            <a:ext cx="10934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11111"/>
                </a:solidFill>
                <a:latin typeface="DejaVu Sans"/>
                <a:ea typeface="DejaVu Sans"/>
                <a:cs typeface="DejaVu Sans"/>
              </a:defRPr>
            </a:pPr>
            <a:r>
              <a:rPr sz="3300" b="1">
                <a:solidFill>
                  <a:srgbClr val="111111"/>
                </a:solidFill>
                <a:latin typeface="DejaVu Sans"/>
                <a:ea typeface="DejaVu Sans"/>
                <a:cs typeface="DejaVu Sans"/>
              </a:rPr>
              <a:t>Week 1 / V1: Vidya</a:t>
            </a:r>
          </a:p>
        </p:txBody>
      </p:sp>
      <p:sp>
        <p:nvSpPr>
          <p:cNvPr id="2" name="Citizen report form, My Reports and status page.">
            <a:extLst xmlns:a="http://schemas.openxmlformats.org/drawingml/2006/main">
              <a:ext uri="{FF2B5EF4-FFF2-40B4-BE49-F238E27FC236}">
                <a16:creationId xmlns:a16="http://schemas.microsoft.com/office/drawing/2014/main" id="{42331FD0-BE4C-4B72-A225-A9E3E094A5C6}"/>
              </a:ext>
            </a:extLst>
          </p:cNvPr>
          <p:cNvSpPr>
            <a:spLocks xmlns:a="http://schemas.openxmlformats.org/drawingml/2006/main" noGrp="1"/>
          </p:cNvSpPr>
          <p:nvPr/>
        </p:nvSpPr>
        <p:spPr>
          <a:xfrm xmlns:a="http://schemas.openxmlformats.org/drawingml/2006/main">
            <a:off x="628650" y="13049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111111"/>
                </a:solidFill>
                <a:latin typeface="DejaVu Sans"/>
                <a:ea typeface="DejaVu Sans"/>
                <a:cs typeface="DejaVu Sans"/>
              </a:defRPr>
            </a:pPr>
            <a:r>
              <a:rPr sz="1800" b="0">
                <a:solidFill>
                  <a:srgbClr val="111111"/>
                </a:solidFill>
                <a:latin typeface="DejaVu Sans"/>
                <a:ea typeface="DejaVu Sans"/>
                <a:cs typeface="DejaVu Sans"/>
              </a:rPr>
              <a:t>Citizen report form, My Reports and status page.</a:t>
            </a:r>
          </a:p>
        </p:txBody>
      </p:sp>
      <p:graphicFrame>
        <p:nvGraphicFramePr>
          <p:cNvPr id="9" name=""/>
          <p:cNvGraphicFramePr/>
          <p:nvPr/>
        </p:nvGraphicFramePr>
        <p:xfrm>
          <a:off xmlns:a="http://schemas.openxmlformats.org/drawingml/2006/main" x="628650" y="1771650"/>
          <a:ext xmlns:a="http://schemas.openxmlformats.org/drawingml/2006/main" cx="10934700" cy="3771900"/>
        </p:xfrm>
        <a:graphic xmlns:a="http://schemas.openxmlformats.org/drawingml/2006/main">
          <a:graphicData uri="http://schemas.openxmlformats.org/drawingml/2006/table">
            <a:tbl>
              <a:tblPr firstRow="1" bandRow="0"/>
              <a:tblGrid>
                <a:gridCol w="7067550"/>
                <a:gridCol w="3867150"/>
              </a:tblGrid>
              <a:tr h="419100">
                <a:tc>
                  <a:txBody>
                    <a:bodyPr/>
                    <a:lstStyle/>
                    <a:p>
                      <a:r>
                        <a:rPr sz="1800" b="1">
                          <a:solidFill>
                            <a:srgbClr val="111111"/>
                          </a:solidFill>
                          <a:latin typeface="DejaVu Sans"/>
                          <a:ea typeface="DejaVu Sans"/>
                          <a:cs typeface="DejaVu Sans"/>
                        </a:rPr>
                        <a:t>Project file</a:t>
                      </a:r>
                    </a:p>
                  </a:txBody>
                  <a:tcPr marL="114300" marR="114300" marT="47625" marB="47625" anchor="ctr">
                    <a:solidFill>
                      <a:srgbClr val="FFFFFF"/>
                    </a:solidFill>
                  </a:tcPr>
                </a:tc>
                <a:tc>
                  <a:txBody>
                    <a:bodyPr/>
                    <a:lstStyle/>
                    <a:p>
                      <a:r>
                        <a:rPr sz="1800" b="1">
                          <a:solidFill>
                            <a:srgbClr val="111111"/>
                          </a:solidFill>
                          <a:latin typeface="DejaVu Sans"/>
                          <a:ea typeface="DejaVu Sans"/>
                          <a:cs typeface="DejaVu Sans"/>
                        </a:rPr>
                        <a:t>Feature to reference</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frontend/src/pages/citizen/ReportForm.jsx</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Citizen report submission</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frontend/src/pages/citizen/MyReports.jsx</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Personal report list</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frontend/src/components/shared/IncidentListView.jsx</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Citizen list / filters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frontend/src/components/shared/IncidentDetail.jsx</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Citizen status / timeline</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frontend/src/hooks/useData.js</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Loading / polling / refresh</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frontend/src/services/api.js</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Submit / retrieve reports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backend/routers/incidents.py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Report API contract</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backend/schemas/incident_schema.py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Fields / validation contract</a:t>
                      </a:r>
                    </a:p>
                  </a:txBody>
                  <a:tcPr marL="114300" marR="114300" marT="47625" marB="47625" anchor="ctr">
                    <a:solidFill>
                      <a:srgbClr val="FFFFFF"/>
                    </a:solidFill>
                  </a:tcPr>
                </a:tc>
              </a:tr>
            </a:tbl>
          </a:graphicData>
        </a:graphic>
      </p:graphicFrame>
      <p:sp>
        <p:nvSpPr>
          <p:cNvPr id="4" name="Demo: Submit a report, open My Reports and show it">
            <a:extLst xmlns:a="http://schemas.openxmlformats.org/drawingml/2006/main">
              <a:ext uri="{FF2B5EF4-FFF2-40B4-BE49-F238E27FC236}">
                <a16:creationId xmlns:a16="http://schemas.microsoft.com/office/drawing/2014/main" id="{228C56E1-CA26-475A-935B-00FCCE2380EA}"/>
              </a:ext>
            </a:extLst>
          </p:cNvPr>
          <p:cNvSpPr>
            <a:spLocks xmlns:a="http://schemas.openxmlformats.org/drawingml/2006/main" noGrp="1"/>
          </p:cNvSpPr>
          <p:nvPr/>
        </p:nvSpPr>
        <p:spPr>
          <a:xfrm xmlns:a="http://schemas.openxmlformats.org/drawingml/2006/main">
            <a:off x="666750" y="57340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111111"/>
                </a:solidFill>
                <a:latin typeface="DejaVu Sans"/>
                <a:ea typeface="DejaVu Sans"/>
                <a:cs typeface="DejaVu Sans"/>
              </a:defRPr>
            </a:pPr>
            <a:r>
              <a:rPr sz="1725" b="1">
                <a:solidFill>
                  <a:srgbClr val="111111"/>
                </a:solidFill>
                <a:latin typeface="DejaVu Sans"/>
                <a:ea typeface="DejaVu Sans"/>
                <a:cs typeface="DejaVu Sans"/>
              </a:rPr>
              <a:t>Demo: Submit a report, open My Reports and show its status and timeline.</a:t>
            </a:r>
          </a:p>
        </p:txBody>
      </p:sp>
      <p:sp>
        <p:nvSpPr>
          <p:cNvPr id="5" name="* Shared file: coordinate your feature with the ot">
            <a:extLst xmlns:a="http://schemas.openxmlformats.org/drawingml/2006/main">
              <a:ext uri="{FF2B5EF4-FFF2-40B4-BE49-F238E27FC236}">
                <a16:creationId xmlns:a16="http://schemas.microsoft.com/office/drawing/2014/main" id="{DD4CD519-F522-4353-8A90-76E0F2DC1ADF}"/>
              </a:ext>
            </a:extLst>
          </p:cNvPr>
          <p:cNvSpPr>
            <a:spLocks xmlns:a="http://schemas.openxmlformats.org/drawingml/2006/main" noGrp="1"/>
          </p:cNvSpPr>
          <p:nvPr/>
        </p:nvSpPr>
        <p:spPr>
          <a:xfrm xmlns:a="http://schemas.openxmlformats.org/drawingml/2006/main">
            <a:off x="666750" y="619125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111111"/>
                </a:solidFill>
                <a:latin typeface="DejaVu Sans"/>
                <a:ea typeface="DejaVu Sans"/>
                <a:cs typeface="DejaVu Sans"/>
              </a:defRPr>
            </a:pPr>
            <a:r>
              <a:rPr sz="1350" b="0">
                <a:solidFill>
                  <a:srgbClr val="111111"/>
                </a:solidFill>
                <a:latin typeface="DejaVu Sans"/>
                <a:ea typeface="DejaVu Sans"/>
                <a:cs typeface="DejaVu Sans"/>
              </a:rPr>
              <a:t>* Shared file: coordinate your feature with the other members.</a:t>
            </a:r>
          </a:p>
        </p:txBody>
      </p:sp>
      <p:sp>
        <p:nvSpPr>
          <p:cNvPr id="6" name="08">
            <a:extLst xmlns:a="http://schemas.openxmlformats.org/drawingml/2006/main">
              <a:ext uri="{FF2B5EF4-FFF2-40B4-BE49-F238E27FC236}">
                <a16:creationId xmlns:a16="http://schemas.microsoft.com/office/drawing/2014/main" id="{C36CEDE0-3790-49DB-8D34-E4C2F5174A74}"/>
              </a:ext>
            </a:extLst>
          </p:cNvPr>
          <p:cNvSpPr>
            <a:spLocks xmlns:a="http://schemas.openxmlformats.org/drawingml/2006/main" noGrp="1"/>
          </p:cNvSpPr>
          <p:nvPr/>
        </p:nvSpPr>
        <p:spPr>
          <a:xfrm xmlns:a="http://schemas.openxmlformats.org/drawingml/2006/main">
            <a:off x="110299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111111"/>
                </a:solidFill>
                <a:latin typeface="DejaVu Sans"/>
                <a:ea typeface="DejaVu Sans"/>
                <a:cs typeface="DejaVu Sans"/>
              </a:defRPr>
            </a:pPr>
            <a:r>
              <a:rPr sz="1275" b="0">
                <a:solidFill>
                  <a:srgbClr val="111111"/>
                </a:solidFill>
                <a:latin typeface="DejaVu Sans"/>
                <a:ea typeface="DejaVu Sans"/>
                <a:cs typeface="DejaVu Sans"/>
              </a:rPr>
              <a:t>08</a:t>
            </a:r>
          </a:p>
        </p:txBody>
      </p:sp>
    </p:spTree>
    <p:extLst>
      <p:ext uri="{BB962C8B-B14F-4D97-AF65-F5344CB8AC3E}">
        <p14:creationId xmlns:p14="http://schemas.microsoft.com/office/powerpoint/2010/main" val="212132317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Rectangle 4">
            <a:extLst xmlns:a="http://schemas.openxmlformats.org/drawingml/2006/main">
              <a:ext uri="{FF2B5EF4-FFF2-40B4-BE49-F238E27FC236}">
                <a16:creationId xmlns:a16="http://schemas.microsoft.com/office/drawing/2014/main" id="{A49ED379-3BD0-4E9A-99CB-BA3E444F7FD4}"/>
              </a:ext>
            </a:extLst>
          </p:cNvPr>
          <p:cNvSpPr>
            <a:spLocks xmlns:a="http://schemas.openxmlformats.org/drawingml/2006/main" noGrp="1"/>
          </p:cNvSpPr>
          <p:nvPr/>
        </p:nvSpPr>
        <p:spPr>
          <a:xfrm xmlns:a="http://schemas.openxmlformats.org/drawingml/2006/main">
            <a:off x="628650" y="457200"/>
            <a:ext cx="10934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00000"/>
                </a:solidFill>
                <a:latin typeface="DejaVu Sans"/>
                <a:ea typeface="DejaVu Sans"/>
                <a:cs typeface="DejaVu Sans"/>
              </a:defRPr>
            </a:pPr>
            <a:r>
              <a:rPr sz="3300" b="1">
                <a:solidFill>
                  <a:srgbClr val="000000"/>
                </a:solidFill>
                <a:latin typeface="DejaVu Sans"/>
                <a:ea typeface="DejaVu Sans"/>
                <a:cs typeface="DejaVu Sans"/>
              </a:rPr>
              <a:t>Week 2: AI analysis</a:t>
            </a:r>
          </a:p>
        </p:txBody>
      </p:sp>
      <p:sp>
        <p:nvSpPr>
          <p:cNvPr id="2" name="Rectangle 1">
            <a:extLst xmlns:a="http://schemas.openxmlformats.org/drawingml/2006/main">
              <a:ext uri="{FF2B5EF4-FFF2-40B4-BE49-F238E27FC236}">
                <a16:creationId xmlns:a16="http://schemas.microsoft.com/office/drawing/2014/main" id="{E2B4D1D1-BC43-4BCC-B628-8884C6960F0C}"/>
              </a:ext>
            </a:extLst>
          </p:cNvPr>
          <p:cNvSpPr>
            <a:spLocks xmlns:a="http://schemas.openxmlformats.org/drawingml/2006/main" noGrp="1"/>
          </p:cNvSpPr>
          <p:nvPr/>
        </p:nvSpPr>
        <p:spPr>
          <a:xfrm xmlns:a="http://schemas.openxmlformats.org/drawingml/2006/main">
            <a:off x="110299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111111"/>
                </a:solidFill>
                <a:latin typeface="DejaVu Sans"/>
                <a:ea typeface="DejaVu Sans"/>
                <a:cs typeface="DejaVu Sans"/>
              </a:defRPr>
            </a:pPr>
            <a:r>
              <a:rPr sz="1275" b="0">
                <a:solidFill>
                  <a:srgbClr val="111111"/>
                </a:solidFill>
                <a:latin typeface="DejaVu Sans"/>
                <a:ea typeface="DejaVu Sans"/>
                <a:cs typeface="DejaVu Sans"/>
              </a:rPr>
              <a:t>09</a:t>
            </a:r>
          </a:p>
        </p:txBody>
      </p:sp>
      <p:graphicFrame>
        <p:nvGraphicFramePr>
          <p:cNvPr id="9" name="Table 6"/>
          <p:cNvGraphicFramePr/>
          <p:nvPr/>
        </p:nvGraphicFramePr>
        <p:xfrm>
          <a:off xmlns:a="http://schemas.openxmlformats.org/drawingml/2006/main" x="628650" y="1581150"/>
          <a:ext xmlns:a="http://schemas.openxmlformats.org/drawingml/2006/main" cx="10934700" cy="3928110"/>
        </p:xfrm>
        <a:graphic xmlns:a="http://schemas.openxmlformats.org/drawingml/2006/main">
          <a:graphicData uri="http://schemas.openxmlformats.org/drawingml/2006/table">
            <a:tbl>
              <a:tblPr/>
              <a:tblGrid>
                <a:gridCol w="1666875"/>
                <a:gridCol w="5572125"/>
                <a:gridCol w="3695700"/>
              </a:tblGrid>
              <a:tr h="742950">
                <a:tc>
                  <a:txBody>
                    <a:bodyPr/>
                    <a:lstStyle/>
                    <a:p>
                      <a:r>
                        <a:rPr sz="1800" b="1">
                          <a:solidFill>
                            <a:schemeClr val="tx1">
                              <a:lumMod val="95000"/>
                              <a:lumOff val="5000"/>
                            </a:schemeClr>
                          </a:solidFill>
                          <a:latin typeface="DejaVu Sans"/>
                          <a:ea typeface="DejaVu Sans"/>
                          <a:cs typeface="DejaVu Sans"/>
                        </a:rPr>
                        <a:t>Member</a:t>
                      </a:r>
                    </a:p>
                  </a:txBody>
                  <a:tcPr marL="114300" marR="114300" marT="47625" marB="47625">
                    <a:solidFill>
                      <a:schemeClr val="bg1"/>
                    </a:solidFill>
                  </a:tcPr>
                </a:tc>
                <a:tc>
                  <a:txBody>
                    <a:bodyPr/>
                    <a:lstStyle/>
                    <a:p>
                      <a:r>
                        <a:rPr sz="1800" b="1">
                          <a:solidFill>
                            <a:schemeClr val="tx1">
                              <a:lumMod val="95000"/>
                              <a:lumOff val="5000"/>
                            </a:schemeClr>
                          </a:solidFill>
                          <a:latin typeface="DejaVu Sans"/>
                          <a:ea typeface="DejaVu Sans"/>
                          <a:cs typeface="DejaVu Sans"/>
                        </a:rPr>
                        <a:t>Work for the week</a:t>
                      </a:r>
                    </a:p>
                  </a:txBody>
                  <a:tcPr marL="114300" marR="114300" marT="47625" marB="47625">
                    <a:solidFill>
                      <a:schemeClr val="bg1"/>
                    </a:solidFill>
                  </a:tcPr>
                </a:tc>
                <a:tc>
                  <a:txBody>
                    <a:bodyPr/>
                    <a:lstStyle/>
                    <a:p>
                      <a:r>
                        <a:rPr sz="1800" b="1">
                          <a:solidFill>
                            <a:schemeClr val="tx1">
                              <a:lumMod val="95000"/>
                              <a:lumOff val="5000"/>
                            </a:schemeClr>
                          </a:solidFill>
                          <a:latin typeface="DejaVu Sans"/>
                          <a:ea typeface="DejaVu Sans"/>
                          <a:cs typeface="DejaVu Sans"/>
                        </a:rPr>
                        <a:t>Result to show</a:t>
                      </a:r>
                    </a:p>
                  </a:txBody>
                  <a:tcPr marL="114300" marR="114300" marT="47625" marB="47625">
                    <a:solidFill>
                      <a:schemeClr val="bg1"/>
                    </a:solidFill>
                  </a:tcPr>
                </a:tc>
              </a:tr>
              <a:tr h="742950">
                <a:tc>
                  <a:txBody>
                    <a:bodyPr/>
                    <a:lstStyle/>
                    <a:p>
                      <a:pPr marL="0" marR="0" lvl="0" indent="0" algn="l" defTabSz="914400">
                        <a:lnSpc>
                          <a:spcPct val="100000"/>
                        </a:lnSpc>
                        <a:spcBef>
                          <a:spcPts val="0"/>
                        </a:spcBef>
                        <a:spcAft>
                          <a:spcPts val="0"/>
                        </a:spcAft>
                        <a:buClrTx/>
                        <a:buSzTx/>
                        <a:buFontTx/>
                        <a:buNone/>
                      </a:pPr>
                      <a:r>
                        <a:rPr sz="1800">
                          <a:solidFill>
                            <a:srgbClr val="000000"/>
                          </a:solidFill>
                          <a:latin typeface="DejaVu Sans"/>
                          <a:ea typeface="DejaVu Sans"/>
                          <a:cs typeface="DejaVu Sans"/>
                        </a:rPr>
                        <a:t>Vidya</a:t>
                      </a:r>
                    </a:p>
                    <a:p>
                      <a:endParaRPr sz="1800">
                        <a:solidFill>
                          <a:srgbClr val="000000"/>
                        </a:solidFill>
                        <a:latin typeface="DejaVu Sans"/>
                        <a:ea typeface="DejaVu Sans"/>
                        <a:cs typeface="DejaVu Sans"/>
                      </a:endParaRPr>
                    </a:p>
                  </a:txBody>
                  <a:tcPr marL="114300" marR="114300" marT="47625" marB="47625">
                    <a:solidFill>
                      <a:srgbClr val="FFFFFF"/>
                    </a:solidFill>
                  </a:tcPr>
                </a:tc>
                <a:tc>
                  <a:txBody>
                    <a:bodyPr/>
                    <a:lstStyle/>
                    <a:p>
                      <a:r>
                        <a:rPr sz="1800">
                          <a:solidFill>
                            <a:srgbClr val="000000"/>
                          </a:solidFill>
                          <a:latin typeface="DejaVu Sans"/>
                          <a:ea typeface="DejaVu Sans"/>
                          <a:cs typeface="DejaVu Sans"/>
                        </a:rPr>
                        <a:t>Prepare labeled messages, train and test the urgency model.</a:t>
                      </a:r>
                    </a:p>
                  </a:txBody>
                  <a:tcPr marL="114300" marR="114300" marT="47625" marB="47625">
                    <a:solidFill>
                      <a:srgbClr val="FFFFFF"/>
                    </a:solidFill>
                  </a:tcPr>
                </a:tc>
                <a:tc>
                  <a:txBody>
                    <a:bodyPr/>
                    <a:lstStyle/>
                    <a:p>
                      <a:r>
                        <a:rPr sz="1800">
                          <a:solidFill>
                            <a:srgbClr val="000000"/>
                          </a:solidFill>
                          <a:latin typeface="DejaVu Sans"/>
                          <a:ea typeface="DejaVu Sans"/>
                          <a:cs typeface="DejaVu Sans"/>
                        </a:rPr>
                        <a:t>Return Low, Moderate or High.</a:t>
                      </a:r>
                    </a:p>
                  </a:txBody>
                  <a:tcPr marL="114300" marR="114300" marT="47625" marB="47625">
                    <a:solidFill>
                      <a:srgbClr val="FFFFFF"/>
                    </a:solidFill>
                  </a:tcPr>
                </a:tc>
              </a:tr>
              <a:tr h="742950">
                <a:tc>
                  <a:txBody>
                    <a:bodyPr/>
                    <a:lstStyle/>
                    <a:p>
                      <a:pPr marL="0" marR="0" lvl="0" indent="0" algn="l" defTabSz="914400">
                        <a:lnSpc>
                          <a:spcPct val="100000"/>
                        </a:lnSpc>
                        <a:spcBef>
                          <a:spcPts val="0"/>
                        </a:spcBef>
                        <a:spcAft>
                          <a:spcPts val="0"/>
                        </a:spcAft>
                        <a:buClrTx/>
                        <a:buSzTx/>
                        <a:buFontTx/>
                        <a:buNone/>
                      </a:pPr>
                      <a:r>
                        <a:rPr sz="1800">
                          <a:solidFill>
                            <a:srgbClr val="000000"/>
                          </a:solidFill>
                          <a:latin typeface="DejaVu Sans"/>
                          <a:ea typeface="DejaVu Sans"/>
                          <a:cs typeface="DejaVu Sans"/>
                        </a:rPr>
                        <a:t>Athul</a:t>
                      </a:r>
                    </a:p>
                    <a:p>
                      <a:endParaRPr sz="1800">
                        <a:solidFill>
                          <a:srgbClr val="000000"/>
                        </a:solidFill>
                        <a:latin typeface="DejaVu Sans"/>
                        <a:ea typeface="DejaVu Sans"/>
                        <a:cs typeface="DejaVu Sans"/>
                      </a:endParaRPr>
                    </a:p>
                  </a:txBody>
                  <a:tcPr marL="114300" marR="114300" marT="47625" marB="47625">
                    <a:solidFill>
                      <a:srgbClr val="FFFFFF"/>
                    </a:solidFill>
                  </a:tcPr>
                </a:tc>
                <a:tc>
                  <a:txBody>
                    <a:bodyPr/>
                    <a:lstStyle/>
                    <a:p>
                      <a:r>
                        <a:rPr sz="1800">
                          <a:solidFill>
                            <a:srgbClr val="000000"/>
                          </a:solidFill>
                          <a:latin typeface="DejaVu Sans"/>
                          <a:ea typeface="DejaVu Sans"/>
                          <a:cs typeface="DejaVu Sans"/>
                        </a:rPr>
                        <a:t>Extract location, manage alerts and match report locations.</a:t>
                      </a:r>
                    </a:p>
                  </a:txBody>
                  <a:tcPr marL="114300" marR="114300" marT="47625" marB="47625">
                    <a:solidFill>
                      <a:srgbClr val="FFFFFF"/>
                    </a:solidFill>
                  </a:tcPr>
                </a:tc>
                <a:tc>
                  <a:txBody>
                    <a:bodyPr/>
                    <a:lstStyle/>
                    <a:p>
                      <a:r>
                        <a:rPr sz="1800">
                          <a:solidFill>
                            <a:srgbClr val="000000"/>
                          </a:solidFill>
                          <a:latin typeface="DejaVu Sans"/>
                          <a:ea typeface="DejaVu Sans"/>
                          <a:cs typeface="DejaVu Sans"/>
                        </a:rPr>
                        <a:t>Return match, no match or uncertain.</a:t>
                      </a:r>
                    </a:p>
                  </a:txBody>
                  <a:tcPr marL="114300" marR="114300" marT="47625" marB="47625">
                    <a:solidFill>
                      <a:srgbClr val="FFFFFF"/>
                    </a:solidFill>
                  </a:tcPr>
                </a:tc>
              </a:tr>
              <a:tr h="742950">
                <a:tc>
                  <a:txBody>
                    <a:bodyPr/>
                    <a:lstStyle/>
                    <a:p>
                      <a:pPr marL="0" marR="0" lvl="0" indent="0" algn="l" defTabSz="914400">
                        <a:lnSpc>
                          <a:spcPct val="100000"/>
                        </a:lnSpc>
                        <a:spcBef>
                          <a:spcPts val="0"/>
                        </a:spcBef>
                        <a:spcAft>
                          <a:spcPts val="0"/>
                        </a:spcAft>
                        <a:buClrTx/>
                        <a:buSzTx/>
                        <a:buFontTx/>
                        <a:buNone/>
                      </a:pPr>
                      <a:r>
                        <a:rPr sz="1800">
                          <a:solidFill>
                            <a:srgbClr val="000000"/>
                          </a:solidFill>
                          <a:latin typeface="DejaVu Sans"/>
                          <a:ea typeface="DejaVu Sans"/>
                          <a:cs typeface="DejaVu Sans"/>
                        </a:rPr>
                        <a:t>Arya</a:t>
                      </a:r>
                    </a:p>
                    <a:p>
                      <a:endParaRPr sz="1800">
                        <a:solidFill>
                          <a:srgbClr val="000000"/>
                        </a:solidFill>
                        <a:latin typeface="DejaVu Sans"/>
                        <a:ea typeface="DejaVu Sans"/>
                        <a:cs typeface="DejaVu Sans"/>
                      </a:endParaRPr>
                    </a:p>
                  </a:txBody>
                  <a:tcPr marL="114300" marR="114300" marT="47625" marB="47625">
                    <a:solidFill>
                      <a:srgbClr val="FFFFFF"/>
                    </a:solidFill>
                  </a:tcPr>
                </a:tc>
                <a:tc>
                  <a:txBody>
                    <a:bodyPr/>
                    <a:lstStyle/>
                    <a:p>
                      <a:r>
                        <a:rPr sz="1800">
                          <a:solidFill>
                            <a:srgbClr val="000000"/>
                          </a:solidFill>
                          <a:latin typeface="DejaVu Sans"/>
                          <a:ea typeface="DejaVu Sans"/>
                          <a:cs typeface="DejaVu Sans"/>
                        </a:rPr>
                        <a:t>Show AI results and add an investigation option.</a:t>
                      </a:r>
                    </a:p>
                  </a:txBody>
                  <a:tcPr marL="114300" marR="114300" marT="47625" marB="47625">
                    <a:solidFill>
                      <a:srgbClr val="FFFFFF"/>
                    </a:solidFill>
                  </a:tcPr>
                </a:tc>
                <a:tc>
                  <a:txBody>
                    <a:bodyPr/>
                    <a:lstStyle/>
                    <a:p>
                      <a:r>
                        <a:rPr sz="1800">
                          <a:solidFill>
                            <a:srgbClr val="000000"/>
                          </a:solidFill>
                          <a:latin typeface="DejaVu Sans"/>
                          <a:ea typeface="DejaVu Sans"/>
                          <a:cs typeface="DejaVu Sans"/>
                        </a:rPr>
                        <a:t>Admin reviews analysis before action.</a:t>
                      </a:r>
                    </a:p>
                  </a:txBody>
                  <a:tcPr marL="114300" marR="114300" marT="47625" marB="47625">
                    <a:solidFill>
                      <a:srgbClr val="FFFFFF"/>
                    </a:solidFill>
                  </a:tcPr>
                </a:tc>
              </a:tr>
              <a:tr h="742950">
                <a:tc>
                  <a:txBody>
                    <a:bodyPr/>
                    <a:lstStyle/>
                    <a:p>
                      <a:pPr marL="0" marR="0" lvl="0" indent="0" algn="l" defTabSz="914400">
                        <a:lnSpc>
                          <a:spcPct val="100000"/>
                        </a:lnSpc>
                        <a:spcBef>
                          <a:spcPts val="0"/>
                        </a:spcBef>
                        <a:spcAft>
                          <a:spcPts val="0"/>
                        </a:spcAft>
                        <a:buClrTx/>
                        <a:buSzTx/>
                        <a:buFontTx/>
                        <a:buNone/>
                      </a:pPr>
                      <a:r>
                        <a:rPr sz="1800">
                          <a:solidFill>
                            <a:srgbClr val="000000"/>
                          </a:solidFill>
                          <a:latin typeface="DejaVu Sans"/>
                          <a:ea typeface="DejaVu Sans"/>
                          <a:cs typeface="DejaVu Sans"/>
                        </a:rPr>
                        <a:t>Maanaz</a:t>
                      </a:r>
                      <a:endParaRPr sz="1800">
                        <a:solidFill>
                          <a:srgbClr val="000000"/>
                        </a:solidFill>
                        <a:latin typeface="DejaVu Sans"/>
                        <a:ea typeface="DejaVu Sans"/>
                        <a:cs typeface="DejaVu Sans"/>
                      </a:endParaRPr>
                    </a:p>
                    <a:p>
                      <a:endParaRPr sz="1800">
                        <a:solidFill>
                          <a:srgbClr val="000000"/>
                        </a:solidFill>
                        <a:latin typeface="DejaVu Sans"/>
                        <a:ea typeface="DejaVu Sans"/>
                        <a:cs typeface="DejaVu Sans"/>
                      </a:endParaRPr>
                    </a:p>
                  </a:txBody>
                  <a:tcPr marL="114300" marR="114300" marT="47625" marB="47625">
                    <a:solidFill>
                      <a:srgbClr val="FFFFFF"/>
                    </a:solidFill>
                  </a:tcPr>
                </a:tc>
                <a:tc>
                  <a:txBody>
                    <a:bodyPr/>
                    <a:lstStyle/>
                    <a:p>
                      <a:r>
                        <a:rPr sz="1800">
                          <a:solidFill>
                            <a:srgbClr val="000000"/>
                          </a:solidFill>
                          <a:latin typeface="DejaVu Sans"/>
                          <a:ea typeface="DejaVu Sans"/>
                          <a:cs typeface="DejaVu Sans"/>
                        </a:rPr>
                        <a:t>Generate short summaries and display analysis results.</a:t>
                      </a:r>
                    </a:p>
                  </a:txBody>
                  <a:tcPr marL="114300" marR="114300" marT="47625" marB="47625">
                    <a:solidFill>
                      <a:srgbClr val="FFFFFF"/>
                    </a:solidFill>
                  </a:tcPr>
                </a:tc>
                <a:tc>
                  <a:txBody>
                    <a:bodyPr/>
                    <a:lstStyle/>
                    <a:p>
                      <a:r>
                        <a:rPr sz="1800">
                          <a:solidFill>
                            <a:srgbClr val="000000"/>
                          </a:solidFill>
                          <a:latin typeface="DejaVu Sans"/>
                          <a:ea typeface="DejaVu Sans"/>
                          <a:cs typeface="DejaVu Sans"/>
                        </a:rPr>
                        <a:t>Show a clear report summary.</a:t>
                      </a:r>
                    </a:p>
                  </a:txBody>
                  <a:tcPr marL="114300" marR="114300" marT="47625" marB="47625">
                    <a:solidFill>
                      <a:srgbClr val="FFFFFF"/>
                    </a:solidFill>
                  </a:tcPr>
                </a:tc>
              </a:tr>
            </a:tbl>
          </a:graphicData>
        </a:graphic>
      </p:graphicFrame>
      <p:sp>
        <p:nvSpPr>
          <p:cNvPr id="4" name="Rectangle 3">
            <a:extLst xmlns:a="http://schemas.openxmlformats.org/drawingml/2006/main">
              <a:ext uri="{FF2B5EF4-FFF2-40B4-BE49-F238E27FC236}">
                <a16:creationId xmlns:a16="http://schemas.microsoft.com/office/drawing/2014/main" id="{14EF9C7E-ABE3-4125-8D74-8B5070620FE1}"/>
              </a:ext>
            </a:extLst>
          </p:cNvPr>
          <p:cNvSpPr>
            <a:spLocks xmlns:a="http://schemas.openxmlformats.org/drawingml/2006/main" noGrp="1"/>
          </p:cNvSpPr>
          <p:nvPr/>
        </p:nvSpPr>
        <p:spPr>
          <a:xfrm xmlns:a="http://schemas.openxmlformats.org/drawingml/2006/main">
            <a:off x="666750" y="562927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0000"/>
                </a:solidFill>
                <a:latin typeface="DejaVu Sans"/>
                <a:ea typeface="DejaVu Sans"/>
                <a:cs typeface="DejaVu Sans"/>
              </a:defRPr>
            </a:pPr>
            <a:r>
              <a:rPr sz="1800" b="1">
                <a:solidFill>
                  <a:srgbClr val="000000"/>
                </a:solidFill>
                <a:latin typeface="DejaVu Sans"/>
                <a:ea typeface="DejaVu Sans"/>
                <a:cs typeface="DejaVu Sans"/>
              </a:rPr>
              <a:t>V2 demo: a report reaches the admin with AI analysis.</a:t>
            </a:r>
          </a:p>
        </p:txBody>
      </p:sp>
    </p:spTree>
    <p:extLst>
      <p:ext uri="{BB962C8B-B14F-4D97-AF65-F5344CB8AC3E}">
        <p14:creationId xmlns:p14="http://schemas.microsoft.com/office/powerpoint/2010/main" val="51178072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Week 2 / V2: Vidya">
            <a:extLst xmlns:a="http://schemas.openxmlformats.org/drawingml/2006/main">
              <a:ext uri="{FF2B5EF4-FFF2-40B4-BE49-F238E27FC236}">
                <a16:creationId xmlns:a16="http://schemas.microsoft.com/office/drawing/2014/main" id="{CC5D1130-91A9-4730-B303-2E197118DA9D}"/>
              </a:ext>
            </a:extLst>
          </p:cNvPr>
          <p:cNvSpPr>
            <a:spLocks xmlns:a="http://schemas.openxmlformats.org/drawingml/2006/main" noGrp="1"/>
          </p:cNvSpPr>
          <p:nvPr/>
        </p:nvSpPr>
        <p:spPr>
          <a:xfrm xmlns:a="http://schemas.openxmlformats.org/drawingml/2006/main">
            <a:off x="628650" y="457200"/>
            <a:ext cx="10934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11111"/>
                </a:solidFill>
                <a:latin typeface="DejaVu Sans"/>
                <a:ea typeface="DejaVu Sans"/>
                <a:cs typeface="DejaVu Sans"/>
              </a:defRPr>
            </a:pPr>
            <a:r>
              <a:rPr sz="3300" b="1">
                <a:solidFill>
                  <a:srgbClr val="111111"/>
                </a:solidFill>
                <a:latin typeface="DejaVu Sans"/>
                <a:ea typeface="DejaVu Sans"/>
                <a:cs typeface="DejaVu Sans"/>
              </a:rPr>
              <a:t>Week 2 / V2: Vidya</a:t>
            </a:r>
          </a:p>
        </p:txBody>
      </p:sp>
      <p:sp>
        <p:nvSpPr>
          <p:cNvPr id="2" name="Prepare labeled messages; train and test the urgen">
            <a:extLst xmlns:a="http://schemas.openxmlformats.org/drawingml/2006/main">
              <a:ext uri="{FF2B5EF4-FFF2-40B4-BE49-F238E27FC236}">
                <a16:creationId xmlns:a16="http://schemas.microsoft.com/office/drawing/2014/main" id="{50CDBBE8-225E-4329-8C6B-F09FE23FAD7E}"/>
              </a:ext>
            </a:extLst>
          </p:cNvPr>
          <p:cNvSpPr>
            <a:spLocks xmlns:a="http://schemas.openxmlformats.org/drawingml/2006/main" noGrp="1"/>
          </p:cNvSpPr>
          <p:nvPr/>
        </p:nvSpPr>
        <p:spPr>
          <a:xfrm xmlns:a="http://schemas.openxmlformats.org/drawingml/2006/main">
            <a:off x="628650" y="13049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111111"/>
                </a:solidFill>
                <a:latin typeface="DejaVu Sans"/>
                <a:ea typeface="DejaVu Sans"/>
                <a:cs typeface="DejaVu Sans"/>
              </a:defRPr>
            </a:pPr>
            <a:r>
              <a:rPr sz="1800" b="0">
                <a:solidFill>
                  <a:srgbClr val="111111"/>
                </a:solidFill>
                <a:latin typeface="DejaVu Sans"/>
                <a:ea typeface="DejaVu Sans"/>
                <a:cs typeface="DejaVu Sans"/>
              </a:rPr>
              <a:t>Prepare labeled messages; train and test the urgency model.</a:t>
            </a:r>
          </a:p>
        </p:txBody>
      </p:sp>
      <p:graphicFrame>
        <p:nvGraphicFramePr>
          <p:cNvPr id="9" name=""/>
          <p:cNvGraphicFramePr/>
          <p:nvPr/>
        </p:nvGraphicFramePr>
        <p:xfrm>
          <a:off xmlns:a="http://schemas.openxmlformats.org/drawingml/2006/main" x="628650" y="1771650"/>
          <a:ext xmlns:a="http://schemas.openxmlformats.org/drawingml/2006/main" cx="10934700" cy="3771900"/>
        </p:xfrm>
        <a:graphic xmlns:a="http://schemas.openxmlformats.org/drawingml/2006/main">
          <a:graphicData uri="http://schemas.openxmlformats.org/drawingml/2006/table">
            <a:tbl>
              <a:tblPr firstRow="1" bandRow="0"/>
              <a:tblGrid>
                <a:gridCol w="7067550"/>
                <a:gridCol w="3867150"/>
              </a:tblGrid>
              <a:tr h="419100">
                <a:tc>
                  <a:txBody>
                    <a:bodyPr/>
                    <a:lstStyle/>
                    <a:p>
                      <a:r>
                        <a:rPr sz="1800" b="1">
                          <a:solidFill>
                            <a:srgbClr val="111111"/>
                          </a:solidFill>
                          <a:latin typeface="DejaVu Sans"/>
                          <a:ea typeface="DejaVu Sans"/>
                          <a:cs typeface="DejaVu Sans"/>
                        </a:rPr>
                        <a:t>Project file</a:t>
                      </a:r>
                    </a:p>
                  </a:txBody>
                  <a:tcPr marL="114300" marR="114300" marT="47625" marB="47625" anchor="ctr">
                    <a:solidFill>
                      <a:srgbClr val="FFFFFF"/>
                    </a:solidFill>
                  </a:tcPr>
                </a:tc>
                <a:tc>
                  <a:txBody>
                    <a:bodyPr/>
                    <a:lstStyle/>
                    <a:p>
                      <a:r>
                        <a:rPr sz="1800" b="1">
                          <a:solidFill>
                            <a:srgbClr val="111111"/>
                          </a:solidFill>
                          <a:latin typeface="DejaVu Sans"/>
                          <a:ea typeface="DejaVu Sans"/>
                          <a:cs typeface="DejaVu Sans"/>
                        </a:rPr>
                        <a:t>Feature to reference</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data/severity_dataset/synthetic_flood_messages.csv</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Labeled synthetic messages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notebooks/data_analysis.ipynb</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Inspect labels / examples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notebooks/severity_training.ipynb</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Training reference</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notebooks/evaluation.ipynb</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Held-out model evaluation</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scripts/train_severity.py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Reproducible training / export</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backend/ai/severity_model.py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Prediction / artifact loading</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data/severity_dataset/evaluation.json</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Class metrics / missed cases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models/severity_classifier/pipeline.joblib</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Generated serving pipeline</a:t>
                      </a:r>
                    </a:p>
                  </a:txBody>
                  <a:tcPr marL="114300" marR="114300" marT="47625" marB="47625" anchor="ctr">
                    <a:solidFill>
                      <a:srgbClr val="FFFFFF"/>
                    </a:solidFill>
                  </a:tcPr>
                </a:tc>
              </a:tr>
            </a:tbl>
          </a:graphicData>
        </a:graphic>
      </p:graphicFrame>
      <p:sp>
        <p:nvSpPr>
          <p:cNvPr id="4" name="Demo: Show Low / Moderate / High and explain error">
            <a:extLst xmlns:a="http://schemas.openxmlformats.org/drawingml/2006/main">
              <a:ext uri="{FF2B5EF4-FFF2-40B4-BE49-F238E27FC236}">
                <a16:creationId xmlns:a16="http://schemas.microsoft.com/office/drawing/2014/main" id="{19401856-E13A-4711-97AE-F7925FDD37C3}"/>
              </a:ext>
            </a:extLst>
          </p:cNvPr>
          <p:cNvSpPr>
            <a:spLocks xmlns:a="http://schemas.openxmlformats.org/drawingml/2006/main" noGrp="1"/>
          </p:cNvSpPr>
          <p:nvPr/>
        </p:nvSpPr>
        <p:spPr>
          <a:xfrm xmlns:a="http://schemas.openxmlformats.org/drawingml/2006/main">
            <a:off x="666750" y="57340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111111"/>
                </a:solidFill>
                <a:latin typeface="DejaVu Sans"/>
                <a:ea typeface="DejaVu Sans"/>
                <a:cs typeface="DejaVu Sans"/>
              </a:defRPr>
            </a:pPr>
            <a:r>
              <a:rPr sz="1725" b="1">
                <a:solidFill>
                  <a:srgbClr val="111111"/>
                </a:solidFill>
                <a:latin typeface="DejaVu Sans"/>
                <a:ea typeface="DejaVu Sans"/>
                <a:cs typeface="DejaVu Sans"/>
              </a:rPr>
              <a:t>Demo: Show Low / Moderate / High and explain errors on the separate test set.</a:t>
            </a:r>
          </a:p>
        </p:txBody>
      </p:sp>
      <p:sp>
        <p:nvSpPr>
          <p:cNvPr id="5" name="* Shared file: coordinate your feature with the ot">
            <a:extLst xmlns:a="http://schemas.openxmlformats.org/drawingml/2006/main">
              <a:ext uri="{FF2B5EF4-FFF2-40B4-BE49-F238E27FC236}">
                <a16:creationId xmlns:a16="http://schemas.microsoft.com/office/drawing/2014/main" id="{5C66D9F0-09CC-43CE-9FDA-068FE52B8061}"/>
              </a:ext>
            </a:extLst>
          </p:cNvPr>
          <p:cNvSpPr>
            <a:spLocks xmlns:a="http://schemas.openxmlformats.org/drawingml/2006/main" noGrp="1"/>
          </p:cNvSpPr>
          <p:nvPr/>
        </p:nvSpPr>
        <p:spPr>
          <a:xfrm xmlns:a="http://schemas.openxmlformats.org/drawingml/2006/main">
            <a:off x="666750" y="619125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111111"/>
                </a:solidFill>
                <a:latin typeface="DejaVu Sans"/>
                <a:ea typeface="DejaVu Sans"/>
                <a:cs typeface="DejaVu Sans"/>
              </a:defRPr>
            </a:pPr>
            <a:r>
              <a:rPr sz="1350" b="0">
                <a:solidFill>
                  <a:srgbClr val="111111"/>
                </a:solidFill>
                <a:latin typeface="DejaVu Sans"/>
                <a:ea typeface="DejaVu Sans"/>
                <a:cs typeface="DejaVu Sans"/>
              </a:rPr>
              <a:t>* Shared file: coordinate your feature with the other members.</a:t>
            </a:r>
          </a:p>
        </p:txBody>
      </p:sp>
      <p:sp>
        <p:nvSpPr>
          <p:cNvPr id="6" name="10">
            <a:extLst xmlns:a="http://schemas.openxmlformats.org/drawingml/2006/main">
              <a:ext uri="{FF2B5EF4-FFF2-40B4-BE49-F238E27FC236}">
                <a16:creationId xmlns:a16="http://schemas.microsoft.com/office/drawing/2014/main" id="{60ACD417-9FC8-4B2A-872E-A4F43F74DE26}"/>
              </a:ext>
            </a:extLst>
          </p:cNvPr>
          <p:cNvSpPr>
            <a:spLocks xmlns:a="http://schemas.openxmlformats.org/drawingml/2006/main" noGrp="1"/>
          </p:cNvSpPr>
          <p:nvPr/>
        </p:nvSpPr>
        <p:spPr>
          <a:xfrm xmlns:a="http://schemas.openxmlformats.org/drawingml/2006/main">
            <a:off x="110299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111111"/>
                </a:solidFill>
                <a:latin typeface="DejaVu Sans"/>
                <a:ea typeface="DejaVu Sans"/>
                <a:cs typeface="DejaVu Sans"/>
              </a:defRPr>
            </a:pPr>
            <a:r>
              <a:rPr sz="1275" b="0">
                <a:solidFill>
                  <a:srgbClr val="111111"/>
                </a:solidFill>
                <a:latin typeface="DejaVu Sans"/>
                <a:ea typeface="DejaVu Sans"/>
                <a:cs typeface="DejaVu Sans"/>
              </a:rPr>
              <a:t>10</a:t>
            </a:r>
          </a:p>
        </p:txBody>
      </p:sp>
    </p:spTree>
    <p:extLst>
      <p:ext uri="{BB962C8B-B14F-4D97-AF65-F5344CB8AC3E}">
        <p14:creationId xmlns:p14="http://schemas.microsoft.com/office/powerpoint/2010/main" val="120193657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Week 2 / V2: Athul">
            <a:extLst xmlns:a="http://schemas.openxmlformats.org/drawingml/2006/main">
              <a:ext uri="{FF2B5EF4-FFF2-40B4-BE49-F238E27FC236}">
                <a16:creationId xmlns:a16="http://schemas.microsoft.com/office/drawing/2014/main" id="{06AF8EFD-1B8A-4C4D-B4C7-9B0B2E7D1704}"/>
              </a:ext>
            </a:extLst>
          </p:cNvPr>
          <p:cNvSpPr>
            <a:spLocks xmlns:a="http://schemas.openxmlformats.org/drawingml/2006/main" noGrp="1"/>
          </p:cNvSpPr>
          <p:nvPr/>
        </p:nvSpPr>
        <p:spPr>
          <a:xfrm xmlns:a="http://schemas.openxmlformats.org/drawingml/2006/main">
            <a:off x="628650" y="457200"/>
            <a:ext cx="10934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11111"/>
                </a:solidFill>
                <a:latin typeface="DejaVu Sans"/>
                <a:ea typeface="DejaVu Sans"/>
                <a:cs typeface="DejaVu Sans"/>
              </a:defRPr>
            </a:pPr>
            <a:r>
              <a:rPr sz="3300" b="1">
                <a:solidFill>
                  <a:srgbClr val="111111"/>
                </a:solidFill>
                <a:latin typeface="DejaVu Sans"/>
                <a:ea typeface="DejaVu Sans"/>
                <a:cs typeface="DejaVu Sans"/>
              </a:rPr>
              <a:t>Week 2 / V2: Athul</a:t>
            </a:r>
          </a:p>
        </p:txBody>
      </p:sp>
      <p:sp>
        <p:nvSpPr>
          <p:cNvPr id="2" name="Extract location, manage alerts and match report l">
            <a:extLst xmlns:a="http://schemas.openxmlformats.org/drawingml/2006/main">
              <a:ext uri="{FF2B5EF4-FFF2-40B4-BE49-F238E27FC236}">
                <a16:creationId xmlns:a16="http://schemas.microsoft.com/office/drawing/2014/main" id="{90450476-5915-4510-A732-E169FCE6135E}"/>
              </a:ext>
            </a:extLst>
          </p:cNvPr>
          <p:cNvSpPr>
            <a:spLocks xmlns:a="http://schemas.openxmlformats.org/drawingml/2006/main" noGrp="1"/>
          </p:cNvSpPr>
          <p:nvPr/>
        </p:nvSpPr>
        <p:spPr>
          <a:xfrm xmlns:a="http://schemas.openxmlformats.org/drawingml/2006/main">
            <a:off x="628650" y="13049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111111"/>
                </a:solidFill>
                <a:latin typeface="DejaVu Sans"/>
                <a:ea typeface="DejaVu Sans"/>
                <a:cs typeface="DejaVu Sans"/>
              </a:defRPr>
            </a:pPr>
            <a:r>
              <a:rPr sz="1800" b="0">
                <a:solidFill>
                  <a:srgbClr val="111111"/>
                </a:solidFill>
                <a:latin typeface="DejaVu Sans"/>
                <a:ea typeface="DejaVu Sans"/>
                <a:cs typeface="DejaVu Sans"/>
              </a:rPr>
              <a:t>Extract location, manage alerts and match report locations.</a:t>
            </a:r>
          </a:p>
        </p:txBody>
      </p:sp>
      <p:graphicFrame>
        <p:nvGraphicFramePr>
          <p:cNvPr id="9" name=""/>
          <p:cNvGraphicFramePr/>
          <p:nvPr/>
        </p:nvGraphicFramePr>
        <p:xfrm>
          <a:off xmlns:a="http://schemas.openxmlformats.org/drawingml/2006/main" x="628650" y="1771650"/>
          <a:ext xmlns:a="http://schemas.openxmlformats.org/drawingml/2006/main" cx="10934700" cy="3771900"/>
        </p:xfrm>
        <a:graphic xmlns:a="http://schemas.openxmlformats.org/drawingml/2006/main">
          <a:graphicData uri="http://schemas.openxmlformats.org/drawingml/2006/table">
            <a:tbl>
              <a:tblPr firstRow="1" bandRow="0"/>
              <a:tblGrid>
                <a:gridCol w="7067550"/>
                <a:gridCol w="3867150"/>
              </a:tblGrid>
              <a:tr h="419100">
                <a:tc>
                  <a:txBody>
                    <a:bodyPr/>
                    <a:lstStyle/>
                    <a:p>
                      <a:r>
                        <a:rPr sz="1800" b="1">
                          <a:solidFill>
                            <a:srgbClr val="111111"/>
                          </a:solidFill>
                          <a:latin typeface="DejaVu Sans"/>
                          <a:ea typeface="DejaVu Sans"/>
                          <a:cs typeface="DejaVu Sans"/>
                        </a:rPr>
                        <a:t>Project file</a:t>
                      </a:r>
                    </a:p>
                  </a:txBody>
                  <a:tcPr marL="114300" marR="114300" marT="47625" marB="47625" anchor="ctr">
                    <a:solidFill>
                      <a:srgbClr val="FFFFFF"/>
                    </a:solidFill>
                  </a:tcPr>
                </a:tc>
                <a:tc>
                  <a:txBody>
                    <a:bodyPr/>
                    <a:lstStyle/>
                    <a:p>
                      <a:r>
                        <a:rPr sz="1800" b="1">
                          <a:solidFill>
                            <a:srgbClr val="111111"/>
                          </a:solidFill>
                          <a:latin typeface="DejaVu Sans"/>
                          <a:ea typeface="DejaVu Sans"/>
                          <a:cs typeface="DejaVu Sans"/>
                        </a:rPr>
                        <a:t>Feature to reference</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backend/ai/location_extractor.py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Location / geography lookup</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data/raw/kerala_gazetteer.json</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Place aliases / source data</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backend/ai/agent.py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Extraction / alert tools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backend/routers/alerts.py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Create / edit / expire alerts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backend/services/alert_service.py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Active / current-area matching</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backend/models/alert.py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Alert table section</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backend/schemas/alert_schema.py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Alert input contracts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frontend/src/pages/admin/Alerts.jsx</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Admin alert management</a:t>
                      </a:r>
                    </a:p>
                  </a:txBody>
                  <a:tcPr marL="114300" marR="114300" marT="47625" marB="47625" anchor="ctr">
                    <a:solidFill>
                      <a:srgbClr val="FFFFFF"/>
                    </a:solidFill>
                  </a:tcPr>
                </a:tc>
              </a:tr>
            </a:tbl>
          </a:graphicData>
        </a:graphic>
      </p:graphicFrame>
      <p:sp>
        <p:nvSpPr>
          <p:cNvPr id="4" name="Demo: Demonstrate MATCH, NO_MATCH and UNCERTAIN wi">
            <a:extLst xmlns:a="http://schemas.openxmlformats.org/drawingml/2006/main">
              <a:ext uri="{FF2B5EF4-FFF2-40B4-BE49-F238E27FC236}">
                <a16:creationId xmlns:a16="http://schemas.microsoft.com/office/drawing/2014/main" id="{13FAF209-0702-4B19-8AE4-876D673A3487}"/>
              </a:ext>
            </a:extLst>
          </p:cNvPr>
          <p:cNvSpPr>
            <a:spLocks xmlns:a="http://schemas.openxmlformats.org/drawingml/2006/main" noGrp="1"/>
          </p:cNvSpPr>
          <p:nvPr/>
        </p:nvSpPr>
        <p:spPr>
          <a:xfrm xmlns:a="http://schemas.openxmlformats.org/drawingml/2006/main">
            <a:off x="666750" y="57340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111111"/>
                </a:solidFill>
                <a:latin typeface="DejaVu Sans"/>
                <a:ea typeface="DejaVu Sans"/>
                <a:cs typeface="DejaVu Sans"/>
              </a:defRPr>
            </a:pPr>
            <a:r>
              <a:rPr sz="1725" b="1">
                <a:solidFill>
                  <a:srgbClr val="111111"/>
                </a:solidFill>
                <a:latin typeface="DejaVu Sans"/>
                <a:ea typeface="DejaVu Sans"/>
                <a:cs typeface="DejaVu Sans"/>
              </a:rPr>
              <a:t>Demo: Demonstrate MATCH, NO_MATCH and UNCERTAIN without inventing a location.</a:t>
            </a:r>
          </a:p>
        </p:txBody>
      </p:sp>
      <p:sp>
        <p:nvSpPr>
          <p:cNvPr id="5" name="* Shared file: coordinate your feature with the ot">
            <a:extLst xmlns:a="http://schemas.openxmlformats.org/drawingml/2006/main">
              <a:ext uri="{FF2B5EF4-FFF2-40B4-BE49-F238E27FC236}">
                <a16:creationId xmlns:a16="http://schemas.microsoft.com/office/drawing/2014/main" id="{7946A96C-6FFF-486D-B254-633F6810204B}"/>
              </a:ext>
            </a:extLst>
          </p:cNvPr>
          <p:cNvSpPr>
            <a:spLocks xmlns:a="http://schemas.openxmlformats.org/drawingml/2006/main" noGrp="1"/>
          </p:cNvSpPr>
          <p:nvPr/>
        </p:nvSpPr>
        <p:spPr>
          <a:xfrm xmlns:a="http://schemas.openxmlformats.org/drawingml/2006/main">
            <a:off x="666750" y="619125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111111"/>
                </a:solidFill>
                <a:latin typeface="DejaVu Sans"/>
                <a:ea typeface="DejaVu Sans"/>
                <a:cs typeface="DejaVu Sans"/>
              </a:defRPr>
            </a:pPr>
            <a:r>
              <a:rPr sz="1350" b="0">
                <a:solidFill>
                  <a:srgbClr val="111111"/>
                </a:solidFill>
                <a:latin typeface="DejaVu Sans"/>
                <a:ea typeface="DejaVu Sans"/>
                <a:cs typeface="DejaVu Sans"/>
              </a:rPr>
              <a:t>* Shared file: coordinate your feature with the other members.</a:t>
            </a:r>
          </a:p>
        </p:txBody>
      </p:sp>
      <p:sp>
        <p:nvSpPr>
          <p:cNvPr id="6" name="11">
            <a:extLst xmlns:a="http://schemas.openxmlformats.org/drawingml/2006/main">
              <a:ext uri="{FF2B5EF4-FFF2-40B4-BE49-F238E27FC236}">
                <a16:creationId xmlns:a16="http://schemas.microsoft.com/office/drawing/2014/main" id="{4030D842-E055-48E4-907F-01B4C12454EB}"/>
              </a:ext>
            </a:extLst>
          </p:cNvPr>
          <p:cNvSpPr>
            <a:spLocks xmlns:a="http://schemas.openxmlformats.org/drawingml/2006/main" noGrp="1"/>
          </p:cNvSpPr>
          <p:nvPr/>
        </p:nvSpPr>
        <p:spPr>
          <a:xfrm xmlns:a="http://schemas.openxmlformats.org/drawingml/2006/main">
            <a:off x="110299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111111"/>
                </a:solidFill>
                <a:latin typeface="DejaVu Sans"/>
                <a:ea typeface="DejaVu Sans"/>
                <a:cs typeface="DejaVu Sans"/>
              </a:defRPr>
            </a:pPr>
            <a:r>
              <a:rPr sz="1275" b="0">
                <a:solidFill>
                  <a:srgbClr val="111111"/>
                </a:solidFill>
                <a:latin typeface="DejaVu Sans"/>
                <a:ea typeface="DejaVu Sans"/>
                <a:cs typeface="DejaVu Sans"/>
              </a:rPr>
              <a:t>11</a:t>
            </a:r>
          </a:p>
        </p:txBody>
      </p:sp>
    </p:spTree>
    <p:extLst>
      <p:ext uri="{BB962C8B-B14F-4D97-AF65-F5344CB8AC3E}">
        <p14:creationId xmlns:p14="http://schemas.microsoft.com/office/powerpoint/2010/main" val="149131897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Week 2 / V2: Arya">
            <a:extLst xmlns:a="http://schemas.openxmlformats.org/drawingml/2006/main">
              <a:ext uri="{FF2B5EF4-FFF2-40B4-BE49-F238E27FC236}">
                <a16:creationId xmlns:a16="http://schemas.microsoft.com/office/drawing/2014/main" id="{BE1ECF7F-AD86-4194-9B3F-8C33494D6F8C}"/>
              </a:ext>
            </a:extLst>
          </p:cNvPr>
          <p:cNvSpPr>
            <a:spLocks xmlns:a="http://schemas.openxmlformats.org/drawingml/2006/main" noGrp="1"/>
          </p:cNvSpPr>
          <p:nvPr/>
        </p:nvSpPr>
        <p:spPr>
          <a:xfrm xmlns:a="http://schemas.openxmlformats.org/drawingml/2006/main">
            <a:off x="628650" y="457200"/>
            <a:ext cx="10934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11111"/>
                </a:solidFill>
                <a:latin typeface="DejaVu Sans"/>
                <a:ea typeface="DejaVu Sans"/>
                <a:cs typeface="DejaVu Sans"/>
              </a:defRPr>
            </a:pPr>
            <a:r>
              <a:rPr sz="3300" b="1">
                <a:solidFill>
                  <a:srgbClr val="111111"/>
                </a:solidFill>
                <a:latin typeface="DejaVu Sans"/>
                <a:ea typeface="DejaVu Sans"/>
                <a:cs typeface="DejaVu Sans"/>
              </a:rPr>
              <a:t>Week 2 / V2: Arya</a:t>
            </a:r>
          </a:p>
        </p:txBody>
      </p:sp>
      <p:sp>
        <p:nvSpPr>
          <p:cNvPr id="2" name="Show AI results and add an investigation option.">
            <a:extLst xmlns:a="http://schemas.openxmlformats.org/drawingml/2006/main">
              <a:ext uri="{FF2B5EF4-FFF2-40B4-BE49-F238E27FC236}">
                <a16:creationId xmlns:a16="http://schemas.microsoft.com/office/drawing/2014/main" id="{7378C088-9572-4E9E-A6FA-B9E4B12985D0}"/>
              </a:ext>
            </a:extLst>
          </p:cNvPr>
          <p:cNvSpPr>
            <a:spLocks xmlns:a="http://schemas.openxmlformats.org/drawingml/2006/main" noGrp="1"/>
          </p:cNvSpPr>
          <p:nvPr/>
        </p:nvSpPr>
        <p:spPr>
          <a:xfrm xmlns:a="http://schemas.openxmlformats.org/drawingml/2006/main">
            <a:off x="628650" y="13049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111111"/>
                </a:solidFill>
                <a:latin typeface="DejaVu Sans"/>
                <a:ea typeface="DejaVu Sans"/>
                <a:cs typeface="DejaVu Sans"/>
              </a:defRPr>
            </a:pPr>
            <a:r>
              <a:rPr sz="1800" b="0">
                <a:solidFill>
                  <a:srgbClr val="111111"/>
                </a:solidFill>
                <a:latin typeface="DejaVu Sans"/>
                <a:ea typeface="DejaVu Sans"/>
                <a:cs typeface="DejaVu Sans"/>
              </a:rPr>
              <a:t>Show AI results and add an investigation option.</a:t>
            </a:r>
          </a:p>
        </p:txBody>
      </p:sp>
      <p:graphicFrame>
        <p:nvGraphicFramePr>
          <p:cNvPr id="9" name=""/>
          <p:cNvGraphicFramePr/>
          <p:nvPr/>
        </p:nvGraphicFramePr>
        <p:xfrm>
          <a:off xmlns:a="http://schemas.openxmlformats.org/drawingml/2006/main" x="628650" y="1771650"/>
          <a:ext xmlns:a="http://schemas.openxmlformats.org/drawingml/2006/main" cx="10934700" cy="3771900"/>
        </p:xfrm>
        <a:graphic xmlns:a="http://schemas.openxmlformats.org/drawingml/2006/main">
          <a:graphicData uri="http://schemas.openxmlformats.org/drawingml/2006/table">
            <a:tbl>
              <a:tblPr firstRow="1" bandRow="0"/>
              <a:tblGrid>
                <a:gridCol w="7067550"/>
                <a:gridCol w="3867150"/>
              </a:tblGrid>
              <a:tr h="419100">
                <a:tc>
                  <a:txBody>
                    <a:bodyPr/>
                    <a:lstStyle/>
                    <a:p>
                      <a:r>
                        <a:rPr sz="1800" b="1">
                          <a:solidFill>
                            <a:srgbClr val="111111"/>
                          </a:solidFill>
                          <a:latin typeface="DejaVu Sans"/>
                          <a:ea typeface="DejaVu Sans"/>
                          <a:cs typeface="DejaVu Sans"/>
                        </a:rPr>
                        <a:t>Project file</a:t>
                      </a:r>
                    </a:p>
                  </a:txBody>
                  <a:tcPr marL="114300" marR="114300" marT="47625" marB="47625" anchor="ctr">
                    <a:solidFill>
                      <a:srgbClr val="FFFFFF"/>
                    </a:solidFill>
                  </a:tcPr>
                </a:tc>
                <a:tc>
                  <a:txBody>
                    <a:bodyPr/>
                    <a:lstStyle/>
                    <a:p>
                      <a:r>
                        <a:rPr sz="1800" b="1">
                          <a:solidFill>
                            <a:srgbClr val="111111"/>
                          </a:solidFill>
                          <a:latin typeface="DejaVu Sans"/>
                          <a:ea typeface="DejaVu Sans"/>
                          <a:cs typeface="DejaVu Sans"/>
                        </a:rPr>
                        <a:t>Feature to reference</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frontend/src/components/shared/IncidentDetail.jsx</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Analysis / investigation UI</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frontend/src/pages/admin/IncidentQueue.jsx</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Review queue entry point</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frontend/src/components/shared/IncidentListView.jsx</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Priority / status display</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backend/routers/incidents.py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Analysis / review / findings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backend/schemas/incident_schema.py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Review / findings inputs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backend/models/incident.py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Analysis / investigation data</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backend/services/team_service.py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Investigation assignment</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backend/tests/test_extended.py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Investigation / access cases</a:t>
                      </a:r>
                    </a:p>
                  </a:txBody>
                  <a:tcPr marL="114300" marR="114300" marT="47625" marB="47625" anchor="ctr">
                    <a:solidFill>
                      <a:srgbClr val="FFFFFF"/>
                    </a:solidFill>
                  </a:tcPr>
                </a:tc>
              </a:tr>
            </a:tbl>
          </a:graphicData>
        </a:graphic>
      </p:graphicFrame>
      <p:sp>
        <p:nvSpPr>
          <p:cNvPr id="4" name="Demo: Review analysis, assign investigation and re">
            <a:extLst xmlns:a="http://schemas.openxmlformats.org/drawingml/2006/main">
              <a:ext uri="{FF2B5EF4-FFF2-40B4-BE49-F238E27FC236}">
                <a16:creationId xmlns:a16="http://schemas.microsoft.com/office/drawing/2014/main" id="{3411758D-93FA-4B7C-82A8-74DD54AFBC41}"/>
              </a:ext>
            </a:extLst>
          </p:cNvPr>
          <p:cNvSpPr>
            <a:spLocks xmlns:a="http://schemas.openxmlformats.org/drawingml/2006/main" noGrp="1"/>
          </p:cNvSpPr>
          <p:nvPr/>
        </p:nvSpPr>
        <p:spPr>
          <a:xfrm xmlns:a="http://schemas.openxmlformats.org/drawingml/2006/main">
            <a:off x="666750" y="57340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111111"/>
                </a:solidFill>
                <a:latin typeface="DejaVu Sans"/>
                <a:ea typeface="DejaVu Sans"/>
                <a:cs typeface="DejaVu Sans"/>
              </a:defRPr>
            </a:pPr>
            <a:r>
              <a:rPr sz="1725" b="1">
                <a:solidFill>
                  <a:srgbClr val="111111"/>
                </a:solidFill>
                <a:latin typeface="DejaVu Sans"/>
                <a:ea typeface="DejaVu Sans"/>
                <a:cs typeface="DejaVu Sans"/>
              </a:rPr>
              <a:t>Demo: Review analysis, assign investigation and record verified findings.</a:t>
            </a:r>
          </a:p>
        </p:txBody>
      </p:sp>
      <p:sp>
        <p:nvSpPr>
          <p:cNvPr id="5" name="* Shared file: coordinate your feature with the ot">
            <a:extLst xmlns:a="http://schemas.openxmlformats.org/drawingml/2006/main">
              <a:ext uri="{FF2B5EF4-FFF2-40B4-BE49-F238E27FC236}">
                <a16:creationId xmlns:a16="http://schemas.microsoft.com/office/drawing/2014/main" id="{2AA9308C-6C31-4DB5-A7F0-F7B64D97E23F}"/>
              </a:ext>
            </a:extLst>
          </p:cNvPr>
          <p:cNvSpPr>
            <a:spLocks xmlns:a="http://schemas.openxmlformats.org/drawingml/2006/main" noGrp="1"/>
          </p:cNvSpPr>
          <p:nvPr/>
        </p:nvSpPr>
        <p:spPr>
          <a:xfrm xmlns:a="http://schemas.openxmlformats.org/drawingml/2006/main">
            <a:off x="666750" y="619125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111111"/>
                </a:solidFill>
                <a:latin typeface="DejaVu Sans"/>
                <a:ea typeface="DejaVu Sans"/>
                <a:cs typeface="DejaVu Sans"/>
              </a:defRPr>
            </a:pPr>
            <a:r>
              <a:rPr sz="1350" b="0">
                <a:solidFill>
                  <a:srgbClr val="111111"/>
                </a:solidFill>
                <a:latin typeface="DejaVu Sans"/>
                <a:ea typeface="DejaVu Sans"/>
                <a:cs typeface="DejaVu Sans"/>
              </a:rPr>
              <a:t>* Shared file: coordinate your feature with the other members.</a:t>
            </a:r>
          </a:p>
        </p:txBody>
      </p:sp>
      <p:sp>
        <p:nvSpPr>
          <p:cNvPr id="6" name="12">
            <a:extLst xmlns:a="http://schemas.openxmlformats.org/drawingml/2006/main">
              <a:ext uri="{FF2B5EF4-FFF2-40B4-BE49-F238E27FC236}">
                <a16:creationId xmlns:a16="http://schemas.microsoft.com/office/drawing/2014/main" id="{408CCE2C-93F2-4964-9AB2-74D051FF2810}"/>
              </a:ext>
            </a:extLst>
          </p:cNvPr>
          <p:cNvSpPr>
            <a:spLocks xmlns:a="http://schemas.openxmlformats.org/drawingml/2006/main" noGrp="1"/>
          </p:cNvSpPr>
          <p:nvPr/>
        </p:nvSpPr>
        <p:spPr>
          <a:xfrm xmlns:a="http://schemas.openxmlformats.org/drawingml/2006/main">
            <a:off x="110299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111111"/>
                </a:solidFill>
                <a:latin typeface="DejaVu Sans"/>
                <a:ea typeface="DejaVu Sans"/>
                <a:cs typeface="DejaVu Sans"/>
              </a:defRPr>
            </a:pPr>
            <a:r>
              <a:rPr sz="1275" b="0">
                <a:solidFill>
                  <a:srgbClr val="111111"/>
                </a:solidFill>
                <a:latin typeface="DejaVu Sans"/>
                <a:ea typeface="DejaVu Sans"/>
                <a:cs typeface="DejaVu Sans"/>
              </a:rPr>
              <a:t>12</a:t>
            </a:r>
          </a:p>
        </p:txBody>
      </p:sp>
    </p:spTree>
    <p:extLst>
      <p:ext uri="{BB962C8B-B14F-4D97-AF65-F5344CB8AC3E}">
        <p14:creationId xmlns:p14="http://schemas.microsoft.com/office/powerpoint/2010/main" val="102806688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Week 2 / V2: Maanaz">
            <a:extLst xmlns:a="http://schemas.openxmlformats.org/drawingml/2006/main">
              <a:ext uri="{FF2B5EF4-FFF2-40B4-BE49-F238E27FC236}">
                <a16:creationId xmlns:a16="http://schemas.microsoft.com/office/drawing/2014/main" id="{72401271-25A0-4E29-82B3-86334024F337}"/>
              </a:ext>
            </a:extLst>
          </p:cNvPr>
          <p:cNvSpPr>
            <a:spLocks xmlns:a="http://schemas.openxmlformats.org/drawingml/2006/main" noGrp="1"/>
          </p:cNvSpPr>
          <p:nvPr/>
        </p:nvSpPr>
        <p:spPr>
          <a:xfrm xmlns:a="http://schemas.openxmlformats.org/drawingml/2006/main">
            <a:off x="628650" y="457200"/>
            <a:ext cx="10934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11111"/>
                </a:solidFill>
                <a:latin typeface="DejaVu Sans"/>
                <a:ea typeface="DejaVu Sans"/>
                <a:cs typeface="DejaVu Sans"/>
              </a:defRPr>
            </a:pPr>
            <a:r>
              <a:rPr sz="3300" b="1">
                <a:solidFill>
                  <a:srgbClr val="111111"/>
                </a:solidFill>
                <a:latin typeface="DejaVu Sans"/>
                <a:ea typeface="DejaVu Sans"/>
                <a:cs typeface="DejaVu Sans"/>
              </a:rPr>
              <a:t>Week 2 / V2: Maanaz</a:t>
            </a:r>
          </a:p>
        </p:txBody>
      </p:sp>
      <p:sp>
        <p:nvSpPr>
          <p:cNvPr id="2" name="Generate short summaries and display analysis resu">
            <a:extLst xmlns:a="http://schemas.openxmlformats.org/drawingml/2006/main">
              <a:ext uri="{FF2B5EF4-FFF2-40B4-BE49-F238E27FC236}">
                <a16:creationId xmlns:a16="http://schemas.microsoft.com/office/drawing/2014/main" id="{B47B9700-9BB2-4728-B2EE-DA5994C71E30}"/>
              </a:ext>
            </a:extLst>
          </p:cNvPr>
          <p:cNvSpPr>
            <a:spLocks xmlns:a="http://schemas.openxmlformats.org/drawingml/2006/main" noGrp="1"/>
          </p:cNvSpPr>
          <p:nvPr/>
        </p:nvSpPr>
        <p:spPr>
          <a:xfrm xmlns:a="http://schemas.openxmlformats.org/drawingml/2006/main">
            <a:off x="628650" y="13049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111111"/>
                </a:solidFill>
                <a:latin typeface="DejaVu Sans"/>
                <a:ea typeface="DejaVu Sans"/>
                <a:cs typeface="DejaVu Sans"/>
              </a:defRPr>
            </a:pPr>
            <a:r>
              <a:rPr sz="1800" b="0">
                <a:solidFill>
                  <a:srgbClr val="111111"/>
                </a:solidFill>
                <a:latin typeface="DejaVu Sans"/>
                <a:ea typeface="DejaVu Sans"/>
                <a:cs typeface="DejaVu Sans"/>
              </a:rPr>
              <a:t>Generate short summaries and display analysis results.</a:t>
            </a:r>
          </a:p>
        </p:txBody>
      </p:sp>
      <p:graphicFrame>
        <p:nvGraphicFramePr>
          <p:cNvPr id="9" name=""/>
          <p:cNvGraphicFramePr/>
          <p:nvPr/>
        </p:nvGraphicFramePr>
        <p:xfrm>
          <a:off xmlns:a="http://schemas.openxmlformats.org/drawingml/2006/main" x="628650" y="1771650"/>
          <a:ext xmlns:a="http://schemas.openxmlformats.org/drawingml/2006/main" cx="10934700" cy="3771900"/>
        </p:xfrm>
        <a:graphic xmlns:a="http://schemas.openxmlformats.org/drawingml/2006/main">
          <a:graphicData uri="http://schemas.openxmlformats.org/drawingml/2006/table">
            <a:tbl>
              <a:tblPr firstRow="1" bandRow="0"/>
              <a:tblGrid>
                <a:gridCol w="7067550"/>
                <a:gridCol w="3867150"/>
              </a:tblGrid>
              <a:tr h="419100">
                <a:tc>
                  <a:txBody>
                    <a:bodyPr/>
                    <a:lstStyle/>
                    <a:p>
                      <a:r>
                        <a:rPr sz="1800" b="1">
                          <a:solidFill>
                            <a:srgbClr val="111111"/>
                          </a:solidFill>
                          <a:latin typeface="DejaVu Sans"/>
                          <a:ea typeface="DejaVu Sans"/>
                          <a:cs typeface="DejaVu Sans"/>
                        </a:rPr>
                        <a:t>Project file</a:t>
                      </a:r>
                    </a:p>
                  </a:txBody>
                  <a:tcPr marL="114300" marR="114300" marT="47625" marB="47625" anchor="ctr">
                    <a:solidFill>
                      <a:srgbClr val="FFFFFF"/>
                    </a:solidFill>
                  </a:tcPr>
                </a:tc>
                <a:tc>
                  <a:txBody>
                    <a:bodyPr/>
                    <a:lstStyle/>
                    <a:p>
                      <a:r>
                        <a:rPr sz="1800" b="1">
                          <a:solidFill>
                            <a:srgbClr val="111111"/>
                          </a:solidFill>
                          <a:latin typeface="DejaVu Sans"/>
                          <a:ea typeface="DejaVu Sans"/>
                          <a:cs typeface="DejaVu Sans"/>
                        </a:rPr>
                        <a:t>Feature to reference</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backend/ai/summarizer.py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Summary wrapper / fallback</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backend/ai/agent.py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Gemma summary tool</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backend/routers/chatbot.py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Authenticated summary helper</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backend/routers/incidents.py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Save the analysis packet</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backend/models/incident.py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Current / historical analysis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backend/services/incident_service.py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Role-appropriate results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frontend/src/components/shared/IncidentDetail.jsx</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Summary / revision display</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backend/tests/test_ai.py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Generation-failure cases</a:t>
                      </a:r>
                    </a:p>
                  </a:txBody>
                  <a:tcPr marL="114300" marR="114300" marT="47625" marB="47625" anchor="ctr">
                    <a:solidFill>
                      <a:srgbClr val="FFFFFF"/>
                    </a:solidFill>
                  </a:tcPr>
                </a:tc>
              </a:tr>
            </a:tbl>
          </a:graphicData>
        </a:graphic>
      </p:graphicFrame>
      <p:sp>
        <p:nvSpPr>
          <p:cNvPr id="4" name="Demo: Compare original text with its summary; show">
            <a:extLst xmlns:a="http://schemas.openxmlformats.org/drawingml/2006/main">
              <a:ext uri="{FF2B5EF4-FFF2-40B4-BE49-F238E27FC236}">
                <a16:creationId xmlns:a16="http://schemas.microsoft.com/office/drawing/2014/main" id="{1BD62889-829F-4713-BD79-AF44B61A0870}"/>
              </a:ext>
            </a:extLst>
          </p:cNvPr>
          <p:cNvSpPr>
            <a:spLocks xmlns:a="http://schemas.openxmlformats.org/drawingml/2006/main" noGrp="1"/>
          </p:cNvSpPr>
          <p:nvPr/>
        </p:nvSpPr>
        <p:spPr>
          <a:xfrm xmlns:a="http://schemas.openxmlformats.org/drawingml/2006/main">
            <a:off x="666750" y="57340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111111"/>
                </a:solidFill>
                <a:latin typeface="DejaVu Sans"/>
                <a:ea typeface="DejaVu Sans"/>
                <a:cs typeface="DejaVu Sans"/>
              </a:defRPr>
            </a:pPr>
            <a:r>
              <a:rPr sz="1725" b="1">
                <a:solidFill>
                  <a:srgbClr val="111111"/>
                </a:solidFill>
                <a:latin typeface="DejaVu Sans"/>
                <a:ea typeface="DejaVu Sans"/>
                <a:cs typeface="DejaVu Sans"/>
              </a:rPr>
              <a:t>Demo: Compare original text with its summary; show provisional output when needed.</a:t>
            </a:r>
          </a:p>
        </p:txBody>
      </p:sp>
      <p:sp>
        <p:nvSpPr>
          <p:cNvPr id="5" name="* Shared file: coordinate your feature with the ot">
            <a:extLst xmlns:a="http://schemas.openxmlformats.org/drawingml/2006/main">
              <a:ext uri="{FF2B5EF4-FFF2-40B4-BE49-F238E27FC236}">
                <a16:creationId xmlns:a16="http://schemas.microsoft.com/office/drawing/2014/main" id="{0AADE25D-E4F9-4949-A495-44A6AEDCB851}"/>
              </a:ext>
            </a:extLst>
          </p:cNvPr>
          <p:cNvSpPr>
            <a:spLocks xmlns:a="http://schemas.openxmlformats.org/drawingml/2006/main" noGrp="1"/>
          </p:cNvSpPr>
          <p:nvPr/>
        </p:nvSpPr>
        <p:spPr>
          <a:xfrm xmlns:a="http://schemas.openxmlformats.org/drawingml/2006/main">
            <a:off x="666750" y="619125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111111"/>
                </a:solidFill>
                <a:latin typeface="DejaVu Sans"/>
                <a:ea typeface="DejaVu Sans"/>
                <a:cs typeface="DejaVu Sans"/>
              </a:defRPr>
            </a:pPr>
            <a:r>
              <a:rPr sz="1350" b="0">
                <a:solidFill>
                  <a:srgbClr val="111111"/>
                </a:solidFill>
                <a:latin typeface="DejaVu Sans"/>
                <a:ea typeface="DejaVu Sans"/>
                <a:cs typeface="DejaVu Sans"/>
              </a:rPr>
              <a:t>* Shared file: coordinate your feature with the other members.</a:t>
            </a:r>
          </a:p>
        </p:txBody>
      </p:sp>
      <p:sp>
        <p:nvSpPr>
          <p:cNvPr id="6" name="13">
            <a:extLst xmlns:a="http://schemas.openxmlformats.org/drawingml/2006/main">
              <a:ext uri="{FF2B5EF4-FFF2-40B4-BE49-F238E27FC236}">
                <a16:creationId xmlns:a16="http://schemas.microsoft.com/office/drawing/2014/main" id="{0AB58077-0538-4F45-A571-D14540B95A88}"/>
              </a:ext>
            </a:extLst>
          </p:cNvPr>
          <p:cNvSpPr>
            <a:spLocks xmlns:a="http://schemas.openxmlformats.org/drawingml/2006/main" noGrp="1"/>
          </p:cNvSpPr>
          <p:nvPr/>
        </p:nvSpPr>
        <p:spPr>
          <a:xfrm xmlns:a="http://schemas.openxmlformats.org/drawingml/2006/main">
            <a:off x="110299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111111"/>
                </a:solidFill>
                <a:latin typeface="DejaVu Sans"/>
                <a:ea typeface="DejaVu Sans"/>
                <a:cs typeface="DejaVu Sans"/>
              </a:defRPr>
            </a:pPr>
            <a:r>
              <a:rPr sz="1275" b="0">
                <a:solidFill>
                  <a:srgbClr val="111111"/>
                </a:solidFill>
                <a:latin typeface="DejaVu Sans"/>
                <a:ea typeface="DejaVu Sans"/>
                <a:cs typeface="DejaVu Sans"/>
              </a:rPr>
              <a:t>13</a:t>
            </a:r>
          </a:p>
        </p:txBody>
      </p:sp>
    </p:spTree>
    <p:extLst>
      <p:ext uri="{BB962C8B-B14F-4D97-AF65-F5344CB8AC3E}">
        <p14:creationId xmlns:p14="http://schemas.microsoft.com/office/powerpoint/2010/main" val="35558934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Rectangle 4">
            <a:extLst xmlns:a="http://schemas.openxmlformats.org/drawingml/2006/main">
              <a:ext uri="{FF2B5EF4-FFF2-40B4-BE49-F238E27FC236}">
                <a16:creationId xmlns:a16="http://schemas.microsoft.com/office/drawing/2014/main" id="{B3CB7908-8C74-4E65-8FEC-79E6DEFB300A}"/>
              </a:ext>
            </a:extLst>
          </p:cNvPr>
          <p:cNvSpPr>
            <a:spLocks xmlns:a="http://schemas.openxmlformats.org/drawingml/2006/main" noGrp="1"/>
          </p:cNvSpPr>
          <p:nvPr/>
        </p:nvSpPr>
        <p:spPr>
          <a:xfrm xmlns:a="http://schemas.openxmlformats.org/drawingml/2006/main">
            <a:off x="628650" y="457200"/>
            <a:ext cx="10934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00000"/>
                </a:solidFill>
                <a:latin typeface="DejaVu Sans"/>
                <a:ea typeface="DejaVu Sans"/>
                <a:cs typeface="DejaVu Sans"/>
              </a:defRPr>
            </a:pPr>
            <a:r>
              <a:rPr sz="3300" b="1">
                <a:solidFill>
                  <a:srgbClr val="000000"/>
                </a:solidFill>
                <a:latin typeface="DejaVu Sans"/>
                <a:ea typeface="DejaVu Sans"/>
                <a:cs typeface="DejaVu Sans"/>
              </a:rPr>
              <a:t>Week 3: help services</a:t>
            </a:r>
          </a:p>
        </p:txBody>
      </p:sp>
      <p:sp>
        <p:nvSpPr>
          <p:cNvPr id="2" name="Rectangle 1">
            <a:extLst xmlns:a="http://schemas.openxmlformats.org/drawingml/2006/main">
              <a:ext uri="{FF2B5EF4-FFF2-40B4-BE49-F238E27FC236}">
                <a16:creationId xmlns:a16="http://schemas.microsoft.com/office/drawing/2014/main" id="{EC57B332-471B-44A9-9BF3-BADBC4805ADD}"/>
              </a:ext>
            </a:extLst>
          </p:cNvPr>
          <p:cNvSpPr>
            <a:spLocks xmlns:a="http://schemas.openxmlformats.org/drawingml/2006/main" noGrp="1"/>
          </p:cNvSpPr>
          <p:nvPr/>
        </p:nvSpPr>
        <p:spPr>
          <a:xfrm xmlns:a="http://schemas.openxmlformats.org/drawingml/2006/main">
            <a:off x="110299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111111"/>
                </a:solidFill>
                <a:latin typeface="DejaVu Sans"/>
                <a:ea typeface="DejaVu Sans"/>
                <a:cs typeface="DejaVu Sans"/>
              </a:defRPr>
            </a:pPr>
            <a:r>
              <a:rPr sz="1275" b="0">
                <a:solidFill>
                  <a:srgbClr val="111111"/>
                </a:solidFill>
                <a:latin typeface="DejaVu Sans"/>
                <a:ea typeface="DejaVu Sans"/>
                <a:cs typeface="DejaVu Sans"/>
              </a:rPr>
              <a:t>14</a:t>
            </a:r>
          </a:p>
        </p:txBody>
      </p:sp>
      <p:graphicFrame>
        <p:nvGraphicFramePr>
          <p:cNvPr id="9" name="Table 6"/>
          <p:cNvGraphicFramePr/>
          <p:nvPr/>
        </p:nvGraphicFramePr>
        <p:xfrm>
          <a:off xmlns:a="http://schemas.openxmlformats.org/drawingml/2006/main" x="628650" y="1581150"/>
          <a:ext xmlns:a="http://schemas.openxmlformats.org/drawingml/2006/main" cx="10934700" cy="3928110"/>
        </p:xfrm>
        <a:graphic xmlns:a="http://schemas.openxmlformats.org/drawingml/2006/main">
          <a:graphicData uri="http://schemas.openxmlformats.org/drawingml/2006/table">
            <a:tbl>
              <a:tblPr/>
              <a:tblGrid>
                <a:gridCol w="1666875"/>
                <a:gridCol w="5572125"/>
                <a:gridCol w="3695700"/>
              </a:tblGrid>
              <a:tr h="742950">
                <a:tc>
                  <a:txBody>
                    <a:bodyPr/>
                    <a:lstStyle/>
                    <a:p>
                      <a:r>
                        <a:rPr sz="1800" b="1">
                          <a:solidFill>
                            <a:schemeClr val="tx1">
                              <a:lumMod val="95000"/>
                              <a:lumOff val="5000"/>
                            </a:schemeClr>
                          </a:solidFill>
                          <a:latin typeface="DejaVu Sans"/>
                          <a:ea typeface="DejaVu Sans"/>
                          <a:cs typeface="DejaVu Sans"/>
                        </a:rPr>
                        <a:t>Member</a:t>
                      </a:r>
                    </a:p>
                  </a:txBody>
                  <a:tcPr marL="114300" marR="114300" marT="47625" marB="47625">
                    <a:solidFill>
                      <a:schemeClr val="bg1"/>
                    </a:solidFill>
                  </a:tcPr>
                </a:tc>
                <a:tc>
                  <a:txBody>
                    <a:bodyPr/>
                    <a:lstStyle/>
                    <a:p>
                      <a:r>
                        <a:rPr sz="1800" b="1">
                          <a:solidFill>
                            <a:schemeClr val="tx1">
                              <a:lumMod val="95000"/>
                              <a:lumOff val="5000"/>
                            </a:schemeClr>
                          </a:solidFill>
                          <a:latin typeface="DejaVu Sans"/>
                          <a:ea typeface="DejaVu Sans"/>
                          <a:cs typeface="DejaVu Sans"/>
                        </a:rPr>
                        <a:t>Work for the week</a:t>
                      </a:r>
                    </a:p>
                  </a:txBody>
                  <a:tcPr marL="114300" marR="114300" marT="47625" marB="47625">
                    <a:solidFill>
                      <a:schemeClr val="bg1"/>
                    </a:solidFill>
                  </a:tcPr>
                </a:tc>
                <a:tc>
                  <a:txBody>
                    <a:bodyPr/>
                    <a:lstStyle/>
                    <a:p>
                      <a:r>
                        <a:rPr sz="1800" b="1">
                          <a:solidFill>
                            <a:schemeClr val="tx1">
                              <a:lumMod val="95000"/>
                              <a:lumOff val="5000"/>
                            </a:schemeClr>
                          </a:solidFill>
                          <a:latin typeface="DejaVu Sans"/>
                          <a:ea typeface="DejaVu Sans"/>
                          <a:cs typeface="DejaVu Sans"/>
                        </a:rPr>
                        <a:t>Result to show</a:t>
                      </a:r>
                    </a:p>
                  </a:txBody>
                  <a:tcPr marL="114300" marR="114300" marT="47625" marB="47625">
                    <a:solidFill>
                      <a:schemeClr val="bg1"/>
                    </a:solidFill>
                  </a:tcPr>
                </a:tc>
              </a:tr>
              <a:tr h="742950">
                <a:tc>
                  <a:txBody>
                    <a:bodyPr/>
                    <a:lstStyle/>
                    <a:p>
                      <a:pPr marL="0" marR="0" lvl="0" indent="0" algn="l" defTabSz="914400">
                        <a:lnSpc>
                          <a:spcPct val="100000"/>
                        </a:lnSpc>
                        <a:spcBef>
                          <a:spcPts val="0"/>
                        </a:spcBef>
                        <a:spcAft>
                          <a:spcPts val="0"/>
                        </a:spcAft>
                        <a:buClrTx/>
                        <a:buSzTx/>
                        <a:buFontTx/>
                        <a:buNone/>
                      </a:pPr>
                      <a:r>
                        <a:rPr sz="1800">
                          <a:solidFill>
                            <a:srgbClr val="000000"/>
                          </a:solidFill>
                          <a:latin typeface="DejaVu Sans"/>
                          <a:ea typeface="DejaVu Sans"/>
                          <a:cs typeface="DejaVu Sans"/>
                        </a:rPr>
                        <a:t>Maanaz</a:t>
                      </a:r>
                      <a:endParaRPr sz="1800">
                        <a:solidFill>
                          <a:srgbClr val="000000"/>
                        </a:solidFill>
                        <a:latin typeface="DejaVu Sans"/>
                        <a:ea typeface="DejaVu Sans"/>
                        <a:cs typeface="DejaVu Sans"/>
                      </a:endParaRPr>
                    </a:p>
                    <a:p>
                      <a:endParaRPr sz="1800">
                        <a:solidFill>
                          <a:srgbClr val="000000"/>
                        </a:solidFill>
                        <a:latin typeface="DejaVu Sans"/>
                        <a:ea typeface="DejaVu Sans"/>
                        <a:cs typeface="DejaVu Sans"/>
                      </a:endParaRPr>
                    </a:p>
                  </a:txBody>
                  <a:tcPr marL="114300" marR="114300" marT="47625" marB="47625">
                    <a:solidFill>
                      <a:srgbClr val="FFFFFF"/>
                    </a:solidFill>
                  </a:tcPr>
                </a:tc>
                <a:tc>
                  <a:txBody>
                    <a:bodyPr/>
                    <a:lstStyle/>
                    <a:p>
                      <a:r>
                        <a:rPr sz="1800">
                          <a:solidFill>
                            <a:srgbClr val="000000"/>
                          </a:solidFill>
                          <a:latin typeface="DejaVu Sans"/>
                          <a:ea typeface="DejaVu Sans"/>
                          <a:cs typeface="DejaVu Sans"/>
                        </a:rPr>
                        <a:t>Test difficult messages and improve model handling.</a:t>
                      </a:r>
                    </a:p>
                  </a:txBody>
                  <a:tcPr marL="114300" marR="114300" marT="47625" marB="47625">
                    <a:solidFill>
                      <a:srgbClr val="FFFFFF"/>
                    </a:solidFill>
                  </a:tcPr>
                </a:tc>
                <a:tc>
                  <a:txBody>
                    <a:bodyPr/>
                    <a:lstStyle/>
                    <a:p>
                      <a:r>
                        <a:rPr sz="1800">
                          <a:solidFill>
                            <a:srgbClr val="000000"/>
                          </a:solidFill>
                          <a:latin typeface="DejaVu Sans"/>
                          <a:ea typeface="DejaVu Sans"/>
                          <a:cs typeface="DejaVu Sans"/>
                        </a:rPr>
                        <a:t>Flag uncertain results for review.</a:t>
                      </a:r>
                    </a:p>
                  </a:txBody>
                  <a:tcPr marL="114300" marR="114300" marT="47625" marB="47625">
                    <a:solidFill>
                      <a:srgbClr val="FFFFFF"/>
                    </a:solidFill>
                  </a:tcPr>
                </a:tc>
              </a:tr>
              <a:tr h="742950">
                <a:tc>
                  <a:txBody>
                    <a:bodyPr/>
                    <a:lstStyle/>
                    <a:p>
                      <a:pPr marL="0" marR="0" lvl="0" indent="0" algn="l" defTabSz="914400">
                        <a:lnSpc>
                          <a:spcPct val="100000"/>
                        </a:lnSpc>
                        <a:spcBef>
                          <a:spcPts val="0"/>
                        </a:spcBef>
                        <a:spcAft>
                          <a:spcPts val="0"/>
                        </a:spcAft>
                        <a:buClrTx/>
                        <a:buSzTx/>
                        <a:buFontTx/>
                        <a:buNone/>
                      </a:pPr>
                      <a:r>
                        <a:rPr sz="1800">
                          <a:solidFill>
                            <a:srgbClr val="000000"/>
                          </a:solidFill>
                          <a:latin typeface="DejaVu Sans"/>
                          <a:ea typeface="DejaVu Sans"/>
                          <a:cs typeface="DejaVu Sans"/>
                        </a:rPr>
                        <a:t>Vidya</a:t>
                      </a:r>
                    </a:p>
                    <a:p>
                      <a:endParaRPr sz="1800">
                        <a:solidFill>
                          <a:srgbClr val="000000"/>
                        </a:solidFill>
                        <a:latin typeface="DejaVu Sans"/>
                        <a:ea typeface="DejaVu Sans"/>
                        <a:cs typeface="DejaVu Sans"/>
                      </a:endParaRPr>
                    </a:p>
                  </a:txBody>
                  <a:tcPr marL="114300" marR="114300" marT="47625" marB="47625">
                    <a:solidFill>
                      <a:srgbClr val="FFFFFF"/>
                    </a:solidFill>
                  </a:tcPr>
                </a:tc>
                <a:tc>
                  <a:txBody>
                    <a:bodyPr/>
                    <a:lstStyle/>
                    <a:p>
                      <a:r>
                        <a:rPr sz="1800">
                          <a:solidFill>
                            <a:srgbClr val="000000"/>
                          </a:solidFill>
                          <a:latin typeface="DejaVu Sans"/>
                          <a:ea typeface="DejaVu Sans"/>
                          <a:cs typeface="DejaVu Sans"/>
                        </a:rPr>
                        <a:t>Connect rescue, relief and shelter APIs with permissions.</a:t>
                      </a:r>
                    </a:p>
                  </a:txBody>
                  <a:tcPr marL="114300" marR="114300" marT="47625" marB="47625">
                    <a:solidFill>
                      <a:srgbClr val="FFFFFF"/>
                    </a:solidFill>
                  </a:tcPr>
                </a:tc>
                <a:tc>
                  <a:txBody>
                    <a:bodyPr/>
                    <a:lstStyle/>
                    <a:p>
                      <a:r>
                        <a:rPr sz="1800">
                          <a:solidFill>
                            <a:srgbClr val="000000"/>
                          </a:solidFill>
                          <a:latin typeface="DejaVu Sans"/>
                          <a:ea typeface="DejaVu Sans"/>
                          <a:cs typeface="DejaVu Sans"/>
                        </a:rPr>
                        <a:t>Save service requests and updates.</a:t>
                      </a:r>
                    </a:p>
                  </a:txBody>
                  <a:tcPr marL="114300" marR="114300" marT="47625" marB="47625">
                    <a:solidFill>
                      <a:srgbClr val="FFFFFF"/>
                    </a:solidFill>
                  </a:tcPr>
                </a:tc>
              </a:tr>
              <a:tr h="742950">
                <a:tc>
                  <a:txBody>
                    <a:bodyPr/>
                    <a:lstStyle/>
                    <a:p>
                      <a:pPr marL="0" marR="0" lvl="0" indent="0" algn="l" defTabSz="914400">
                        <a:lnSpc>
                          <a:spcPct val="100000"/>
                        </a:lnSpc>
                        <a:spcBef>
                          <a:spcPts val="0"/>
                        </a:spcBef>
                        <a:spcAft>
                          <a:spcPts val="0"/>
                        </a:spcAft>
                        <a:buClrTx/>
                        <a:buSzTx/>
                        <a:buFontTx/>
                        <a:buNone/>
                      </a:pPr>
                      <a:r>
                        <a:rPr sz="1800">
                          <a:solidFill>
                            <a:srgbClr val="000000"/>
                          </a:solidFill>
                          <a:latin typeface="DejaVu Sans"/>
                          <a:ea typeface="DejaVu Sans"/>
                          <a:cs typeface="DejaVu Sans"/>
                        </a:rPr>
                        <a:t>Athul</a:t>
                      </a:r>
                    </a:p>
                    <a:p>
                      <a:endParaRPr sz="1800">
                        <a:solidFill>
                          <a:srgbClr val="000000"/>
                        </a:solidFill>
                        <a:latin typeface="DejaVu Sans"/>
                        <a:ea typeface="DejaVu Sans"/>
                        <a:cs typeface="DejaVu Sans"/>
                      </a:endParaRPr>
                    </a:p>
                  </a:txBody>
                  <a:tcPr marL="114300" marR="114300" marT="47625" marB="47625">
                    <a:solidFill>
                      <a:srgbClr val="FFFFFF"/>
                    </a:solidFill>
                  </a:tcPr>
                </a:tc>
                <a:tc>
                  <a:txBody>
                    <a:bodyPr/>
                    <a:lstStyle/>
                    <a:p>
                      <a:r>
                        <a:rPr sz="1800">
                          <a:solidFill>
                            <a:srgbClr val="000000"/>
                          </a:solidFill>
                          <a:latin typeface="DejaVu Sans"/>
                          <a:ea typeface="DejaVu Sans"/>
                          <a:cs typeface="DejaVu Sans"/>
                        </a:rPr>
                        <a:t>Build rescue progress, inventory and relief distribution.</a:t>
                      </a:r>
                    </a:p>
                  </a:txBody>
                  <a:tcPr marL="114300" marR="114300" marT="47625" marB="47625">
                    <a:solidFill>
                      <a:srgbClr val="FFFFFF"/>
                    </a:solidFill>
                  </a:tcPr>
                </a:tc>
                <a:tc>
                  <a:txBody>
                    <a:bodyPr/>
                    <a:lstStyle/>
                    <a:p>
                      <a:r>
                        <a:rPr sz="1800">
                          <a:solidFill>
                            <a:srgbClr val="000000"/>
                          </a:solidFill>
                          <a:latin typeface="DejaVu Sans"/>
                          <a:ea typeface="DejaVu Sans"/>
                          <a:cs typeface="DejaVu Sans"/>
                        </a:rPr>
                        <a:t>Track team action and supplied items.</a:t>
                      </a:r>
                    </a:p>
                  </a:txBody>
                  <a:tcPr marL="114300" marR="114300" marT="47625" marB="47625">
                    <a:solidFill>
                      <a:srgbClr val="FFFFFF"/>
                    </a:solidFill>
                  </a:tcPr>
                </a:tc>
              </a:tr>
              <a:tr h="742950">
                <a:tc>
                  <a:txBody>
                    <a:bodyPr/>
                    <a:lstStyle/>
                    <a:p>
                      <a:pPr marL="0" marR="0" lvl="0" indent="0" algn="l" defTabSz="914400">
                        <a:lnSpc>
                          <a:spcPct val="100000"/>
                        </a:lnSpc>
                        <a:spcBef>
                          <a:spcPts val="0"/>
                        </a:spcBef>
                        <a:spcAft>
                          <a:spcPts val="0"/>
                        </a:spcAft>
                        <a:buClrTx/>
                        <a:buSzTx/>
                        <a:buFontTx/>
                        <a:buNone/>
                      </a:pPr>
                      <a:r>
                        <a:rPr sz="1800">
                          <a:solidFill>
                            <a:srgbClr val="000000"/>
                          </a:solidFill>
                          <a:latin typeface="DejaVu Sans"/>
                          <a:ea typeface="DejaVu Sans"/>
                          <a:cs typeface="DejaVu Sans"/>
                        </a:rPr>
                        <a:t>Arya</a:t>
                      </a:r>
                    </a:p>
                    <a:p>
                      <a:endParaRPr sz="1800">
                        <a:solidFill>
                          <a:srgbClr val="000000"/>
                        </a:solidFill>
                        <a:latin typeface="DejaVu Sans"/>
                        <a:ea typeface="DejaVu Sans"/>
                        <a:cs typeface="DejaVu Sans"/>
                      </a:endParaRPr>
                    </a:p>
                  </a:txBody>
                  <a:tcPr marL="114300" marR="114300" marT="47625" marB="47625">
                    <a:solidFill>
                      <a:srgbClr val="FFFFFF"/>
                    </a:solidFill>
                  </a:tcPr>
                </a:tc>
                <a:tc>
                  <a:txBody>
                    <a:bodyPr/>
                    <a:lstStyle/>
                    <a:p>
                      <a:r>
                        <a:rPr sz="1800">
                          <a:solidFill>
                            <a:srgbClr val="000000"/>
                          </a:solidFill>
                          <a:latin typeface="DejaVu Sans"/>
                          <a:ea typeface="DejaVu Sans"/>
                          <a:cs typeface="DejaVu Sans"/>
                        </a:rPr>
                        <a:t>Build shelter search and a chatbot using approved documents.</a:t>
                      </a:r>
                    </a:p>
                  </a:txBody>
                  <a:tcPr marL="114300" marR="114300" marT="47625" marB="47625">
                    <a:solidFill>
                      <a:srgbClr val="FFFFFF"/>
                    </a:solidFill>
                  </a:tcPr>
                </a:tc>
                <a:tc>
                  <a:txBody>
                    <a:bodyPr/>
                    <a:lstStyle/>
                    <a:p>
                      <a:r>
                        <a:rPr sz="1800">
                          <a:solidFill>
                            <a:srgbClr val="000000"/>
                          </a:solidFill>
                          <a:latin typeface="DejaVu Sans"/>
                          <a:ea typeface="DejaVu Sans"/>
                          <a:cs typeface="DejaVu Sans"/>
                        </a:rPr>
                        <a:t>Find shelter details and safety answers.</a:t>
                      </a:r>
                    </a:p>
                  </a:txBody>
                  <a:tcPr marL="114300" marR="114300" marT="47625" marB="47625">
                    <a:solidFill>
                      <a:srgbClr val="FFFFFF"/>
                    </a:solidFill>
                  </a:tcPr>
                </a:tc>
              </a:tr>
            </a:tbl>
          </a:graphicData>
        </a:graphic>
      </p:graphicFrame>
      <p:sp>
        <p:nvSpPr>
          <p:cNvPr id="4" name="Rectangle 3">
            <a:extLst xmlns:a="http://schemas.openxmlformats.org/drawingml/2006/main">
              <a:ext uri="{FF2B5EF4-FFF2-40B4-BE49-F238E27FC236}">
                <a16:creationId xmlns:a16="http://schemas.microsoft.com/office/drawing/2014/main" id="{DF70DC32-6868-4D01-8360-31B540A67F9E}"/>
              </a:ext>
            </a:extLst>
          </p:cNvPr>
          <p:cNvSpPr>
            <a:spLocks xmlns:a="http://schemas.openxmlformats.org/drawingml/2006/main" noGrp="1"/>
          </p:cNvSpPr>
          <p:nvPr/>
        </p:nvSpPr>
        <p:spPr>
          <a:xfrm xmlns:a="http://schemas.openxmlformats.org/drawingml/2006/main">
            <a:off x="666750" y="562927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0000"/>
                </a:solidFill>
                <a:latin typeface="DejaVu Sans"/>
                <a:ea typeface="DejaVu Sans"/>
                <a:cs typeface="DejaVu Sans"/>
              </a:defRPr>
            </a:pPr>
            <a:r>
              <a:rPr sz="1800" b="1">
                <a:solidFill>
                  <a:srgbClr val="000000"/>
                </a:solidFill>
                <a:latin typeface="DejaVu Sans"/>
                <a:ea typeface="DejaVu Sans"/>
                <a:cs typeface="DejaVu Sans"/>
              </a:rPr>
              <a:t>V3 demo: an assigned team provides help and updates the case.</a:t>
            </a:r>
          </a:p>
        </p:txBody>
      </p:sp>
    </p:spTree>
    <p:extLst>
      <p:ext uri="{BB962C8B-B14F-4D97-AF65-F5344CB8AC3E}">
        <p14:creationId xmlns:p14="http://schemas.microsoft.com/office/powerpoint/2010/main" val="184094661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Week 3 / V3: Maanaz">
            <a:extLst xmlns:a="http://schemas.openxmlformats.org/drawingml/2006/main">
              <a:ext uri="{FF2B5EF4-FFF2-40B4-BE49-F238E27FC236}">
                <a16:creationId xmlns:a16="http://schemas.microsoft.com/office/drawing/2014/main" id="{77EBD169-5FE1-4242-A234-D7C3679DB363}"/>
              </a:ext>
            </a:extLst>
          </p:cNvPr>
          <p:cNvSpPr>
            <a:spLocks xmlns:a="http://schemas.openxmlformats.org/drawingml/2006/main" noGrp="1"/>
          </p:cNvSpPr>
          <p:nvPr/>
        </p:nvSpPr>
        <p:spPr>
          <a:xfrm xmlns:a="http://schemas.openxmlformats.org/drawingml/2006/main">
            <a:off x="628650" y="457200"/>
            <a:ext cx="10934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11111"/>
                </a:solidFill>
                <a:latin typeface="DejaVu Sans"/>
                <a:ea typeface="DejaVu Sans"/>
                <a:cs typeface="DejaVu Sans"/>
              </a:defRPr>
            </a:pPr>
            <a:r>
              <a:rPr sz="3300" b="1">
                <a:solidFill>
                  <a:srgbClr val="111111"/>
                </a:solidFill>
                <a:latin typeface="DejaVu Sans"/>
                <a:ea typeface="DejaVu Sans"/>
                <a:cs typeface="DejaVu Sans"/>
              </a:rPr>
              <a:t>Week 3 / V3: Maanaz</a:t>
            </a:r>
          </a:p>
        </p:txBody>
      </p:sp>
      <p:sp>
        <p:nvSpPr>
          <p:cNvPr id="2" name="Test difficult messages and improve model handling">
            <a:extLst xmlns:a="http://schemas.openxmlformats.org/drawingml/2006/main">
              <a:ext uri="{FF2B5EF4-FFF2-40B4-BE49-F238E27FC236}">
                <a16:creationId xmlns:a16="http://schemas.microsoft.com/office/drawing/2014/main" id="{243014FF-0FC8-4CD6-82A5-95F5C9006ECA}"/>
              </a:ext>
            </a:extLst>
          </p:cNvPr>
          <p:cNvSpPr>
            <a:spLocks xmlns:a="http://schemas.openxmlformats.org/drawingml/2006/main" noGrp="1"/>
          </p:cNvSpPr>
          <p:nvPr/>
        </p:nvSpPr>
        <p:spPr>
          <a:xfrm xmlns:a="http://schemas.openxmlformats.org/drawingml/2006/main">
            <a:off x="628650" y="13049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111111"/>
                </a:solidFill>
                <a:latin typeface="DejaVu Sans"/>
                <a:ea typeface="DejaVu Sans"/>
                <a:cs typeface="DejaVu Sans"/>
              </a:defRPr>
            </a:pPr>
            <a:r>
              <a:rPr sz="1800" b="0">
                <a:solidFill>
                  <a:srgbClr val="111111"/>
                </a:solidFill>
                <a:latin typeface="DejaVu Sans"/>
                <a:ea typeface="DejaVu Sans"/>
                <a:cs typeface="DejaVu Sans"/>
              </a:rPr>
              <a:t>Test difficult messages and improve model handling.</a:t>
            </a:r>
          </a:p>
        </p:txBody>
      </p:sp>
      <p:graphicFrame>
        <p:nvGraphicFramePr>
          <p:cNvPr id="9" name=""/>
          <p:cNvGraphicFramePr/>
          <p:nvPr/>
        </p:nvGraphicFramePr>
        <p:xfrm>
          <a:off xmlns:a="http://schemas.openxmlformats.org/drawingml/2006/main" x="628650" y="1771650"/>
          <a:ext xmlns:a="http://schemas.openxmlformats.org/drawingml/2006/main" cx="10934700" cy="3771900"/>
        </p:xfrm>
        <a:graphic xmlns:a="http://schemas.openxmlformats.org/drawingml/2006/main">
          <a:graphicData uri="http://schemas.openxmlformats.org/drawingml/2006/table">
            <a:tbl>
              <a:tblPr firstRow="1" bandRow="0"/>
              <a:tblGrid>
                <a:gridCol w="7067550"/>
                <a:gridCol w="3867150"/>
              </a:tblGrid>
              <a:tr h="419100">
                <a:tc>
                  <a:txBody>
                    <a:bodyPr/>
                    <a:lstStyle/>
                    <a:p>
                      <a:r>
                        <a:rPr sz="1800" b="1">
                          <a:solidFill>
                            <a:srgbClr val="111111"/>
                          </a:solidFill>
                          <a:latin typeface="DejaVu Sans"/>
                          <a:ea typeface="DejaVu Sans"/>
                          <a:cs typeface="DejaVu Sans"/>
                        </a:rPr>
                        <a:t>Project file</a:t>
                      </a:r>
                    </a:p>
                  </a:txBody>
                  <a:tcPr marL="114300" marR="114300" marT="47625" marB="47625" anchor="ctr">
                    <a:solidFill>
                      <a:srgbClr val="FFFFFF"/>
                    </a:solidFill>
                  </a:tcPr>
                </a:tc>
                <a:tc>
                  <a:txBody>
                    <a:bodyPr/>
                    <a:lstStyle/>
                    <a:p>
                      <a:r>
                        <a:rPr sz="1800" b="1">
                          <a:solidFill>
                            <a:srgbClr val="111111"/>
                          </a:solidFill>
                          <a:latin typeface="DejaVu Sans"/>
                          <a:ea typeface="DejaVu Sans"/>
                          <a:cs typeface="DejaVu Sans"/>
                        </a:rPr>
                        <a:t>Feature to reference</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backend/tests/test_ai.py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Unknown / long / failed inputs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backend/tests/test_ai_acceptance.py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Negation / fidelity cases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backend/ai/severity_model.py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Danger / uncertainty handling</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backend/ai/translator.py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Translation fidelity checks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backend/ai/agent.py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Failures / missing facts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backend/ai/summarizer.py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Provisional fallback summary</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backend/schemas/incident_schema.py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Bounded AIInput contract</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frontend/src/components/shared/IncidentDetail.jsx</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Uncertainty / review flags</a:t>
                      </a:r>
                    </a:p>
                  </a:txBody>
                  <a:tcPr marL="114300" marR="114300" marT="47625" marB="47625" anchor="ctr">
                    <a:solidFill>
                      <a:srgbClr val="FFFFFF"/>
                    </a:solidFill>
                  </a:tcPr>
                </a:tc>
              </a:tr>
            </a:tbl>
          </a:graphicData>
        </a:graphic>
      </p:graphicFrame>
      <p:sp>
        <p:nvSpPr>
          <p:cNvPr id="4" name="Demo: Test unknown, negated and malformed messages">
            <a:extLst xmlns:a="http://schemas.openxmlformats.org/drawingml/2006/main">
              <a:ext uri="{FF2B5EF4-FFF2-40B4-BE49-F238E27FC236}">
                <a16:creationId xmlns:a16="http://schemas.microsoft.com/office/drawing/2014/main" id="{A5661106-1B44-46EA-A734-539ECCB7E371}"/>
              </a:ext>
            </a:extLst>
          </p:cNvPr>
          <p:cNvSpPr>
            <a:spLocks xmlns:a="http://schemas.openxmlformats.org/drawingml/2006/main" noGrp="1"/>
          </p:cNvSpPr>
          <p:nvPr/>
        </p:nvSpPr>
        <p:spPr>
          <a:xfrm xmlns:a="http://schemas.openxmlformats.org/drawingml/2006/main">
            <a:off x="666750" y="57340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111111"/>
                </a:solidFill>
                <a:latin typeface="DejaVu Sans"/>
                <a:ea typeface="DejaVu Sans"/>
                <a:cs typeface="DejaVu Sans"/>
              </a:defRPr>
            </a:pPr>
            <a:r>
              <a:rPr sz="1725" b="1">
                <a:solidFill>
                  <a:srgbClr val="111111"/>
                </a:solidFill>
                <a:latin typeface="DejaVu Sans"/>
                <a:ea typeface="DejaVu Sans"/>
                <a:cs typeface="DejaVu Sans"/>
              </a:rPr>
              <a:t>Demo: Test unknown, negated and malformed messages; show honest review flags.</a:t>
            </a:r>
          </a:p>
        </p:txBody>
      </p:sp>
      <p:sp>
        <p:nvSpPr>
          <p:cNvPr id="5" name="* Shared file: coordinate your feature with the ot">
            <a:extLst xmlns:a="http://schemas.openxmlformats.org/drawingml/2006/main">
              <a:ext uri="{FF2B5EF4-FFF2-40B4-BE49-F238E27FC236}">
                <a16:creationId xmlns:a16="http://schemas.microsoft.com/office/drawing/2014/main" id="{37253940-66A3-4F69-8027-E7C12D022FE1}"/>
              </a:ext>
            </a:extLst>
          </p:cNvPr>
          <p:cNvSpPr>
            <a:spLocks xmlns:a="http://schemas.openxmlformats.org/drawingml/2006/main" noGrp="1"/>
          </p:cNvSpPr>
          <p:nvPr/>
        </p:nvSpPr>
        <p:spPr>
          <a:xfrm xmlns:a="http://schemas.openxmlformats.org/drawingml/2006/main">
            <a:off x="666750" y="619125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111111"/>
                </a:solidFill>
                <a:latin typeface="DejaVu Sans"/>
                <a:ea typeface="DejaVu Sans"/>
                <a:cs typeface="DejaVu Sans"/>
              </a:defRPr>
            </a:pPr>
            <a:r>
              <a:rPr sz="1350" b="0">
                <a:solidFill>
                  <a:srgbClr val="111111"/>
                </a:solidFill>
                <a:latin typeface="DejaVu Sans"/>
                <a:ea typeface="DejaVu Sans"/>
                <a:cs typeface="DejaVu Sans"/>
              </a:rPr>
              <a:t>* Shared file: coordinate your feature with the other members.</a:t>
            </a:r>
          </a:p>
        </p:txBody>
      </p:sp>
      <p:sp>
        <p:nvSpPr>
          <p:cNvPr id="6" name="15">
            <a:extLst xmlns:a="http://schemas.openxmlformats.org/drawingml/2006/main">
              <a:ext uri="{FF2B5EF4-FFF2-40B4-BE49-F238E27FC236}">
                <a16:creationId xmlns:a16="http://schemas.microsoft.com/office/drawing/2014/main" id="{EB40F308-DD07-4745-A24D-87C80B2C9003}"/>
              </a:ext>
            </a:extLst>
          </p:cNvPr>
          <p:cNvSpPr>
            <a:spLocks xmlns:a="http://schemas.openxmlformats.org/drawingml/2006/main" noGrp="1"/>
          </p:cNvSpPr>
          <p:nvPr/>
        </p:nvSpPr>
        <p:spPr>
          <a:xfrm xmlns:a="http://schemas.openxmlformats.org/drawingml/2006/main">
            <a:off x="110299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111111"/>
                </a:solidFill>
                <a:latin typeface="DejaVu Sans"/>
                <a:ea typeface="DejaVu Sans"/>
                <a:cs typeface="DejaVu Sans"/>
              </a:defRPr>
            </a:pPr>
            <a:r>
              <a:rPr sz="1275" b="0">
                <a:solidFill>
                  <a:srgbClr val="111111"/>
                </a:solidFill>
                <a:latin typeface="DejaVu Sans"/>
                <a:ea typeface="DejaVu Sans"/>
                <a:cs typeface="DejaVu Sans"/>
              </a:rPr>
              <a:t>15</a:t>
            </a:r>
          </a:p>
        </p:txBody>
      </p:sp>
    </p:spTree>
    <p:extLst>
      <p:ext uri="{BB962C8B-B14F-4D97-AF65-F5344CB8AC3E}">
        <p14:creationId xmlns:p14="http://schemas.microsoft.com/office/powerpoint/2010/main" val="136968677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Week 3 / V3: Vidya">
            <a:extLst xmlns:a="http://schemas.openxmlformats.org/drawingml/2006/main">
              <a:ext uri="{FF2B5EF4-FFF2-40B4-BE49-F238E27FC236}">
                <a16:creationId xmlns:a16="http://schemas.microsoft.com/office/drawing/2014/main" id="{4EDDCE0E-AFA6-4290-9F31-8A11B549D1DD}"/>
              </a:ext>
            </a:extLst>
          </p:cNvPr>
          <p:cNvSpPr>
            <a:spLocks xmlns:a="http://schemas.openxmlformats.org/drawingml/2006/main" noGrp="1"/>
          </p:cNvSpPr>
          <p:nvPr/>
        </p:nvSpPr>
        <p:spPr>
          <a:xfrm xmlns:a="http://schemas.openxmlformats.org/drawingml/2006/main">
            <a:off x="628650" y="457200"/>
            <a:ext cx="10934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11111"/>
                </a:solidFill>
                <a:latin typeface="DejaVu Sans"/>
                <a:ea typeface="DejaVu Sans"/>
                <a:cs typeface="DejaVu Sans"/>
              </a:defRPr>
            </a:pPr>
            <a:r>
              <a:rPr sz="3300" b="1">
                <a:solidFill>
                  <a:srgbClr val="111111"/>
                </a:solidFill>
                <a:latin typeface="DejaVu Sans"/>
                <a:ea typeface="DejaVu Sans"/>
                <a:cs typeface="DejaVu Sans"/>
              </a:rPr>
              <a:t>Week 3 / V3: Vidya</a:t>
            </a:r>
          </a:p>
        </p:txBody>
      </p:sp>
      <p:sp>
        <p:nvSpPr>
          <p:cNvPr id="2" name="Connect rescue, relief and shelter APIs with permi">
            <a:extLst xmlns:a="http://schemas.openxmlformats.org/drawingml/2006/main">
              <a:ext uri="{FF2B5EF4-FFF2-40B4-BE49-F238E27FC236}">
                <a16:creationId xmlns:a16="http://schemas.microsoft.com/office/drawing/2014/main" id="{79A26B47-B6B5-47C8-B7DE-B3039C50295B}"/>
              </a:ext>
            </a:extLst>
          </p:cNvPr>
          <p:cNvSpPr>
            <a:spLocks xmlns:a="http://schemas.openxmlformats.org/drawingml/2006/main" noGrp="1"/>
          </p:cNvSpPr>
          <p:nvPr/>
        </p:nvSpPr>
        <p:spPr>
          <a:xfrm xmlns:a="http://schemas.openxmlformats.org/drawingml/2006/main">
            <a:off x="628650" y="13049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111111"/>
                </a:solidFill>
                <a:latin typeface="DejaVu Sans"/>
                <a:ea typeface="DejaVu Sans"/>
                <a:cs typeface="DejaVu Sans"/>
              </a:defRPr>
            </a:pPr>
            <a:r>
              <a:rPr sz="1800" b="0">
                <a:solidFill>
                  <a:srgbClr val="111111"/>
                </a:solidFill>
                <a:latin typeface="DejaVu Sans"/>
                <a:ea typeface="DejaVu Sans"/>
                <a:cs typeface="DejaVu Sans"/>
              </a:rPr>
              <a:t>Connect rescue, relief and shelter APIs with permissions.</a:t>
            </a:r>
          </a:p>
        </p:txBody>
      </p:sp>
      <p:graphicFrame>
        <p:nvGraphicFramePr>
          <p:cNvPr id="9" name=""/>
          <p:cNvGraphicFramePr/>
          <p:nvPr/>
        </p:nvGraphicFramePr>
        <p:xfrm>
          <a:off xmlns:a="http://schemas.openxmlformats.org/drawingml/2006/main" x="628650" y="1771650"/>
          <a:ext xmlns:a="http://schemas.openxmlformats.org/drawingml/2006/main" cx="10934700" cy="3771900"/>
        </p:xfrm>
        <a:graphic xmlns:a="http://schemas.openxmlformats.org/drawingml/2006/main">
          <a:graphicData uri="http://schemas.openxmlformats.org/drawingml/2006/table">
            <a:tbl>
              <a:tblPr firstRow="1" bandRow="0"/>
              <a:tblGrid>
                <a:gridCol w="7067550"/>
                <a:gridCol w="3867150"/>
              </a:tblGrid>
              <a:tr h="419100">
                <a:tc>
                  <a:txBody>
                    <a:bodyPr/>
                    <a:lstStyle/>
                    <a:p>
                      <a:r>
                        <a:rPr sz="1800" b="1">
                          <a:solidFill>
                            <a:srgbClr val="111111"/>
                          </a:solidFill>
                          <a:latin typeface="DejaVu Sans"/>
                          <a:ea typeface="DejaVu Sans"/>
                          <a:cs typeface="DejaVu Sans"/>
                        </a:rPr>
                        <a:t>Project file</a:t>
                      </a:r>
                    </a:p>
                  </a:txBody>
                  <a:tcPr marL="114300" marR="114300" marT="47625" marB="47625" anchor="ctr">
                    <a:solidFill>
                      <a:srgbClr val="FFFFFF"/>
                    </a:solidFill>
                  </a:tcPr>
                </a:tc>
                <a:tc>
                  <a:txBody>
                    <a:bodyPr/>
                    <a:lstStyle/>
                    <a:p>
                      <a:r>
                        <a:rPr sz="1800" b="1">
                          <a:solidFill>
                            <a:srgbClr val="111111"/>
                          </a:solidFill>
                          <a:latin typeface="DejaVu Sans"/>
                          <a:ea typeface="DejaVu Sans"/>
                          <a:cs typeface="DejaVu Sans"/>
                        </a:rPr>
                        <a:t>Feature to reference</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backend/routers/incidents.py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Progress / relief handoff</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backend/routers/teams.py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Task acceptance / team scope</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backend/routers/relief.py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Requests / distribution APIs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backend/routers/shelters.py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Shelter updates / history</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backend/utils/permissions.py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Assigned-team access gates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backend/schemas/relief_schema.py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Service / handoff inputs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backend/schemas/shelter_schema.py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Capacity / occupancy inputs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backend/tests/test_workflows.py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Permissions / service checks</a:t>
                      </a:r>
                    </a:p>
                  </a:txBody>
                  <a:tcPr marL="114300" marR="114300" marT="47625" marB="47625" anchor="ctr">
                    <a:solidFill>
                      <a:srgbClr val="FFFFFF"/>
                    </a:solidFill>
                  </a:tcPr>
                </a:tc>
              </a:tr>
            </a:tbl>
          </a:graphicData>
        </a:graphic>
      </p:graphicFrame>
      <p:sp>
        <p:nvSpPr>
          <p:cNvPr id="4" name="Demo: Save service updates and reject unrelated-te">
            <a:extLst xmlns:a="http://schemas.openxmlformats.org/drawingml/2006/main">
              <a:ext uri="{FF2B5EF4-FFF2-40B4-BE49-F238E27FC236}">
                <a16:creationId xmlns:a16="http://schemas.microsoft.com/office/drawing/2014/main" id="{5CED4C4B-7453-4166-A182-F1E2794B2F14}"/>
              </a:ext>
            </a:extLst>
          </p:cNvPr>
          <p:cNvSpPr>
            <a:spLocks xmlns:a="http://schemas.openxmlformats.org/drawingml/2006/main" noGrp="1"/>
          </p:cNvSpPr>
          <p:nvPr/>
        </p:nvSpPr>
        <p:spPr>
          <a:xfrm xmlns:a="http://schemas.openxmlformats.org/drawingml/2006/main">
            <a:off x="666750" y="57340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111111"/>
                </a:solidFill>
                <a:latin typeface="DejaVu Sans"/>
                <a:ea typeface="DejaVu Sans"/>
                <a:cs typeface="DejaVu Sans"/>
              </a:defRPr>
            </a:pPr>
            <a:r>
              <a:rPr sz="1725" b="1">
                <a:solidFill>
                  <a:srgbClr val="111111"/>
                </a:solidFill>
                <a:latin typeface="DejaVu Sans"/>
                <a:ea typeface="DejaVu Sans"/>
                <a:cs typeface="DejaVu Sans"/>
              </a:rPr>
              <a:t>Demo: Save service updates and reject unrelated-team actions and invalid capacity.</a:t>
            </a:r>
          </a:p>
        </p:txBody>
      </p:sp>
      <p:sp>
        <p:nvSpPr>
          <p:cNvPr id="5" name="* Shared file: coordinate your feature with the ot">
            <a:extLst xmlns:a="http://schemas.openxmlformats.org/drawingml/2006/main">
              <a:ext uri="{FF2B5EF4-FFF2-40B4-BE49-F238E27FC236}">
                <a16:creationId xmlns:a16="http://schemas.microsoft.com/office/drawing/2014/main" id="{70BADF67-8075-4990-A596-DEDD858C3839}"/>
              </a:ext>
            </a:extLst>
          </p:cNvPr>
          <p:cNvSpPr>
            <a:spLocks xmlns:a="http://schemas.openxmlformats.org/drawingml/2006/main" noGrp="1"/>
          </p:cNvSpPr>
          <p:nvPr/>
        </p:nvSpPr>
        <p:spPr>
          <a:xfrm xmlns:a="http://schemas.openxmlformats.org/drawingml/2006/main">
            <a:off x="666750" y="619125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111111"/>
                </a:solidFill>
                <a:latin typeface="DejaVu Sans"/>
                <a:ea typeface="DejaVu Sans"/>
                <a:cs typeface="DejaVu Sans"/>
              </a:defRPr>
            </a:pPr>
            <a:r>
              <a:rPr sz="1350" b="0">
                <a:solidFill>
                  <a:srgbClr val="111111"/>
                </a:solidFill>
                <a:latin typeface="DejaVu Sans"/>
                <a:ea typeface="DejaVu Sans"/>
                <a:cs typeface="DejaVu Sans"/>
              </a:rPr>
              <a:t>* Shared file: coordinate your feature with the other members.</a:t>
            </a:r>
          </a:p>
        </p:txBody>
      </p:sp>
      <p:sp>
        <p:nvSpPr>
          <p:cNvPr id="6" name="16">
            <a:extLst xmlns:a="http://schemas.openxmlformats.org/drawingml/2006/main">
              <a:ext uri="{FF2B5EF4-FFF2-40B4-BE49-F238E27FC236}">
                <a16:creationId xmlns:a16="http://schemas.microsoft.com/office/drawing/2014/main" id="{EEA2E202-7469-40B7-86CE-046055E605C7}"/>
              </a:ext>
            </a:extLst>
          </p:cNvPr>
          <p:cNvSpPr>
            <a:spLocks xmlns:a="http://schemas.openxmlformats.org/drawingml/2006/main" noGrp="1"/>
          </p:cNvSpPr>
          <p:nvPr/>
        </p:nvSpPr>
        <p:spPr>
          <a:xfrm xmlns:a="http://schemas.openxmlformats.org/drawingml/2006/main">
            <a:off x="110299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111111"/>
                </a:solidFill>
                <a:latin typeface="DejaVu Sans"/>
                <a:ea typeface="DejaVu Sans"/>
                <a:cs typeface="DejaVu Sans"/>
              </a:defRPr>
            </a:pPr>
            <a:r>
              <a:rPr sz="1275" b="0">
                <a:solidFill>
                  <a:srgbClr val="111111"/>
                </a:solidFill>
                <a:latin typeface="DejaVu Sans"/>
                <a:ea typeface="DejaVu Sans"/>
                <a:cs typeface="DejaVu Sans"/>
              </a:rPr>
              <a:t>16</a:t>
            </a:r>
          </a:p>
        </p:txBody>
      </p:sp>
    </p:spTree>
    <p:extLst>
      <p:ext uri="{BB962C8B-B14F-4D97-AF65-F5344CB8AC3E}">
        <p14:creationId xmlns:p14="http://schemas.microsoft.com/office/powerpoint/2010/main" val="154156524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Week 3 / V3: Athul">
            <a:extLst xmlns:a="http://schemas.openxmlformats.org/drawingml/2006/main">
              <a:ext uri="{FF2B5EF4-FFF2-40B4-BE49-F238E27FC236}">
                <a16:creationId xmlns:a16="http://schemas.microsoft.com/office/drawing/2014/main" id="{A9769377-7095-4170-A99A-17CE201E33E8}"/>
              </a:ext>
            </a:extLst>
          </p:cNvPr>
          <p:cNvSpPr>
            <a:spLocks xmlns:a="http://schemas.openxmlformats.org/drawingml/2006/main" noGrp="1"/>
          </p:cNvSpPr>
          <p:nvPr/>
        </p:nvSpPr>
        <p:spPr>
          <a:xfrm xmlns:a="http://schemas.openxmlformats.org/drawingml/2006/main">
            <a:off x="628650" y="457200"/>
            <a:ext cx="10934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11111"/>
                </a:solidFill>
                <a:latin typeface="DejaVu Sans"/>
                <a:ea typeface="DejaVu Sans"/>
                <a:cs typeface="DejaVu Sans"/>
              </a:defRPr>
            </a:pPr>
            <a:r>
              <a:rPr sz="3300" b="1">
                <a:solidFill>
                  <a:srgbClr val="111111"/>
                </a:solidFill>
                <a:latin typeface="DejaVu Sans"/>
                <a:ea typeface="DejaVu Sans"/>
                <a:cs typeface="DejaVu Sans"/>
              </a:rPr>
              <a:t>Week 3 / V3: Athul</a:t>
            </a:r>
          </a:p>
        </p:txBody>
      </p:sp>
      <p:sp>
        <p:nvSpPr>
          <p:cNvPr id="2" name="Build rescue progress, inventory and relief distri">
            <a:extLst xmlns:a="http://schemas.openxmlformats.org/drawingml/2006/main">
              <a:ext uri="{FF2B5EF4-FFF2-40B4-BE49-F238E27FC236}">
                <a16:creationId xmlns:a16="http://schemas.microsoft.com/office/drawing/2014/main" id="{416F0351-7447-47BF-BA21-5D0C4F4FD1B6}"/>
              </a:ext>
            </a:extLst>
          </p:cNvPr>
          <p:cNvSpPr>
            <a:spLocks xmlns:a="http://schemas.openxmlformats.org/drawingml/2006/main" noGrp="1"/>
          </p:cNvSpPr>
          <p:nvPr/>
        </p:nvSpPr>
        <p:spPr>
          <a:xfrm xmlns:a="http://schemas.openxmlformats.org/drawingml/2006/main">
            <a:off x="628650" y="13049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111111"/>
                </a:solidFill>
                <a:latin typeface="DejaVu Sans"/>
                <a:ea typeface="DejaVu Sans"/>
                <a:cs typeface="DejaVu Sans"/>
              </a:defRPr>
            </a:pPr>
            <a:r>
              <a:rPr sz="1800" b="0">
                <a:solidFill>
                  <a:srgbClr val="111111"/>
                </a:solidFill>
                <a:latin typeface="DejaVu Sans"/>
                <a:ea typeface="DejaVu Sans"/>
                <a:cs typeface="DejaVu Sans"/>
              </a:rPr>
              <a:t>Build rescue progress, inventory and relief distribution.</a:t>
            </a:r>
          </a:p>
        </p:txBody>
      </p:sp>
      <p:graphicFrame>
        <p:nvGraphicFramePr>
          <p:cNvPr id="9" name=""/>
          <p:cNvGraphicFramePr/>
          <p:nvPr/>
        </p:nvGraphicFramePr>
        <p:xfrm>
          <a:off xmlns:a="http://schemas.openxmlformats.org/drawingml/2006/main" x="628650" y="1771650"/>
          <a:ext xmlns:a="http://schemas.openxmlformats.org/drawingml/2006/main" cx="10934700" cy="3771900"/>
        </p:xfrm>
        <a:graphic xmlns:a="http://schemas.openxmlformats.org/drawingml/2006/main">
          <a:graphicData uri="http://schemas.openxmlformats.org/drawingml/2006/table">
            <a:tbl>
              <a:tblPr firstRow="1" bandRow="0"/>
              <a:tblGrid>
                <a:gridCol w="7067550"/>
                <a:gridCol w="3867150"/>
              </a:tblGrid>
              <a:tr h="419100">
                <a:tc>
                  <a:txBody>
                    <a:bodyPr/>
                    <a:lstStyle/>
                    <a:p>
                      <a:r>
                        <a:rPr sz="1800" b="1">
                          <a:solidFill>
                            <a:srgbClr val="111111"/>
                          </a:solidFill>
                          <a:latin typeface="DejaVu Sans"/>
                          <a:ea typeface="DejaVu Sans"/>
                          <a:cs typeface="DejaVu Sans"/>
                        </a:rPr>
                        <a:t>Project file</a:t>
                      </a:r>
                    </a:p>
                  </a:txBody>
                  <a:tcPr marL="114300" marR="114300" marT="47625" marB="47625" anchor="ctr">
                    <a:solidFill>
                      <a:srgbClr val="FFFFFF"/>
                    </a:solidFill>
                  </a:tcPr>
                </a:tc>
                <a:tc>
                  <a:txBody>
                    <a:bodyPr/>
                    <a:lstStyle/>
                    <a:p>
                      <a:r>
                        <a:rPr sz="1800" b="1">
                          <a:solidFill>
                            <a:srgbClr val="111111"/>
                          </a:solidFill>
                          <a:latin typeface="DejaVu Sans"/>
                          <a:ea typeface="DejaVu Sans"/>
                          <a:cs typeface="DejaVu Sans"/>
                        </a:rPr>
                        <a:t>Feature to reference</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frontend/src/pages/response_team/Assignments.jsx</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Assigned tasks / past history</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frontend/src/components/shared/IncidentDetail.jsx</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Accept / travel / progress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frontend/src/pages/response_team/ReliefDistribution.jsx</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Team supply delivery</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frontend/src/pages/admin/ReliefInventory.jsx</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Admin stock management</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frontend/src/components/shared/ReliefWorkspace.jsx</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Delivery / remaining demand</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backend/routers/relief.py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Stock / delivery endpoints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backend/services/relief_service.py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Units / stock transactions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backend/routers/teams.py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Acceptance / history</a:t>
                      </a:r>
                    </a:p>
                  </a:txBody>
                  <a:tcPr marL="114300" marR="114300" marT="47625" marB="47625" anchor="ctr">
                    <a:solidFill>
                      <a:srgbClr val="FFFFFF"/>
                    </a:solidFill>
                  </a:tcPr>
                </a:tc>
              </a:tr>
            </a:tbl>
          </a:graphicData>
        </a:graphic>
      </p:graphicFrame>
      <p:sp>
        <p:nvSpPr>
          <p:cNvPr id="4" name="Demo: Accept a task, update progress and record st">
            <a:extLst xmlns:a="http://schemas.openxmlformats.org/drawingml/2006/main">
              <a:ext uri="{FF2B5EF4-FFF2-40B4-BE49-F238E27FC236}">
                <a16:creationId xmlns:a16="http://schemas.microsoft.com/office/drawing/2014/main" id="{159C1958-0DC1-497D-A373-5E638EFF7DF0}"/>
              </a:ext>
            </a:extLst>
          </p:cNvPr>
          <p:cNvSpPr>
            <a:spLocks xmlns:a="http://schemas.openxmlformats.org/drawingml/2006/main" noGrp="1"/>
          </p:cNvSpPr>
          <p:nvPr/>
        </p:nvSpPr>
        <p:spPr>
          <a:xfrm xmlns:a="http://schemas.openxmlformats.org/drawingml/2006/main">
            <a:off x="666750" y="57340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111111"/>
                </a:solidFill>
                <a:latin typeface="DejaVu Sans"/>
                <a:ea typeface="DejaVu Sans"/>
                <a:cs typeface="DejaVu Sans"/>
              </a:defRPr>
            </a:pPr>
            <a:r>
              <a:rPr sz="1725" b="1">
                <a:solidFill>
                  <a:srgbClr val="111111"/>
                </a:solidFill>
                <a:latin typeface="DejaVu Sans"/>
                <a:ea typeface="DejaVu Sans"/>
                <a:cs typeface="DejaVu Sans"/>
              </a:rPr>
              <a:t>Demo: Accept a task, update progress and record stock-safe partial delivery.</a:t>
            </a:r>
          </a:p>
        </p:txBody>
      </p:sp>
      <p:sp>
        <p:nvSpPr>
          <p:cNvPr id="5" name="* Shared file: coordinate your feature with the ot">
            <a:extLst xmlns:a="http://schemas.openxmlformats.org/drawingml/2006/main">
              <a:ext uri="{FF2B5EF4-FFF2-40B4-BE49-F238E27FC236}">
                <a16:creationId xmlns:a16="http://schemas.microsoft.com/office/drawing/2014/main" id="{60B206B8-0366-453B-8598-86CBF63242E8}"/>
              </a:ext>
            </a:extLst>
          </p:cNvPr>
          <p:cNvSpPr>
            <a:spLocks xmlns:a="http://schemas.openxmlformats.org/drawingml/2006/main" noGrp="1"/>
          </p:cNvSpPr>
          <p:nvPr/>
        </p:nvSpPr>
        <p:spPr>
          <a:xfrm xmlns:a="http://schemas.openxmlformats.org/drawingml/2006/main">
            <a:off x="666750" y="619125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111111"/>
                </a:solidFill>
                <a:latin typeface="DejaVu Sans"/>
                <a:ea typeface="DejaVu Sans"/>
                <a:cs typeface="DejaVu Sans"/>
              </a:defRPr>
            </a:pPr>
            <a:r>
              <a:rPr sz="1350" b="0">
                <a:solidFill>
                  <a:srgbClr val="111111"/>
                </a:solidFill>
                <a:latin typeface="DejaVu Sans"/>
                <a:ea typeface="DejaVu Sans"/>
                <a:cs typeface="DejaVu Sans"/>
              </a:rPr>
              <a:t>* Shared file: coordinate your feature with the other members.</a:t>
            </a:r>
          </a:p>
        </p:txBody>
      </p:sp>
      <p:sp>
        <p:nvSpPr>
          <p:cNvPr id="6" name="17">
            <a:extLst xmlns:a="http://schemas.openxmlformats.org/drawingml/2006/main">
              <a:ext uri="{FF2B5EF4-FFF2-40B4-BE49-F238E27FC236}">
                <a16:creationId xmlns:a16="http://schemas.microsoft.com/office/drawing/2014/main" id="{66F04A81-ABD5-49B3-8216-5F75006A743B}"/>
              </a:ext>
            </a:extLst>
          </p:cNvPr>
          <p:cNvSpPr>
            <a:spLocks xmlns:a="http://schemas.openxmlformats.org/drawingml/2006/main" noGrp="1"/>
          </p:cNvSpPr>
          <p:nvPr/>
        </p:nvSpPr>
        <p:spPr>
          <a:xfrm xmlns:a="http://schemas.openxmlformats.org/drawingml/2006/main">
            <a:off x="110299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111111"/>
                </a:solidFill>
                <a:latin typeface="DejaVu Sans"/>
                <a:ea typeface="DejaVu Sans"/>
                <a:cs typeface="DejaVu Sans"/>
              </a:defRPr>
            </a:pPr>
            <a:r>
              <a:rPr sz="1275" b="0">
                <a:solidFill>
                  <a:srgbClr val="111111"/>
                </a:solidFill>
                <a:latin typeface="DejaVu Sans"/>
                <a:ea typeface="DejaVu Sans"/>
                <a:cs typeface="DejaVu Sans"/>
              </a:rPr>
              <a:t>17</a:t>
            </a:r>
          </a:p>
        </p:txBody>
      </p:sp>
    </p:spTree>
    <p:extLst>
      <p:ext uri="{BB962C8B-B14F-4D97-AF65-F5344CB8AC3E}">
        <p14:creationId xmlns:p14="http://schemas.microsoft.com/office/powerpoint/2010/main" val="60880802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Week 3 / V3: Arya">
            <a:extLst xmlns:a="http://schemas.openxmlformats.org/drawingml/2006/main">
              <a:ext uri="{FF2B5EF4-FFF2-40B4-BE49-F238E27FC236}">
                <a16:creationId xmlns:a16="http://schemas.microsoft.com/office/drawing/2014/main" id="{F35580BA-54CD-44D4-BEEA-5E07E264316F}"/>
              </a:ext>
            </a:extLst>
          </p:cNvPr>
          <p:cNvSpPr>
            <a:spLocks xmlns:a="http://schemas.openxmlformats.org/drawingml/2006/main" noGrp="1"/>
          </p:cNvSpPr>
          <p:nvPr/>
        </p:nvSpPr>
        <p:spPr>
          <a:xfrm xmlns:a="http://schemas.openxmlformats.org/drawingml/2006/main">
            <a:off x="628650" y="457200"/>
            <a:ext cx="10934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11111"/>
                </a:solidFill>
                <a:latin typeface="DejaVu Sans"/>
                <a:ea typeface="DejaVu Sans"/>
                <a:cs typeface="DejaVu Sans"/>
              </a:defRPr>
            </a:pPr>
            <a:r>
              <a:rPr sz="3300" b="1">
                <a:solidFill>
                  <a:srgbClr val="111111"/>
                </a:solidFill>
                <a:latin typeface="DejaVu Sans"/>
                <a:ea typeface="DejaVu Sans"/>
                <a:cs typeface="DejaVu Sans"/>
              </a:rPr>
              <a:t>Week 3 / V3: Arya</a:t>
            </a:r>
          </a:p>
        </p:txBody>
      </p:sp>
      <p:sp>
        <p:nvSpPr>
          <p:cNvPr id="2" name="Build shelter search and a chatbot using approved ">
            <a:extLst xmlns:a="http://schemas.openxmlformats.org/drawingml/2006/main">
              <a:ext uri="{FF2B5EF4-FFF2-40B4-BE49-F238E27FC236}">
                <a16:creationId xmlns:a16="http://schemas.microsoft.com/office/drawing/2014/main" id="{CDEC4A01-7A17-4B21-A8C9-EE41C5828E18}"/>
              </a:ext>
            </a:extLst>
          </p:cNvPr>
          <p:cNvSpPr>
            <a:spLocks xmlns:a="http://schemas.openxmlformats.org/drawingml/2006/main" noGrp="1"/>
          </p:cNvSpPr>
          <p:nvPr/>
        </p:nvSpPr>
        <p:spPr>
          <a:xfrm xmlns:a="http://schemas.openxmlformats.org/drawingml/2006/main">
            <a:off x="628650" y="13049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111111"/>
                </a:solidFill>
                <a:latin typeface="DejaVu Sans"/>
                <a:ea typeface="DejaVu Sans"/>
                <a:cs typeface="DejaVu Sans"/>
              </a:defRPr>
            </a:pPr>
            <a:r>
              <a:rPr sz="1800" b="0">
                <a:solidFill>
                  <a:srgbClr val="111111"/>
                </a:solidFill>
                <a:latin typeface="DejaVu Sans"/>
                <a:ea typeface="DejaVu Sans"/>
                <a:cs typeface="DejaVu Sans"/>
              </a:rPr>
              <a:t>Build shelter search and a chatbot using approved documents.</a:t>
            </a:r>
          </a:p>
        </p:txBody>
      </p:sp>
      <p:graphicFrame>
        <p:nvGraphicFramePr>
          <p:cNvPr id="9" name=""/>
          <p:cNvGraphicFramePr/>
          <p:nvPr/>
        </p:nvGraphicFramePr>
        <p:xfrm>
          <a:off xmlns:a="http://schemas.openxmlformats.org/drawingml/2006/main" x="628650" y="1771650"/>
          <a:ext xmlns:a="http://schemas.openxmlformats.org/drawingml/2006/main" cx="10934700" cy="3771900"/>
        </p:xfrm>
        <a:graphic xmlns:a="http://schemas.openxmlformats.org/drawingml/2006/main">
          <a:graphicData uri="http://schemas.openxmlformats.org/drawingml/2006/table">
            <a:tbl>
              <a:tblPr firstRow="1" bandRow="0"/>
              <a:tblGrid>
                <a:gridCol w="7067550"/>
                <a:gridCol w="3867150"/>
              </a:tblGrid>
              <a:tr h="419100">
                <a:tc>
                  <a:txBody>
                    <a:bodyPr/>
                    <a:lstStyle/>
                    <a:p>
                      <a:r>
                        <a:rPr sz="1800" b="1">
                          <a:solidFill>
                            <a:srgbClr val="111111"/>
                          </a:solidFill>
                          <a:latin typeface="DejaVu Sans"/>
                          <a:ea typeface="DejaVu Sans"/>
                          <a:cs typeface="DejaVu Sans"/>
                        </a:rPr>
                        <a:t>Project file</a:t>
                      </a:r>
                    </a:p>
                  </a:txBody>
                  <a:tcPr marL="114300" marR="114300" marT="47625" marB="47625" anchor="ctr">
                    <a:solidFill>
                      <a:srgbClr val="FFFFFF"/>
                    </a:solidFill>
                  </a:tcPr>
                </a:tc>
                <a:tc>
                  <a:txBody>
                    <a:bodyPr/>
                    <a:lstStyle/>
                    <a:p>
                      <a:r>
                        <a:rPr sz="1800" b="1">
                          <a:solidFill>
                            <a:srgbClr val="111111"/>
                          </a:solidFill>
                          <a:latin typeface="DejaVu Sans"/>
                          <a:ea typeface="DejaVu Sans"/>
                          <a:cs typeface="DejaVu Sans"/>
                        </a:rPr>
                        <a:t>Feature to reference</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frontend/src/components/shared/CommunityInformation.jsx</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Shelter search / nearby lookup</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frontend/src/components/shared/Assistant.jsx</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Chat / citations / sessions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backend/routers/shelters.py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Public discovery endpoints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backend/services/shelter_service.py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Capacity / distance results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backend/routers/chatbot.py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Scoped context / chat history</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backend/ai/chatbot.py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Grounded answer handling</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backend/ai/rag.py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Local retrieval / vector store</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data/raw/safety_knowledge.json</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Approved safety extracts</a:t>
                      </a:r>
                    </a:p>
                  </a:txBody>
                  <a:tcPr marL="114300" marR="114300" marT="47625" marB="47625" anchor="ctr">
                    <a:solidFill>
                      <a:srgbClr val="FFFFFF"/>
                    </a:solidFill>
                  </a:tcPr>
                </a:tc>
              </a:tr>
            </a:tbl>
          </a:graphicData>
        </a:graphic>
      </p:graphicFrame>
      <p:sp>
        <p:nvSpPr>
          <p:cNvPr id="4" name="Demo: Find shelter space and show safety answers w">
            <a:extLst xmlns:a="http://schemas.openxmlformats.org/drawingml/2006/main">
              <a:ext uri="{FF2B5EF4-FFF2-40B4-BE49-F238E27FC236}">
                <a16:creationId xmlns:a16="http://schemas.microsoft.com/office/drawing/2014/main" id="{7757E172-B0B7-4FB5-BFBC-1B7BC5419FF3}"/>
              </a:ext>
            </a:extLst>
          </p:cNvPr>
          <p:cNvSpPr>
            <a:spLocks xmlns:a="http://schemas.openxmlformats.org/drawingml/2006/main" noGrp="1"/>
          </p:cNvSpPr>
          <p:nvPr/>
        </p:nvSpPr>
        <p:spPr>
          <a:xfrm xmlns:a="http://schemas.openxmlformats.org/drawingml/2006/main">
            <a:off x="666750" y="57340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111111"/>
                </a:solidFill>
                <a:latin typeface="DejaVu Sans"/>
                <a:ea typeface="DejaVu Sans"/>
                <a:cs typeface="DejaVu Sans"/>
              </a:defRPr>
            </a:pPr>
            <a:r>
              <a:rPr sz="1725" b="1">
                <a:solidFill>
                  <a:srgbClr val="111111"/>
                </a:solidFill>
                <a:latin typeface="DejaVu Sans"/>
                <a:ea typeface="DejaVu Sans"/>
                <a:cs typeface="DejaVu Sans"/>
              </a:rPr>
              <a:t>Demo: Find shelter space and show safety answers with approved source links.</a:t>
            </a:r>
          </a:p>
        </p:txBody>
      </p:sp>
      <p:sp>
        <p:nvSpPr>
          <p:cNvPr id="5" name="* Shared file: coordinate your feature with the ot">
            <a:extLst xmlns:a="http://schemas.openxmlformats.org/drawingml/2006/main">
              <a:ext uri="{FF2B5EF4-FFF2-40B4-BE49-F238E27FC236}">
                <a16:creationId xmlns:a16="http://schemas.microsoft.com/office/drawing/2014/main" id="{0D83683A-1C13-4B20-8CFF-9799D68B59BE}"/>
              </a:ext>
            </a:extLst>
          </p:cNvPr>
          <p:cNvSpPr>
            <a:spLocks xmlns:a="http://schemas.openxmlformats.org/drawingml/2006/main" noGrp="1"/>
          </p:cNvSpPr>
          <p:nvPr/>
        </p:nvSpPr>
        <p:spPr>
          <a:xfrm xmlns:a="http://schemas.openxmlformats.org/drawingml/2006/main">
            <a:off x="666750" y="619125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111111"/>
                </a:solidFill>
                <a:latin typeface="DejaVu Sans"/>
                <a:ea typeface="DejaVu Sans"/>
                <a:cs typeface="DejaVu Sans"/>
              </a:defRPr>
            </a:pPr>
            <a:r>
              <a:rPr sz="1350" b="0">
                <a:solidFill>
                  <a:srgbClr val="111111"/>
                </a:solidFill>
                <a:latin typeface="DejaVu Sans"/>
                <a:ea typeface="DejaVu Sans"/>
                <a:cs typeface="DejaVu Sans"/>
              </a:rPr>
              <a:t>* Shared file: coordinate your feature with the other members.</a:t>
            </a:r>
          </a:p>
        </p:txBody>
      </p:sp>
      <p:sp>
        <p:nvSpPr>
          <p:cNvPr id="6" name="18">
            <a:extLst xmlns:a="http://schemas.openxmlformats.org/drawingml/2006/main">
              <a:ext uri="{FF2B5EF4-FFF2-40B4-BE49-F238E27FC236}">
                <a16:creationId xmlns:a16="http://schemas.microsoft.com/office/drawing/2014/main" id="{8BDA2143-3ED5-432C-8413-E1DE4DB01432}"/>
              </a:ext>
            </a:extLst>
          </p:cNvPr>
          <p:cNvSpPr>
            <a:spLocks xmlns:a="http://schemas.openxmlformats.org/drawingml/2006/main" noGrp="1"/>
          </p:cNvSpPr>
          <p:nvPr/>
        </p:nvSpPr>
        <p:spPr>
          <a:xfrm xmlns:a="http://schemas.openxmlformats.org/drawingml/2006/main">
            <a:off x="110299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111111"/>
                </a:solidFill>
                <a:latin typeface="DejaVu Sans"/>
                <a:ea typeface="DejaVu Sans"/>
                <a:cs typeface="DejaVu Sans"/>
              </a:defRPr>
            </a:pPr>
            <a:r>
              <a:rPr sz="1275" b="0">
                <a:solidFill>
                  <a:srgbClr val="111111"/>
                </a:solidFill>
                <a:latin typeface="DejaVu Sans"/>
                <a:ea typeface="DejaVu Sans"/>
                <a:cs typeface="DejaVu Sans"/>
              </a:rPr>
              <a:t>18</a:t>
            </a:r>
          </a:p>
        </p:txBody>
      </p:sp>
    </p:spTree>
    <p:extLst>
      <p:ext uri="{BB962C8B-B14F-4D97-AF65-F5344CB8AC3E}">
        <p14:creationId xmlns:p14="http://schemas.microsoft.com/office/powerpoint/2010/main" val="130073123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Rectangle 4">
            <a:extLst xmlns:a="http://schemas.openxmlformats.org/drawingml/2006/main">
              <a:ext uri="{FF2B5EF4-FFF2-40B4-BE49-F238E27FC236}">
                <a16:creationId xmlns:a16="http://schemas.microsoft.com/office/drawing/2014/main" id="{B7D1FB3B-8FFA-4F07-A9F4-86C84CD00119}"/>
              </a:ext>
            </a:extLst>
          </p:cNvPr>
          <p:cNvSpPr>
            <a:spLocks xmlns:a="http://schemas.openxmlformats.org/drawingml/2006/main" noGrp="1"/>
          </p:cNvSpPr>
          <p:nvPr/>
        </p:nvSpPr>
        <p:spPr>
          <a:xfrm xmlns:a="http://schemas.openxmlformats.org/drawingml/2006/main">
            <a:off x="628650" y="457200"/>
            <a:ext cx="10934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00000"/>
                </a:solidFill>
                <a:latin typeface="DejaVu Sans"/>
                <a:ea typeface="DejaVu Sans"/>
                <a:cs typeface="DejaVu Sans"/>
              </a:defRPr>
            </a:pPr>
            <a:r>
              <a:rPr sz="3300" b="1">
                <a:solidFill>
                  <a:srgbClr val="000000"/>
                </a:solidFill>
                <a:latin typeface="DejaVu Sans"/>
                <a:ea typeface="DejaVu Sans"/>
                <a:cs typeface="DejaVu Sans"/>
              </a:rPr>
              <a:t>Week 4: full integration</a:t>
            </a:r>
          </a:p>
        </p:txBody>
      </p:sp>
      <p:sp>
        <p:nvSpPr>
          <p:cNvPr id="2" name="Rectangle 1">
            <a:extLst xmlns:a="http://schemas.openxmlformats.org/drawingml/2006/main">
              <a:ext uri="{FF2B5EF4-FFF2-40B4-BE49-F238E27FC236}">
                <a16:creationId xmlns:a16="http://schemas.microsoft.com/office/drawing/2014/main" id="{46125EBD-A0CD-450D-9E44-F96F2C0E3C3F}"/>
              </a:ext>
            </a:extLst>
          </p:cNvPr>
          <p:cNvSpPr>
            <a:spLocks xmlns:a="http://schemas.openxmlformats.org/drawingml/2006/main" noGrp="1"/>
          </p:cNvSpPr>
          <p:nvPr/>
        </p:nvSpPr>
        <p:spPr>
          <a:xfrm xmlns:a="http://schemas.openxmlformats.org/drawingml/2006/main">
            <a:off x="110299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111111"/>
                </a:solidFill>
                <a:latin typeface="DejaVu Sans"/>
                <a:ea typeface="DejaVu Sans"/>
                <a:cs typeface="DejaVu Sans"/>
              </a:defRPr>
            </a:pPr>
            <a:r>
              <a:rPr sz="1275" b="0">
                <a:solidFill>
                  <a:srgbClr val="111111"/>
                </a:solidFill>
                <a:latin typeface="DejaVu Sans"/>
                <a:ea typeface="DejaVu Sans"/>
                <a:cs typeface="DejaVu Sans"/>
              </a:rPr>
              <a:t>19</a:t>
            </a:r>
          </a:p>
        </p:txBody>
      </p:sp>
      <p:graphicFrame>
        <p:nvGraphicFramePr>
          <p:cNvPr id="9" name="Table 6"/>
          <p:cNvGraphicFramePr/>
          <p:nvPr/>
        </p:nvGraphicFramePr>
        <p:xfrm>
          <a:off xmlns:a="http://schemas.openxmlformats.org/drawingml/2006/main" x="628650" y="1581150"/>
          <a:ext xmlns:a="http://schemas.openxmlformats.org/drawingml/2006/main" cx="10934700" cy="3928110"/>
        </p:xfrm>
        <a:graphic xmlns:a="http://schemas.openxmlformats.org/drawingml/2006/main">
          <a:graphicData uri="http://schemas.openxmlformats.org/drawingml/2006/table">
            <a:tbl>
              <a:tblPr/>
              <a:tblGrid>
                <a:gridCol w="1666875"/>
                <a:gridCol w="5572125"/>
                <a:gridCol w="3695700"/>
              </a:tblGrid>
              <a:tr h="742950">
                <a:tc>
                  <a:txBody>
                    <a:bodyPr/>
                    <a:lstStyle/>
                    <a:p>
                      <a:r>
                        <a:rPr sz="1800" b="1">
                          <a:solidFill>
                            <a:schemeClr val="tx1">
                              <a:lumMod val="95000"/>
                              <a:lumOff val="5000"/>
                            </a:schemeClr>
                          </a:solidFill>
                          <a:latin typeface="DejaVu Sans"/>
                          <a:ea typeface="DejaVu Sans"/>
                          <a:cs typeface="DejaVu Sans"/>
                        </a:rPr>
                        <a:t>Member</a:t>
                      </a:r>
                    </a:p>
                  </a:txBody>
                  <a:tcPr marL="114300" marR="114300" marT="47625" marB="47625">
                    <a:solidFill>
                      <a:schemeClr val="bg1"/>
                    </a:solidFill>
                  </a:tcPr>
                </a:tc>
                <a:tc>
                  <a:txBody>
                    <a:bodyPr/>
                    <a:lstStyle/>
                    <a:p>
                      <a:r>
                        <a:rPr sz="1800" b="1">
                          <a:solidFill>
                            <a:schemeClr val="tx1">
                              <a:lumMod val="95000"/>
                              <a:lumOff val="5000"/>
                            </a:schemeClr>
                          </a:solidFill>
                          <a:latin typeface="DejaVu Sans"/>
                          <a:ea typeface="DejaVu Sans"/>
                          <a:cs typeface="DejaVu Sans"/>
                        </a:rPr>
                        <a:t>Work for the week</a:t>
                      </a:r>
                    </a:p>
                  </a:txBody>
                  <a:tcPr marL="114300" marR="114300" marT="47625" marB="47625">
                    <a:solidFill>
                      <a:schemeClr val="bg1"/>
                    </a:solidFill>
                  </a:tcPr>
                </a:tc>
                <a:tc>
                  <a:txBody>
                    <a:bodyPr/>
                    <a:lstStyle/>
                    <a:p>
                      <a:r>
                        <a:rPr sz="1800" b="1">
                          <a:solidFill>
                            <a:schemeClr val="tx1">
                              <a:lumMod val="95000"/>
                              <a:lumOff val="5000"/>
                            </a:schemeClr>
                          </a:solidFill>
                          <a:latin typeface="DejaVu Sans"/>
                          <a:ea typeface="DejaVu Sans"/>
                          <a:cs typeface="DejaVu Sans"/>
                        </a:rPr>
                        <a:t>Result to show</a:t>
                      </a:r>
                    </a:p>
                  </a:txBody>
                  <a:tcPr marL="114300" marR="114300" marT="47625" marB="47625">
                    <a:solidFill>
                      <a:schemeClr val="bg1"/>
                    </a:solidFill>
                  </a:tcPr>
                </a:tc>
              </a:tr>
              <a:tr h="742950">
                <a:tc>
                  <a:txBody>
                    <a:bodyPr/>
                    <a:lstStyle/>
                    <a:p>
                      <a:pPr marL="0" marR="0" lvl="0" indent="0" algn="l" defTabSz="914400">
                        <a:lnSpc>
                          <a:spcPct val="100000"/>
                        </a:lnSpc>
                        <a:spcBef>
                          <a:spcPts val="0"/>
                        </a:spcBef>
                        <a:spcAft>
                          <a:spcPts val="0"/>
                        </a:spcAft>
                        <a:buClrTx/>
                        <a:buSzTx/>
                        <a:buFontTx/>
                        <a:buNone/>
                      </a:pPr>
                      <a:r>
                        <a:rPr sz="1800">
                          <a:solidFill>
                            <a:srgbClr val="000000"/>
                          </a:solidFill>
                          <a:latin typeface="DejaVu Sans"/>
                          <a:ea typeface="DejaVu Sans"/>
                          <a:cs typeface="DejaVu Sans"/>
                        </a:rPr>
                        <a:t>Arya</a:t>
                      </a:r>
                    </a:p>
                    <a:p>
                      <a:endParaRPr sz="1800">
                        <a:solidFill>
                          <a:srgbClr val="000000"/>
                        </a:solidFill>
                        <a:latin typeface="DejaVu Sans"/>
                        <a:ea typeface="DejaVu Sans"/>
                        <a:cs typeface="DejaVu Sans"/>
                      </a:endParaRPr>
                    </a:p>
                  </a:txBody>
                  <a:tcPr marL="114300" marR="114300" marT="47625" marB="47625">
                    <a:solidFill>
                      <a:srgbClr val="FFFFFF"/>
                    </a:solidFill>
                  </a:tcPr>
                </a:tc>
                <a:tc>
                  <a:txBody>
                    <a:bodyPr/>
                    <a:lstStyle/>
                    <a:p>
                      <a:r>
                        <a:rPr sz="1800">
                          <a:solidFill>
                            <a:srgbClr val="000000"/>
                          </a:solidFill>
                          <a:latin typeface="DejaVu Sans"/>
                          <a:ea typeface="DejaVu Sans"/>
                          <a:cs typeface="DejaVu Sans"/>
                        </a:rPr>
                        <a:t>Connect AI tools in an agent workflow and test Malayalam input.</a:t>
                      </a:r>
                    </a:p>
                  </a:txBody>
                  <a:tcPr marL="114300" marR="114300" marT="47625" marB="47625">
                    <a:solidFill>
                      <a:srgbClr val="FFFFFF"/>
                    </a:solidFill>
                  </a:tcPr>
                </a:tc>
                <a:tc>
                  <a:txBody>
                    <a:bodyPr/>
                    <a:lstStyle/>
                    <a:p>
                      <a:r>
                        <a:rPr sz="1800">
                          <a:solidFill>
                            <a:srgbClr val="000000"/>
                          </a:solidFill>
                          <a:latin typeface="DejaVu Sans"/>
                          <a:ea typeface="DejaVu Sans"/>
                          <a:cs typeface="DejaVu Sans"/>
                        </a:rPr>
                        <a:t>Process a local-language report.</a:t>
                      </a:r>
                    </a:p>
                  </a:txBody>
                  <a:tcPr marL="114300" marR="114300" marT="47625" marB="47625">
                    <a:solidFill>
                      <a:srgbClr val="FFFFFF"/>
                    </a:solidFill>
                  </a:tcPr>
                </a:tc>
              </a:tr>
              <a:tr h="742950">
                <a:tc>
                  <a:txBody>
                    <a:bodyPr/>
                    <a:lstStyle/>
                    <a:p>
                      <a:pPr marL="0" marR="0" lvl="0" indent="0" algn="l" defTabSz="914400">
                        <a:lnSpc>
                          <a:spcPct val="100000"/>
                        </a:lnSpc>
                        <a:spcBef>
                          <a:spcPts val="0"/>
                        </a:spcBef>
                        <a:spcAft>
                          <a:spcPts val="0"/>
                        </a:spcAft>
                        <a:buClrTx/>
                        <a:buSzTx/>
                        <a:buFontTx/>
                        <a:buNone/>
                      </a:pPr>
                      <a:r>
                        <a:rPr sz="1800">
                          <a:solidFill>
                            <a:srgbClr val="000000"/>
                          </a:solidFill>
                          <a:latin typeface="DejaVu Sans"/>
                          <a:ea typeface="DejaVu Sans"/>
                          <a:cs typeface="DejaVu Sans"/>
                        </a:rPr>
                        <a:t>Maanaz</a:t>
                      </a:r>
                      <a:endParaRPr sz="1800">
                        <a:solidFill>
                          <a:srgbClr val="000000"/>
                        </a:solidFill>
                        <a:latin typeface="DejaVu Sans"/>
                        <a:ea typeface="DejaVu Sans"/>
                        <a:cs typeface="DejaVu Sans"/>
                      </a:endParaRPr>
                    </a:p>
                    <a:p>
                      <a:endParaRPr sz="1800">
                        <a:solidFill>
                          <a:srgbClr val="000000"/>
                        </a:solidFill>
                        <a:latin typeface="DejaVu Sans"/>
                        <a:ea typeface="DejaVu Sans"/>
                        <a:cs typeface="DejaVu Sans"/>
                      </a:endParaRPr>
                    </a:p>
                  </a:txBody>
                  <a:tcPr marL="114300" marR="114300" marT="47625" marB="47625">
                    <a:solidFill>
                      <a:srgbClr val="FFFFFF"/>
                    </a:solidFill>
                  </a:tcPr>
                </a:tc>
                <a:tc>
                  <a:txBody>
                    <a:bodyPr/>
                    <a:lstStyle/>
                    <a:p>
                      <a:r>
                        <a:rPr sz="1800">
                          <a:solidFill>
                            <a:srgbClr val="000000"/>
                          </a:solidFill>
                          <a:latin typeface="DejaVu Sans"/>
                          <a:ea typeface="DejaVu Sans"/>
                          <a:cs typeface="DejaVu Sans"/>
                        </a:rPr>
                        <a:t>Connect notifications, clarification and case closure APIs.</a:t>
                      </a:r>
                    </a:p>
                  </a:txBody>
                  <a:tcPr marL="114300" marR="114300" marT="47625" marB="47625">
                    <a:solidFill>
                      <a:srgbClr val="FFFFFF"/>
                    </a:solidFill>
                  </a:tcPr>
                </a:tc>
                <a:tc>
                  <a:txBody>
                    <a:bodyPr/>
                    <a:lstStyle/>
                    <a:p>
                      <a:r>
                        <a:rPr sz="1800">
                          <a:solidFill>
                            <a:srgbClr val="000000"/>
                          </a:solidFill>
                          <a:latin typeface="DejaVu Sans"/>
                          <a:ea typeface="DejaVu Sans"/>
                          <a:cs typeface="DejaVu Sans"/>
                        </a:rPr>
                        <a:t>Save a complete case history.</a:t>
                      </a:r>
                    </a:p>
                  </a:txBody>
                  <a:tcPr marL="114300" marR="114300" marT="47625" marB="47625">
                    <a:solidFill>
                      <a:srgbClr val="FFFFFF"/>
                    </a:solidFill>
                  </a:tcPr>
                </a:tc>
              </a:tr>
              <a:tr h="742950">
                <a:tc>
                  <a:txBody>
                    <a:bodyPr/>
                    <a:lstStyle/>
                    <a:p>
                      <a:pPr marL="0" marR="0" lvl="0" indent="0" algn="l" defTabSz="914400">
                        <a:lnSpc>
                          <a:spcPct val="100000"/>
                        </a:lnSpc>
                        <a:spcBef>
                          <a:spcPts val="0"/>
                        </a:spcBef>
                        <a:spcAft>
                          <a:spcPts val="0"/>
                        </a:spcAft>
                        <a:buClrTx/>
                        <a:buSzTx/>
                        <a:buFontTx/>
                        <a:buNone/>
                      </a:pPr>
                      <a:r>
                        <a:rPr sz="1800">
                          <a:solidFill>
                            <a:srgbClr val="000000"/>
                          </a:solidFill>
                          <a:latin typeface="DejaVu Sans"/>
                          <a:ea typeface="DejaVu Sans"/>
                          <a:cs typeface="DejaVu Sans"/>
                        </a:rPr>
                        <a:t>Vidya</a:t>
                      </a:r>
                    </a:p>
                    <a:p>
                      <a:endParaRPr sz="1800">
                        <a:solidFill>
                          <a:srgbClr val="000000"/>
                        </a:solidFill>
                        <a:latin typeface="DejaVu Sans"/>
                        <a:ea typeface="DejaVu Sans"/>
                        <a:cs typeface="DejaVu Sans"/>
                      </a:endParaRPr>
                    </a:p>
                  </a:txBody>
                  <a:tcPr marL="114300" marR="114300" marT="47625" marB="47625">
                    <a:solidFill>
                      <a:srgbClr val="FFFFFF"/>
                    </a:solidFill>
                  </a:tcPr>
                </a:tc>
                <a:tc>
                  <a:txBody>
                    <a:bodyPr/>
                    <a:lstStyle/>
                    <a:p>
                      <a:r>
                        <a:rPr sz="1800">
                          <a:solidFill>
                            <a:srgbClr val="000000"/>
                          </a:solidFill>
                          <a:latin typeface="DejaVu Sans"/>
                          <a:ea typeface="DejaVu Sans"/>
                          <a:cs typeface="DejaVu Sans"/>
                        </a:rPr>
                        <a:t>Test admin and team actions. Fix status and assignment issues.</a:t>
                      </a:r>
                    </a:p>
                  </a:txBody>
                  <a:tcPr marL="114300" marR="114300" marT="47625" marB="47625">
                    <a:solidFill>
                      <a:srgbClr val="FFFFFF"/>
                    </a:solidFill>
                  </a:tcPr>
                </a:tc>
                <a:tc>
                  <a:txBody>
                    <a:bodyPr/>
                    <a:lstStyle/>
                    <a:p>
                      <a:r>
                        <a:rPr sz="1800">
                          <a:solidFill>
                            <a:srgbClr val="000000"/>
                          </a:solidFill>
                          <a:latin typeface="DejaVu Sans"/>
                          <a:ea typeface="DejaVu Sans"/>
                          <a:cs typeface="DejaVu Sans"/>
                        </a:rPr>
                        <a:t>Complete and close a reviewed case.</a:t>
                      </a:r>
                    </a:p>
                  </a:txBody>
                  <a:tcPr marL="114300" marR="114300" marT="47625" marB="47625">
                    <a:solidFill>
                      <a:srgbClr val="FFFFFF"/>
                    </a:solidFill>
                  </a:tcPr>
                </a:tc>
              </a:tr>
              <a:tr h="742950">
                <a:tc>
                  <a:txBody>
                    <a:bodyPr/>
                    <a:lstStyle/>
                    <a:p>
                      <a:pPr marL="0" marR="0" lvl="0" indent="0" algn="l" defTabSz="914400">
                        <a:lnSpc>
                          <a:spcPct val="100000"/>
                        </a:lnSpc>
                        <a:spcBef>
                          <a:spcPts val="0"/>
                        </a:spcBef>
                        <a:spcAft>
                          <a:spcPts val="0"/>
                        </a:spcAft>
                        <a:buClrTx/>
                        <a:buSzTx/>
                        <a:buFontTx/>
                        <a:buNone/>
                      </a:pPr>
                      <a:r>
                        <a:rPr sz="1800">
                          <a:solidFill>
                            <a:srgbClr val="000000"/>
                          </a:solidFill>
                          <a:latin typeface="DejaVu Sans"/>
                          <a:ea typeface="DejaVu Sans"/>
                          <a:cs typeface="DejaVu Sans"/>
                        </a:rPr>
                        <a:t>Athul</a:t>
                      </a:r>
                    </a:p>
                    <a:p>
                      <a:endParaRPr sz="1800">
                        <a:solidFill>
                          <a:srgbClr val="000000"/>
                        </a:solidFill>
                        <a:latin typeface="DejaVu Sans"/>
                        <a:ea typeface="DejaVu Sans"/>
                        <a:cs typeface="DejaVu Sans"/>
                      </a:endParaRPr>
                    </a:p>
                  </a:txBody>
                  <a:tcPr marL="114300" marR="114300" marT="47625" marB="47625">
                    <a:solidFill>
                      <a:srgbClr val="FFFFFF"/>
                    </a:solidFill>
                  </a:tcPr>
                </a:tc>
                <a:tc>
                  <a:txBody>
                    <a:bodyPr/>
                    <a:lstStyle/>
                    <a:p>
                      <a:r>
                        <a:rPr sz="1800">
                          <a:solidFill>
                            <a:srgbClr val="000000"/>
                          </a:solidFill>
                          <a:latin typeface="DejaVu Sans"/>
                          <a:ea typeface="DejaVu Sans"/>
                          <a:cs typeface="DejaVu Sans"/>
                        </a:rPr>
                        <a:t>Connect user updates, clarification replies and final screens.</a:t>
                      </a:r>
                    </a:p>
                  </a:txBody>
                  <a:tcPr marL="114300" marR="114300" marT="47625" marB="47625">
                    <a:solidFill>
                      <a:srgbClr val="FFFFFF"/>
                    </a:solidFill>
                  </a:tcPr>
                </a:tc>
                <a:tc>
                  <a:txBody>
                    <a:bodyPr/>
                    <a:lstStyle/>
                    <a:p>
                      <a:r>
                        <a:rPr sz="1800">
                          <a:solidFill>
                            <a:srgbClr val="000000"/>
                          </a:solidFill>
                          <a:latin typeface="DejaVu Sans"/>
                          <a:ea typeface="DejaVu Sans"/>
                          <a:cs typeface="DejaVu Sans"/>
                        </a:rPr>
                        <a:t>Show the full citizen experience.</a:t>
                      </a:r>
                    </a:p>
                  </a:txBody>
                  <a:tcPr marL="114300" marR="114300" marT="47625" marB="47625">
                    <a:solidFill>
                      <a:srgbClr val="FFFFFF"/>
                    </a:solidFill>
                  </a:tcPr>
                </a:tc>
              </a:tr>
            </a:tbl>
          </a:graphicData>
        </a:graphic>
      </p:graphicFrame>
      <p:sp>
        <p:nvSpPr>
          <p:cNvPr id="4" name="Rectangle 3">
            <a:extLst xmlns:a="http://schemas.openxmlformats.org/drawingml/2006/main">
              <a:ext uri="{FF2B5EF4-FFF2-40B4-BE49-F238E27FC236}">
                <a16:creationId xmlns:a16="http://schemas.microsoft.com/office/drawing/2014/main" id="{2EE9EBC7-5BDC-4D9F-A205-3F05C88508AA}"/>
              </a:ext>
            </a:extLst>
          </p:cNvPr>
          <p:cNvSpPr>
            <a:spLocks xmlns:a="http://schemas.openxmlformats.org/drawingml/2006/main" noGrp="1"/>
          </p:cNvSpPr>
          <p:nvPr/>
        </p:nvSpPr>
        <p:spPr>
          <a:xfrm xmlns:a="http://schemas.openxmlformats.org/drawingml/2006/main">
            <a:off x="666750" y="562927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0000"/>
                </a:solidFill>
                <a:latin typeface="DejaVu Sans"/>
                <a:ea typeface="DejaVu Sans"/>
                <a:cs typeface="DejaVu Sans"/>
              </a:defRPr>
            </a:pPr>
            <a:r>
              <a:rPr sz="1800" b="1">
                <a:solidFill>
                  <a:srgbClr val="000000"/>
                </a:solidFill>
                <a:latin typeface="DejaVu Sans"/>
                <a:ea typeface="DejaVu Sans"/>
                <a:cs typeface="DejaVu Sans"/>
              </a:rPr>
              <a:t>V4 demo: one flood case runs from submission to closure.</a:t>
            </a:r>
          </a:p>
        </p:txBody>
      </p:sp>
    </p:spTree>
    <p:extLst>
      <p:ext uri="{BB962C8B-B14F-4D97-AF65-F5344CB8AC3E}">
        <p14:creationId xmlns:p14="http://schemas.microsoft.com/office/powerpoint/2010/main" val="112413628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Week 4 / V4: Arya">
            <a:extLst xmlns:a="http://schemas.openxmlformats.org/drawingml/2006/main">
              <a:ext uri="{FF2B5EF4-FFF2-40B4-BE49-F238E27FC236}">
                <a16:creationId xmlns:a16="http://schemas.microsoft.com/office/drawing/2014/main" id="{2A29F343-D30D-4E4F-ABF4-8BFC787F6296}"/>
              </a:ext>
            </a:extLst>
          </p:cNvPr>
          <p:cNvSpPr>
            <a:spLocks xmlns:a="http://schemas.openxmlformats.org/drawingml/2006/main" noGrp="1"/>
          </p:cNvSpPr>
          <p:nvPr/>
        </p:nvSpPr>
        <p:spPr>
          <a:xfrm xmlns:a="http://schemas.openxmlformats.org/drawingml/2006/main">
            <a:off x="628650" y="457200"/>
            <a:ext cx="10934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11111"/>
                </a:solidFill>
                <a:latin typeface="DejaVu Sans"/>
                <a:ea typeface="DejaVu Sans"/>
                <a:cs typeface="DejaVu Sans"/>
              </a:defRPr>
            </a:pPr>
            <a:r>
              <a:rPr sz="3300" b="1">
                <a:solidFill>
                  <a:srgbClr val="111111"/>
                </a:solidFill>
                <a:latin typeface="DejaVu Sans"/>
                <a:ea typeface="DejaVu Sans"/>
                <a:cs typeface="DejaVu Sans"/>
              </a:rPr>
              <a:t>Week 4 / V4: Arya</a:t>
            </a:r>
          </a:p>
        </p:txBody>
      </p:sp>
      <p:sp>
        <p:nvSpPr>
          <p:cNvPr id="2" name="Connect AI tools in an agent workflow and test Mal">
            <a:extLst xmlns:a="http://schemas.openxmlformats.org/drawingml/2006/main">
              <a:ext uri="{FF2B5EF4-FFF2-40B4-BE49-F238E27FC236}">
                <a16:creationId xmlns:a16="http://schemas.microsoft.com/office/drawing/2014/main" id="{269E9321-9F54-43C9-B2B6-95D4C8CE3DCB}"/>
              </a:ext>
            </a:extLst>
          </p:cNvPr>
          <p:cNvSpPr>
            <a:spLocks xmlns:a="http://schemas.openxmlformats.org/drawingml/2006/main" noGrp="1"/>
          </p:cNvSpPr>
          <p:nvPr/>
        </p:nvSpPr>
        <p:spPr>
          <a:xfrm xmlns:a="http://schemas.openxmlformats.org/drawingml/2006/main">
            <a:off x="628650" y="13049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111111"/>
                </a:solidFill>
                <a:latin typeface="DejaVu Sans"/>
                <a:ea typeface="DejaVu Sans"/>
                <a:cs typeface="DejaVu Sans"/>
              </a:defRPr>
            </a:pPr>
            <a:r>
              <a:rPr sz="1800" b="0">
                <a:solidFill>
                  <a:srgbClr val="111111"/>
                </a:solidFill>
                <a:latin typeface="DejaVu Sans"/>
                <a:ea typeface="DejaVu Sans"/>
                <a:cs typeface="DejaVu Sans"/>
              </a:rPr>
              <a:t>Connect AI tools in an agent workflow and test Malayalam input.</a:t>
            </a:r>
          </a:p>
        </p:txBody>
      </p:sp>
      <p:graphicFrame>
        <p:nvGraphicFramePr>
          <p:cNvPr id="9" name=""/>
          <p:cNvGraphicFramePr/>
          <p:nvPr/>
        </p:nvGraphicFramePr>
        <p:xfrm>
          <a:off xmlns:a="http://schemas.openxmlformats.org/drawingml/2006/main" x="628650" y="1771650"/>
          <a:ext xmlns:a="http://schemas.openxmlformats.org/drawingml/2006/main" cx="10934700" cy="3771900"/>
        </p:xfrm>
        <a:graphic xmlns:a="http://schemas.openxmlformats.org/drawingml/2006/main">
          <a:graphicData uri="http://schemas.openxmlformats.org/drawingml/2006/table">
            <a:tbl>
              <a:tblPr firstRow="1" bandRow="0"/>
              <a:tblGrid>
                <a:gridCol w="7067550"/>
                <a:gridCol w="3867150"/>
              </a:tblGrid>
              <a:tr h="419100">
                <a:tc>
                  <a:txBody>
                    <a:bodyPr/>
                    <a:lstStyle/>
                    <a:p>
                      <a:r>
                        <a:rPr sz="1800" b="1">
                          <a:solidFill>
                            <a:srgbClr val="111111"/>
                          </a:solidFill>
                          <a:latin typeface="DejaVu Sans"/>
                          <a:ea typeface="DejaVu Sans"/>
                          <a:cs typeface="DejaVu Sans"/>
                        </a:rPr>
                        <a:t>Project file</a:t>
                      </a:r>
                    </a:p>
                  </a:txBody>
                  <a:tcPr marL="114300" marR="114300" marT="47625" marB="47625" anchor="ctr">
                    <a:solidFill>
                      <a:srgbClr val="FFFFFF"/>
                    </a:solidFill>
                  </a:tcPr>
                </a:tc>
                <a:tc>
                  <a:txBody>
                    <a:bodyPr/>
                    <a:lstStyle/>
                    <a:p>
                      <a:r>
                        <a:rPr sz="1800" b="1">
                          <a:solidFill>
                            <a:srgbClr val="111111"/>
                          </a:solidFill>
                          <a:latin typeface="DejaVu Sans"/>
                          <a:ea typeface="DejaVu Sans"/>
                          <a:cs typeface="DejaVu Sans"/>
                        </a:rPr>
                        <a:t>Feature to reference</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backend/ai/agent.py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SDK workflow / handoff / traces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backend/ai/translator.py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Malayalam translation checks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backend/ai/location_extractor.py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Reuse geography extraction</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backend/ai/severity_model.py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Reuse trained urgency model</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backend/ai/summarizer.py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Reuse summary generation</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backend/routers/incidents.py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Save / rerun / revision history</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backend/config.py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Local Ollama settings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Modelfile</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Gemma 4 local model profile</a:t>
                      </a:r>
                    </a:p>
                  </a:txBody>
                  <a:tcPr marL="114300" marR="114300" marT="47625" marB="47625" anchor="ctr">
                    <a:solidFill>
                      <a:srgbClr val="FFFFFF"/>
                    </a:solidFill>
                  </a:tcPr>
                </a:tc>
              </a:tr>
            </a:tbl>
          </a:graphicData>
        </a:graphic>
      </p:graphicFrame>
      <p:sp>
        <p:nvSpPr>
          <p:cNvPr id="4" name="Demo: Analyze Malayalam through seven SDK tools; r">
            <a:extLst xmlns:a="http://schemas.openxmlformats.org/drawingml/2006/main">
              <a:ext uri="{FF2B5EF4-FFF2-40B4-BE49-F238E27FC236}">
                <a16:creationId xmlns:a16="http://schemas.microsoft.com/office/drawing/2014/main" id="{ED74DAA6-97DB-4E12-8C93-ECFE66EFAA2F}"/>
              </a:ext>
            </a:extLst>
          </p:cNvPr>
          <p:cNvSpPr>
            <a:spLocks xmlns:a="http://schemas.openxmlformats.org/drawingml/2006/main" noGrp="1"/>
          </p:cNvSpPr>
          <p:nvPr/>
        </p:nvSpPr>
        <p:spPr>
          <a:xfrm xmlns:a="http://schemas.openxmlformats.org/drawingml/2006/main">
            <a:off x="666750" y="57340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111111"/>
                </a:solidFill>
                <a:latin typeface="DejaVu Sans"/>
                <a:ea typeface="DejaVu Sans"/>
                <a:cs typeface="DejaVu Sans"/>
              </a:defRPr>
            </a:pPr>
            <a:r>
              <a:rPr sz="1725" b="1">
                <a:solidFill>
                  <a:srgbClr val="111111"/>
                </a:solidFill>
                <a:latin typeface="DejaVu Sans"/>
                <a:ea typeface="DejaVu Sans"/>
                <a:cs typeface="DejaVu Sans"/>
              </a:rPr>
              <a:t>Demo: Analyze Malayalam through seven SDK tools; retain original text and provenance.</a:t>
            </a:r>
          </a:p>
        </p:txBody>
      </p:sp>
      <p:sp>
        <p:nvSpPr>
          <p:cNvPr id="5" name="* Shared file: coordinate your feature with the ot">
            <a:extLst xmlns:a="http://schemas.openxmlformats.org/drawingml/2006/main">
              <a:ext uri="{FF2B5EF4-FFF2-40B4-BE49-F238E27FC236}">
                <a16:creationId xmlns:a16="http://schemas.microsoft.com/office/drawing/2014/main" id="{9EEEE5DA-62B7-4BE5-84C4-4267B08EC699}"/>
              </a:ext>
            </a:extLst>
          </p:cNvPr>
          <p:cNvSpPr>
            <a:spLocks xmlns:a="http://schemas.openxmlformats.org/drawingml/2006/main" noGrp="1"/>
          </p:cNvSpPr>
          <p:nvPr/>
        </p:nvSpPr>
        <p:spPr>
          <a:xfrm xmlns:a="http://schemas.openxmlformats.org/drawingml/2006/main">
            <a:off x="666750" y="619125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111111"/>
                </a:solidFill>
                <a:latin typeface="DejaVu Sans"/>
                <a:ea typeface="DejaVu Sans"/>
                <a:cs typeface="DejaVu Sans"/>
              </a:defRPr>
            </a:pPr>
            <a:r>
              <a:rPr sz="1350" b="0">
                <a:solidFill>
                  <a:srgbClr val="111111"/>
                </a:solidFill>
                <a:latin typeface="DejaVu Sans"/>
                <a:ea typeface="DejaVu Sans"/>
                <a:cs typeface="DejaVu Sans"/>
              </a:rPr>
              <a:t>* Shared file: coordinate your feature with the other members.</a:t>
            </a:r>
          </a:p>
        </p:txBody>
      </p:sp>
      <p:sp>
        <p:nvSpPr>
          <p:cNvPr id="6" name="20">
            <a:extLst xmlns:a="http://schemas.openxmlformats.org/drawingml/2006/main">
              <a:ext uri="{FF2B5EF4-FFF2-40B4-BE49-F238E27FC236}">
                <a16:creationId xmlns:a16="http://schemas.microsoft.com/office/drawing/2014/main" id="{FE76ECFF-65D4-4DC4-A10E-81D7D52B0598}"/>
              </a:ext>
            </a:extLst>
          </p:cNvPr>
          <p:cNvSpPr>
            <a:spLocks xmlns:a="http://schemas.openxmlformats.org/drawingml/2006/main" noGrp="1"/>
          </p:cNvSpPr>
          <p:nvPr/>
        </p:nvSpPr>
        <p:spPr>
          <a:xfrm xmlns:a="http://schemas.openxmlformats.org/drawingml/2006/main">
            <a:off x="110299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111111"/>
                </a:solidFill>
                <a:latin typeface="DejaVu Sans"/>
                <a:ea typeface="DejaVu Sans"/>
                <a:cs typeface="DejaVu Sans"/>
              </a:defRPr>
            </a:pPr>
            <a:r>
              <a:rPr sz="1275" b="0">
                <a:solidFill>
                  <a:srgbClr val="111111"/>
                </a:solidFill>
                <a:latin typeface="DejaVu Sans"/>
                <a:ea typeface="DejaVu Sans"/>
                <a:cs typeface="DejaVu Sans"/>
              </a:rPr>
              <a:t>20</a:t>
            </a:r>
          </a:p>
        </p:txBody>
      </p:sp>
    </p:spTree>
    <p:extLst>
      <p:ext uri="{BB962C8B-B14F-4D97-AF65-F5344CB8AC3E}">
        <p14:creationId xmlns:p14="http://schemas.microsoft.com/office/powerpoint/2010/main" val="166082997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Week 4 / V4: Maanaz">
            <a:extLst xmlns:a="http://schemas.openxmlformats.org/drawingml/2006/main">
              <a:ext uri="{FF2B5EF4-FFF2-40B4-BE49-F238E27FC236}">
                <a16:creationId xmlns:a16="http://schemas.microsoft.com/office/drawing/2014/main" id="{DA6FD76B-6509-4AAD-8969-85A5E7541A50}"/>
              </a:ext>
            </a:extLst>
          </p:cNvPr>
          <p:cNvSpPr>
            <a:spLocks xmlns:a="http://schemas.openxmlformats.org/drawingml/2006/main" noGrp="1"/>
          </p:cNvSpPr>
          <p:nvPr/>
        </p:nvSpPr>
        <p:spPr>
          <a:xfrm xmlns:a="http://schemas.openxmlformats.org/drawingml/2006/main">
            <a:off x="628650" y="457200"/>
            <a:ext cx="10934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11111"/>
                </a:solidFill>
                <a:latin typeface="DejaVu Sans"/>
                <a:ea typeface="DejaVu Sans"/>
                <a:cs typeface="DejaVu Sans"/>
              </a:defRPr>
            </a:pPr>
            <a:r>
              <a:rPr sz="3300" b="1">
                <a:solidFill>
                  <a:srgbClr val="111111"/>
                </a:solidFill>
                <a:latin typeface="DejaVu Sans"/>
                <a:ea typeface="DejaVu Sans"/>
                <a:cs typeface="DejaVu Sans"/>
              </a:rPr>
              <a:t>Week 4 / V4: Maanaz</a:t>
            </a:r>
          </a:p>
        </p:txBody>
      </p:sp>
      <p:sp>
        <p:nvSpPr>
          <p:cNvPr id="2" name="Connect notifications, clarification and case clos">
            <a:extLst xmlns:a="http://schemas.openxmlformats.org/drawingml/2006/main">
              <a:ext uri="{FF2B5EF4-FFF2-40B4-BE49-F238E27FC236}">
                <a16:creationId xmlns:a16="http://schemas.microsoft.com/office/drawing/2014/main" id="{DD32C4FE-553D-4D55-A3DA-DEF24E5D9427}"/>
              </a:ext>
            </a:extLst>
          </p:cNvPr>
          <p:cNvSpPr>
            <a:spLocks xmlns:a="http://schemas.openxmlformats.org/drawingml/2006/main" noGrp="1"/>
          </p:cNvSpPr>
          <p:nvPr/>
        </p:nvSpPr>
        <p:spPr>
          <a:xfrm xmlns:a="http://schemas.openxmlformats.org/drawingml/2006/main">
            <a:off x="628650" y="13049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111111"/>
                </a:solidFill>
                <a:latin typeface="DejaVu Sans"/>
                <a:ea typeface="DejaVu Sans"/>
                <a:cs typeface="DejaVu Sans"/>
              </a:defRPr>
            </a:pPr>
            <a:r>
              <a:rPr sz="1800" b="0">
                <a:solidFill>
                  <a:srgbClr val="111111"/>
                </a:solidFill>
                <a:latin typeface="DejaVu Sans"/>
                <a:ea typeface="DejaVu Sans"/>
                <a:cs typeface="DejaVu Sans"/>
              </a:rPr>
              <a:t>Connect notifications, clarification and case closure APIs.</a:t>
            </a:r>
          </a:p>
        </p:txBody>
      </p:sp>
      <p:graphicFrame>
        <p:nvGraphicFramePr>
          <p:cNvPr id="9" name=""/>
          <p:cNvGraphicFramePr/>
          <p:nvPr/>
        </p:nvGraphicFramePr>
        <p:xfrm>
          <a:off xmlns:a="http://schemas.openxmlformats.org/drawingml/2006/main" x="628650" y="1771650"/>
          <a:ext xmlns:a="http://schemas.openxmlformats.org/drawingml/2006/main" cx="10934700" cy="3771900"/>
        </p:xfrm>
        <a:graphic xmlns:a="http://schemas.openxmlformats.org/drawingml/2006/main">
          <a:graphicData uri="http://schemas.openxmlformats.org/drawingml/2006/table">
            <a:tbl>
              <a:tblPr firstRow="1" bandRow="0"/>
              <a:tblGrid>
                <a:gridCol w="7067550"/>
                <a:gridCol w="3867150"/>
              </a:tblGrid>
              <a:tr h="419100">
                <a:tc>
                  <a:txBody>
                    <a:bodyPr/>
                    <a:lstStyle/>
                    <a:p>
                      <a:r>
                        <a:rPr sz="1800" b="1">
                          <a:solidFill>
                            <a:srgbClr val="111111"/>
                          </a:solidFill>
                          <a:latin typeface="DejaVu Sans"/>
                          <a:ea typeface="DejaVu Sans"/>
                          <a:cs typeface="DejaVu Sans"/>
                        </a:rPr>
                        <a:t>Project file</a:t>
                      </a:r>
                    </a:p>
                  </a:txBody>
                  <a:tcPr marL="114300" marR="114300" marT="47625" marB="47625" anchor="ctr">
                    <a:solidFill>
                      <a:srgbClr val="FFFFFF"/>
                    </a:solidFill>
                  </a:tcPr>
                </a:tc>
                <a:tc>
                  <a:txBody>
                    <a:bodyPr/>
                    <a:lstStyle/>
                    <a:p>
                      <a:r>
                        <a:rPr sz="1800" b="1">
                          <a:solidFill>
                            <a:srgbClr val="111111"/>
                          </a:solidFill>
                          <a:latin typeface="DejaVu Sans"/>
                          <a:ea typeface="DejaVu Sans"/>
                          <a:cs typeface="DejaVu Sans"/>
                        </a:rPr>
                        <a:t>Feature to reference</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backend/routers/users.py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Notifications / read actions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backend/services/notification_service.py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Notify / audit transaction</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backend/routers/incidents.py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Reply / history / closure</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backend/services/incident_service.py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Status / citizen updates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backend/schemas/incident_schema.py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Reply / status input contracts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backend/models/incident.py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Case / analysis / task history</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backend/models/user.py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Notification / audit tables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backend/tests/test_incident_acceptance.py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Clarification / closure cases</a:t>
                      </a:r>
                    </a:p>
                  </a:txBody>
                  <a:tcPr marL="114300" marR="114300" marT="47625" marB="47625" anchor="ctr">
                    <a:solidFill>
                      <a:srgbClr val="FFFFFF"/>
                    </a:solidFill>
                  </a:tcPr>
                </a:tc>
              </a:tr>
            </a:tbl>
          </a:graphicData>
        </a:graphic>
      </p:graphicFrame>
      <p:sp>
        <p:nvSpPr>
          <p:cNvPr id="4" name="Demo: Save clarification, emit private updates and">
            <a:extLst xmlns:a="http://schemas.openxmlformats.org/drawingml/2006/main">
              <a:ext uri="{FF2B5EF4-FFF2-40B4-BE49-F238E27FC236}">
                <a16:creationId xmlns:a16="http://schemas.microsoft.com/office/drawing/2014/main" id="{2E919CA0-7A4C-4F28-A537-07040731EAA6}"/>
              </a:ext>
            </a:extLst>
          </p:cNvPr>
          <p:cNvSpPr>
            <a:spLocks xmlns:a="http://schemas.openxmlformats.org/drawingml/2006/main" noGrp="1"/>
          </p:cNvSpPr>
          <p:nvPr/>
        </p:nvSpPr>
        <p:spPr>
          <a:xfrm xmlns:a="http://schemas.openxmlformats.org/drawingml/2006/main">
            <a:off x="666750" y="57340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111111"/>
                </a:solidFill>
                <a:latin typeface="DejaVu Sans"/>
                <a:ea typeface="DejaVu Sans"/>
                <a:cs typeface="DejaVu Sans"/>
              </a:defRPr>
            </a:pPr>
            <a:r>
              <a:rPr sz="1725" b="1">
                <a:solidFill>
                  <a:srgbClr val="111111"/>
                </a:solidFill>
                <a:latin typeface="DejaVu Sans"/>
                <a:ea typeface="DejaVu Sans"/>
                <a:cs typeface="DejaVu Sans"/>
              </a:rPr>
              <a:t>Demo: Save clarification, emit private updates and preserve the case timeline.</a:t>
            </a:r>
          </a:p>
        </p:txBody>
      </p:sp>
      <p:sp>
        <p:nvSpPr>
          <p:cNvPr id="5" name="* Shared file: coordinate your feature with the ot">
            <a:extLst xmlns:a="http://schemas.openxmlformats.org/drawingml/2006/main">
              <a:ext uri="{FF2B5EF4-FFF2-40B4-BE49-F238E27FC236}">
                <a16:creationId xmlns:a16="http://schemas.microsoft.com/office/drawing/2014/main" id="{C3F055D8-22ED-47C7-B76E-8E45D8AC2E4F}"/>
              </a:ext>
            </a:extLst>
          </p:cNvPr>
          <p:cNvSpPr>
            <a:spLocks xmlns:a="http://schemas.openxmlformats.org/drawingml/2006/main" noGrp="1"/>
          </p:cNvSpPr>
          <p:nvPr/>
        </p:nvSpPr>
        <p:spPr>
          <a:xfrm xmlns:a="http://schemas.openxmlformats.org/drawingml/2006/main">
            <a:off x="666750" y="619125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111111"/>
                </a:solidFill>
                <a:latin typeface="DejaVu Sans"/>
                <a:ea typeface="DejaVu Sans"/>
                <a:cs typeface="DejaVu Sans"/>
              </a:defRPr>
            </a:pPr>
            <a:r>
              <a:rPr sz="1350" b="0">
                <a:solidFill>
                  <a:srgbClr val="111111"/>
                </a:solidFill>
                <a:latin typeface="DejaVu Sans"/>
                <a:ea typeface="DejaVu Sans"/>
                <a:cs typeface="DejaVu Sans"/>
              </a:rPr>
              <a:t>* Shared file: coordinate your feature with the other members.</a:t>
            </a:r>
          </a:p>
        </p:txBody>
      </p:sp>
      <p:sp>
        <p:nvSpPr>
          <p:cNvPr id="6" name="21">
            <a:extLst xmlns:a="http://schemas.openxmlformats.org/drawingml/2006/main">
              <a:ext uri="{FF2B5EF4-FFF2-40B4-BE49-F238E27FC236}">
                <a16:creationId xmlns:a16="http://schemas.microsoft.com/office/drawing/2014/main" id="{17C2B15F-0704-423E-B220-E531A68B3935}"/>
              </a:ext>
            </a:extLst>
          </p:cNvPr>
          <p:cNvSpPr>
            <a:spLocks xmlns:a="http://schemas.openxmlformats.org/drawingml/2006/main" noGrp="1"/>
          </p:cNvSpPr>
          <p:nvPr/>
        </p:nvSpPr>
        <p:spPr>
          <a:xfrm xmlns:a="http://schemas.openxmlformats.org/drawingml/2006/main">
            <a:off x="110299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111111"/>
                </a:solidFill>
                <a:latin typeface="DejaVu Sans"/>
                <a:ea typeface="DejaVu Sans"/>
                <a:cs typeface="DejaVu Sans"/>
              </a:defRPr>
            </a:pPr>
            <a:r>
              <a:rPr sz="1275" b="0">
                <a:solidFill>
                  <a:srgbClr val="111111"/>
                </a:solidFill>
                <a:latin typeface="DejaVu Sans"/>
                <a:ea typeface="DejaVu Sans"/>
                <a:cs typeface="DejaVu Sans"/>
              </a:rPr>
              <a:t>21</a:t>
            </a:r>
          </a:p>
        </p:txBody>
      </p:sp>
    </p:spTree>
    <p:extLst>
      <p:ext uri="{BB962C8B-B14F-4D97-AF65-F5344CB8AC3E}">
        <p14:creationId xmlns:p14="http://schemas.microsoft.com/office/powerpoint/2010/main" val="43512612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Week 4 / V4: Vidya">
            <a:extLst xmlns:a="http://schemas.openxmlformats.org/drawingml/2006/main">
              <a:ext uri="{FF2B5EF4-FFF2-40B4-BE49-F238E27FC236}">
                <a16:creationId xmlns:a16="http://schemas.microsoft.com/office/drawing/2014/main" id="{CA308310-D4AF-49DC-9E31-1717BCC6B762}"/>
              </a:ext>
            </a:extLst>
          </p:cNvPr>
          <p:cNvSpPr>
            <a:spLocks xmlns:a="http://schemas.openxmlformats.org/drawingml/2006/main" noGrp="1"/>
          </p:cNvSpPr>
          <p:nvPr/>
        </p:nvSpPr>
        <p:spPr>
          <a:xfrm xmlns:a="http://schemas.openxmlformats.org/drawingml/2006/main">
            <a:off x="628650" y="457200"/>
            <a:ext cx="10934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11111"/>
                </a:solidFill>
                <a:latin typeface="DejaVu Sans"/>
                <a:ea typeface="DejaVu Sans"/>
                <a:cs typeface="DejaVu Sans"/>
              </a:defRPr>
            </a:pPr>
            <a:r>
              <a:rPr sz="3300" b="1">
                <a:solidFill>
                  <a:srgbClr val="111111"/>
                </a:solidFill>
                <a:latin typeface="DejaVu Sans"/>
                <a:ea typeface="DejaVu Sans"/>
                <a:cs typeface="DejaVu Sans"/>
              </a:rPr>
              <a:t>Week 4 / V4: Vidya</a:t>
            </a:r>
          </a:p>
        </p:txBody>
      </p:sp>
      <p:sp>
        <p:nvSpPr>
          <p:cNvPr id="2" name="Test admin and team actions; fix status and assign">
            <a:extLst xmlns:a="http://schemas.openxmlformats.org/drawingml/2006/main">
              <a:ext uri="{FF2B5EF4-FFF2-40B4-BE49-F238E27FC236}">
                <a16:creationId xmlns:a16="http://schemas.microsoft.com/office/drawing/2014/main" id="{76E31C53-0109-49BE-9CF9-E49EC5E4F1E1}"/>
              </a:ext>
            </a:extLst>
          </p:cNvPr>
          <p:cNvSpPr>
            <a:spLocks xmlns:a="http://schemas.openxmlformats.org/drawingml/2006/main" noGrp="1"/>
          </p:cNvSpPr>
          <p:nvPr/>
        </p:nvSpPr>
        <p:spPr>
          <a:xfrm xmlns:a="http://schemas.openxmlformats.org/drawingml/2006/main">
            <a:off x="628650" y="13049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111111"/>
                </a:solidFill>
                <a:latin typeface="DejaVu Sans"/>
                <a:ea typeface="DejaVu Sans"/>
                <a:cs typeface="DejaVu Sans"/>
              </a:defRPr>
            </a:pPr>
            <a:r>
              <a:rPr sz="1800" b="0">
                <a:solidFill>
                  <a:srgbClr val="111111"/>
                </a:solidFill>
                <a:latin typeface="DejaVu Sans"/>
                <a:ea typeface="DejaVu Sans"/>
                <a:cs typeface="DejaVu Sans"/>
              </a:rPr>
              <a:t>Test admin and team actions; fix status and assignment issues.</a:t>
            </a:r>
          </a:p>
        </p:txBody>
      </p:sp>
      <p:graphicFrame>
        <p:nvGraphicFramePr>
          <p:cNvPr id="9" name=""/>
          <p:cNvGraphicFramePr/>
          <p:nvPr/>
        </p:nvGraphicFramePr>
        <p:xfrm>
          <a:off xmlns:a="http://schemas.openxmlformats.org/drawingml/2006/main" x="628650" y="1771650"/>
          <a:ext xmlns:a="http://schemas.openxmlformats.org/drawingml/2006/main" cx="10934700" cy="3771900"/>
        </p:xfrm>
        <a:graphic xmlns:a="http://schemas.openxmlformats.org/drawingml/2006/main">
          <a:graphicData uri="http://schemas.openxmlformats.org/drawingml/2006/table">
            <a:tbl>
              <a:tblPr firstRow="1" bandRow="0"/>
              <a:tblGrid>
                <a:gridCol w="7067550"/>
                <a:gridCol w="3867150"/>
              </a:tblGrid>
              <a:tr h="419100">
                <a:tc>
                  <a:txBody>
                    <a:bodyPr/>
                    <a:lstStyle/>
                    <a:p>
                      <a:r>
                        <a:rPr sz="1800" b="1">
                          <a:solidFill>
                            <a:srgbClr val="111111"/>
                          </a:solidFill>
                          <a:latin typeface="DejaVu Sans"/>
                          <a:ea typeface="DejaVu Sans"/>
                          <a:cs typeface="DejaVu Sans"/>
                        </a:rPr>
                        <a:t>Project file</a:t>
                      </a:r>
                    </a:p>
                  </a:txBody>
                  <a:tcPr marL="114300" marR="114300" marT="47625" marB="47625" anchor="ctr">
                    <a:solidFill>
                      <a:srgbClr val="FFFFFF"/>
                    </a:solidFill>
                  </a:tcPr>
                </a:tc>
                <a:tc>
                  <a:txBody>
                    <a:bodyPr/>
                    <a:lstStyle/>
                    <a:p>
                      <a:r>
                        <a:rPr sz="1800" b="1">
                          <a:solidFill>
                            <a:srgbClr val="111111"/>
                          </a:solidFill>
                          <a:latin typeface="DejaVu Sans"/>
                          <a:ea typeface="DejaVu Sans"/>
                          <a:cs typeface="DejaVu Sans"/>
                        </a:rPr>
                        <a:t>Feature to reference</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backend/tests/test_workflows.py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Full lifecycle / permissions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backend/tests/test_backend_audit.py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Assignment / history privacy</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backend/tests/test_extended.py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Investigation / concurrency</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backend/tests/test_core_acceptance.py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Acceptance / handoff edges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backend/tests/test_incident_acceptance.py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Rescue / relief / closure</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backend/routers/teams.py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Correct acceptance action</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backend/services/team_service.py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Assignment / release checks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backend/routers/incidents.py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Review / progress / handoff</a:t>
                      </a:r>
                    </a:p>
                  </a:txBody>
                  <a:tcPr marL="114300" marR="114300" marT="47625" marB="47625" anchor="ctr">
                    <a:solidFill>
                      <a:srgbClr val="FFFFFF"/>
                    </a:solidFill>
                  </a:tcPr>
                </a:tc>
              </a:tr>
            </a:tbl>
          </a:graphicData>
        </a:graphic>
      </p:graphicFrame>
      <p:sp>
        <p:nvSpPr>
          <p:cNvPr id="4" name="Demo: Complete the case; reject skipped stages, bu">
            <a:extLst xmlns:a="http://schemas.openxmlformats.org/drawingml/2006/main">
              <a:ext uri="{FF2B5EF4-FFF2-40B4-BE49-F238E27FC236}">
                <a16:creationId xmlns:a16="http://schemas.microsoft.com/office/drawing/2014/main" id="{42651AC8-AEE5-4BAB-BAD3-A05984F69B0C}"/>
              </a:ext>
            </a:extLst>
          </p:cNvPr>
          <p:cNvSpPr>
            <a:spLocks xmlns:a="http://schemas.openxmlformats.org/drawingml/2006/main" noGrp="1"/>
          </p:cNvSpPr>
          <p:nvPr/>
        </p:nvSpPr>
        <p:spPr>
          <a:xfrm xmlns:a="http://schemas.openxmlformats.org/drawingml/2006/main">
            <a:off x="666750" y="57340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111111"/>
                </a:solidFill>
                <a:latin typeface="DejaVu Sans"/>
                <a:ea typeface="DejaVu Sans"/>
                <a:cs typeface="DejaVu Sans"/>
              </a:defRPr>
            </a:pPr>
            <a:r>
              <a:rPr sz="1725" b="1">
                <a:solidFill>
                  <a:srgbClr val="111111"/>
                </a:solidFill>
                <a:latin typeface="DejaVu Sans"/>
                <a:ea typeface="DejaVu Sans"/>
                <a:cs typeface="DejaVu Sans"/>
              </a:rPr>
              <a:t>Demo: Complete the case; reject skipped stages, busy teams and unauthorized closure.</a:t>
            </a:r>
          </a:p>
        </p:txBody>
      </p:sp>
      <p:sp>
        <p:nvSpPr>
          <p:cNvPr id="5" name="* Shared file: coordinate your feature with the ot">
            <a:extLst xmlns:a="http://schemas.openxmlformats.org/drawingml/2006/main">
              <a:ext uri="{FF2B5EF4-FFF2-40B4-BE49-F238E27FC236}">
                <a16:creationId xmlns:a16="http://schemas.microsoft.com/office/drawing/2014/main" id="{F58FC9C7-75CE-42BD-8161-C061B8A7B0FD}"/>
              </a:ext>
            </a:extLst>
          </p:cNvPr>
          <p:cNvSpPr>
            <a:spLocks xmlns:a="http://schemas.openxmlformats.org/drawingml/2006/main" noGrp="1"/>
          </p:cNvSpPr>
          <p:nvPr/>
        </p:nvSpPr>
        <p:spPr>
          <a:xfrm xmlns:a="http://schemas.openxmlformats.org/drawingml/2006/main">
            <a:off x="666750" y="619125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111111"/>
                </a:solidFill>
                <a:latin typeface="DejaVu Sans"/>
                <a:ea typeface="DejaVu Sans"/>
                <a:cs typeface="DejaVu Sans"/>
              </a:defRPr>
            </a:pPr>
            <a:r>
              <a:rPr sz="1350" b="0">
                <a:solidFill>
                  <a:srgbClr val="111111"/>
                </a:solidFill>
                <a:latin typeface="DejaVu Sans"/>
                <a:ea typeface="DejaVu Sans"/>
                <a:cs typeface="DejaVu Sans"/>
              </a:rPr>
              <a:t>* Shared file: coordinate your feature with the other members.</a:t>
            </a:r>
          </a:p>
        </p:txBody>
      </p:sp>
      <p:sp>
        <p:nvSpPr>
          <p:cNvPr id="6" name="22">
            <a:extLst xmlns:a="http://schemas.openxmlformats.org/drawingml/2006/main">
              <a:ext uri="{FF2B5EF4-FFF2-40B4-BE49-F238E27FC236}">
                <a16:creationId xmlns:a16="http://schemas.microsoft.com/office/drawing/2014/main" id="{7115CD5F-8538-4CA0-9B72-F9C61F762BFF}"/>
              </a:ext>
            </a:extLst>
          </p:cNvPr>
          <p:cNvSpPr>
            <a:spLocks xmlns:a="http://schemas.openxmlformats.org/drawingml/2006/main" noGrp="1"/>
          </p:cNvSpPr>
          <p:nvPr/>
        </p:nvSpPr>
        <p:spPr>
          <a:xfrm xmlns:a="http://schemas.openxmlformats.org/drawingml/2006/main">
            <a:off x="110299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111111"/>
                </a:solidFill>
                <a:latin typeface="DejaVu Sans"/>
                <a:ea typeface="DejaVu Sans"/>
                <a:cs typeface="DejaVu Sans"/>
              </a:defRPr>
            </a:pPr>
            <a:r>
              <a:rPr sz="1275" b="0">
                <a:solidFill>
                  <a:srgbClr val="111111"/>
                </a:solidFill>
                <a:latin typeface="DejaVu Sans"/>
                <a:ea typeface="DejaVu Sans"/>
                <a:cs typeface="DejaVu Sans"/>
              </a:rPr>
              <a:t>22</a:t>
            </a:r>
          </a:p>
        </p:txBody>
      </p:sp>
    </p:spTree>
    <p:extLst>
      <p:ext uri="{BB962C8B-B14F-4D97-AF65-F5344CB8AC3E}">
        <p14:creationId xmlns:p14="http://schemas.microsoft.com/office/powerpoint/2010/main" val="190228098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Week 4 / V4: Athul">
            <a:extLst xmlns:a="http://schemas.openxmlformats.org/drawingml/2006/main">
              <a:ext uri="{FF2B5EF4-FFF2-40B4-BE49-F238E27FC236}">
                <a16:creationId xmlns:a16="http://schemas.microsoft.com/office/drawing/2014/main" id="{65FF9018-3209-4AF8-809E-344CA7E2EF6A}"/>
              </a:ext>
            </a:extLst>
          </p:cNvPr>
          <p:cNvSpPr>
            <a:spLocks xmlns:a="http://schemas.openxmlformats.org/drawingml/2006/main" noGrp="1"/>
          </p:cNvSpPr>
          <p:nvPr/>
        </p:nvSpPr>
        <p:spPr>
          <a:xfrm xmlns:a="http://schemas.openxmlformats.org/drawingml/2006/main">
            <a:off x="628650" y="457200"/>
            <a:ext cx="10934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11111"/>
                </a:solidFill>
                <a:latin typeface="DejaVu Sans"/>
                <a:ea typeface="DejaVu Sans"/>
                <a:cs typeface="DejaVu Sans"/>
              </a:defRPr>
            </a:pPr>
            <a:r>
              <a:rPr sz="3300" b="1">
                <a:solidFill>
                  <a:srgbClr val="111111"/>
                </a:solidFill>
                <a:latin typeface="DejaVu Sans"/>
                <a:ea typeface="DejaVu Sans"/>
                <a:cs typeface="DejaVu Sans"/>
              </a:rPr>
              <a:t>Week 4 / V4: Athul</a:t>
            </a:r>
          </a:p>
        </p:txBody>
      </p:sp>
      <p:sp>
        <p:nvSpPr>
          <p:cNvPr id="2" name="Connect user updates, clarification replies and fi">
            <a:extLst xmlns:a="http://schemas.openxmlformats.org/drawingml/2006/main">
              <a:ext uri="{FF2B5EF4-FFF2-40B4-BE49-F238E27FC236}">
                <a16:creationId xmlns:a16="http://schemas.microsoft.com/office/drawing/2014/main" id="{3AC6377D-14CB-411D-97BF-C990991B826A}"/>
              </a:ext>
            </a:extLst>
          </p:cNvPr>
          <p:cNvSpPr>
            <a:spLocks xmlns:a="http://schemas.openxmlformats.org/drawingml/2006/main" noGrp="1"/>
          </p:cNvSpPr>
          <p:nvPr/>
        </p:nvSpPr>
        <p:spPr>
          <a:xfrm xmlns:a="http://schemas.openxmlformats.org/drawingml/2006/main">
            <a:off x="628650" y="1304925"/>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111111"/>
                </a:solidFill>
                <a:latin typeface="DejaVu Sans"/>
                <a:ea typeface="DejaVu Sans"/>
                <a:cs typeface="DejaVu Sans"/>
              </a:defRPr>
            </a:pPr>
            <a:r>
              <a:rPr sz="1800" b="0">
                <a:solidFill>
                  <a:srgbClr val="111111"/>
                </a:solidFill>
                <a:latin typeface="DejaVu Sans"/>
                <a:ea typeface="DejaVu Sans"/>
                <a:cs typeface="DejaVu Sans"/>
              </a:rPr>
              <a:t>Connect user updates, clarification replies and final screens.</a:t>
            </a:r>
          </a:p>
        </p:txBody>
      </p:sp>
      <p:graphicFrame>
        <p:nvGraphicFramePr>
          <p:cNvPr id="9" name=""/>
          <p:cNvGraphicFramePr/>
          <p:nvPr/>
        </p:nvGraphicFramePr>
        <p:xfrm>
          <a:off xmlns:a="http://schemas.openxmlformats.org/drawingml/2006/main" x="628650" y="1771650"/>
          <a:ext xmlns:a="http://schemas.openxmlformats.org/drawingml/2006/main" cx="10934700" cy="3771900"/>
        </p:xfrm>
        <a:graphic xmlns:a="http://schemas.openxmlformats.org/drawingml/2006/main">
          <a:graphicData uri="http://schemas.openxmlformats.org/drawingml/2006/table">
            <a:tbl>
              <a:tblPr firstRow="1" bandRow="0"/>
              <a:tblGrid>
                <a:gridCol w="7067550"/>
                <a:gridCol w="3867150"/>
              </a:tblGrid>
              <a:tr h="419100">
                <a:tc>
                  <a:txBody>
                    <a:bodyPr/>
                    <a:lstStyle/>
                    <a:p>
                      <a:r>
                        <a:rPr sz="1800" b="1">
                          <a:solidFill>
                            <a:srgbClr val="111111"/>
                          </a:solidFill>
                          <a:latin typeface="DejaVu Sans"/>
                          <a:ea typeface="DejaVu Sans"/>
                          <a:cs typeface="DejaVu Sans"/>
                        </a:rPr>
                        <a:t>Project file</a:t>
                      </a:r>
                    </a:p>
                  </a:txBody>
                  <a:tcPr marL="114300" marR="114300" marT="47625" marB="47625" anchor="ctr">
                    <a:solidFill>
                      <a:srgbClr val="FFFFFF"/>
                    </a:solidFill>
                  </a:tcPr>
                </a:tc>
                <a:tc>
                  <a:txBody>
                    <a:bodyPr/>
                    <a:lstStyle/>
                    <a:p>
                      <a:r>
                        <a:rPr sz="1800" b="1">
                          <a:solidFill>
                            <a:srgbClr val="111111"/>
                          </a:solidFill>
                          <a:latin typeface="DejaVu Sans"/>
                          <a:ea typeface="DejaVu Sans"/>
                          <a:cs typeface="DejaVu Sans"/>
                        </a:rPr>
                        <a:t>Feature to reference</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frontend/src/App.jsx</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Notifications / navigation</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frontend/src/components/shared/IncidentDetail.jsx</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Clarification / final timeline</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frontend/src/pages/citizen/MyReports.jsx</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Citizen history / status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frontend/src/components/shared/IncidentListView.jsx</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Citizen search / filters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frontend/src/pages/citizen/Dashboard.jsx</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Citizen overview / entry points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frontend/src/services/api.js</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Errors / authenticated requests</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frontend/src/hooks/useData.js</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Polling / refresh / cleanup</a:t>
                      </a:r>
                    </a:p>
                  </a:txBody>
                  <a:tcPr marL="114300" marR="114300" marT="47625" marB="47625" anchor="ctr">
                    <a:solidFill>
                      <a:srgbClr val="FFFFFF"/>
                    </a:solidFill>
                  </a:tcPr>
                </a:tc>
              </a:tr>
              <a:tr h="419100">
                <a:tc>
                  <a:txBody>
                    <a:bodyPr/>
                    <a:lstStyle/>
                    <a:p>
                      <a:r>
                        <a:rPr sz="1700" b="0">
                          <a:solidFill>
                            <a:srgbClr val="111111"/>
                          </a:solidFill>
                          <a:latin typeface="DejaVu Sans"/>
                          <a:ea typeface="DejaVu Sans"/>
                          <a:cs typeface="DejaVu Sans"/>
                        </a:rPr>
                        <a:t>* backend/routers/users.py</a:t>
                      </a:r>
                    </a:p>
                  </a:txBody>
                  <a:tcPr marL="114300" marR="114300" marT="47625" marB="47625" anchor="ctr">
                    <a:solidFill>
                      <a:srgbClr val="FFFFFF"/>
                    </a:solidFill>
                  </a:tcPr>
                </a:tc>
                <a:tc>
                  <a:txBody>
                    <a:bodyPr/>
                    <a:lstStyle/>
                    <a:p>
                      <a:r>
                        <a:rPr sz="1700" b="0">
                          <a:solidFill>
                            <a:srgbClr val="111111"/>
                          </a:solidFill>
                          <a:latin typeface="DejaVu Sans"/>
                          <a:ea typeface="DejaVu Sans"/>
                          <a:cs typeface="DejaVu Sans"/>
                        </a:rPr>
                        <a:t>Notification API contract</a:t>
                      </a:r>
                    </a:p>
                  </a:txBody>
                  <a:tcPr marL="114300" marR="114300" marT="47625" marB="47625" anchor="ctr">
                    <a:solidFill>
                      <a:srgbClr val="FFFFFF"/>
                    </a:solidFill>
                  </a:tcPr>
                </a:tc>
              </a:tr>
            </a:tbl>
          </a:graphicData>
        </a:graphic>
      </p:graphicFrame>
      <p:sp>
        <p:nvSpPr>
          <p:cNvPr id="4" name="Demo: Citizen replies to clarification and sees up">
            <a:extLst xmlns:a="http://schemas.openxmlformats.org/drawingml/2006/main">
              <a:ext uri="{FF2B5EF4-FFF2-40B4-BE49-F238E27FC236}">
                <a16:creationId xmlns:a16="http://schemas.microsoft.com/office/drawing/2014/main" id="{AC844123-0D95-434C-AEFB-2856C4CAF284}"/>
              </a:ext>
            </a:extLst>
          </p:cNvPr>
          <p:cNvSpPr>
            <a:spLocks xmlns:a="http://schemas.openxmlformats.org/drawingml/2006/main" noGrp="1"/>
          </p:cNvSpPr>
          <p:nvPr/>
        </p:nvSpPr>
        <p:spPr>
          <a:xfrm xmlns:a="http://schemas.openxmlformats.org/drawingml/2006/main">
            <a:off x="666750" y="57340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111111"/>
                </a:solidFill>
                <a:latin typeface="DejaVu Sans"/>
                <a:ea typeface="DejaVu Sans"/>
                <a:cs typeface="DejaVu Sans"/>
              </a:defRPr>
            </a:pPr>
            <a:r>
              <a:rPr sz="1725" b="1">
                <a:solidFill>
                  <a:srgbClr val="111111"/>
                </a:solidFill>
                <a:latin typeface="DejaVu Sans"/>
                <a:ea typeface="DejaVu Sans"/>
                <a:cs typeface="DejaVu Sans"/>
              </a:rPr>
              <a:t>Demo: Citizen replies to clarification and sees updates through final admin closure.</a:t>
            </a:r>
          </a:p>
        </p:txBody>
      </p:sp>
      <p:sp>
        <p:nvSpPr>
          <p:cNvPr id="5" name="* Shared file: coordinate your feature with the ot">
            <a:extLst xmlns:a="http://schemas.openxmlformats.org/drawingml/2006/main">
              <a:ext uri="{FF2B5EF4-FFF2-40B4-BE49-F238E27FC236}">
                <a16:creationId xmlns:a16="http://schemas.microsoft.com/office/drawing/2014/main" id="{864FC020-82CC-45D9-9927-D424ABF28C8E}"/>
              </a:ext>
            </a:extLst>
          </p:cNvPr>
          <p:cNvSpPr>
            <a:spLocks xmlns:a="http://schemas.openxmlformats.org/drawingml/2006/main" noGrp="1"/>
          </p:cNvSpPr>
          <p:nvPr/>
        </p:nvSpPr>
        <p:spPr>
          <a:xfrm xmlns:a="http://schemas.openxmlformats.org/drawingml/2006/main">
            <a:off x="666750" y="619125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111111"/>
                </a:solidFill>
                <a:latin typeface="DejaVu Sans"/>
                <a:ea typeface="DejaVu Sans"/>
                <a:cs typeface="DejaVu Sans"/>
              </a:defRPr>
            </a:pPr>
            <a:r>
              <a:rPr sz="1350" b="0">
                <a:solidFill>
                  <a:srgbClr val="111111"/>
                </a:solidFill>
                <a:latin typeface="DejaVu Sans"/>
                <a:ea typeface="DejaVu Sans"/>
                <a:cs typeface="DejaVu Sans"/>
              </a:rPr>
              <a:t>* Shared file: coordinate your feature with the other members.</a:t>
            </a:r>
          </a:p>
        </p:txBody>
      </p:sp>
      <p:sp>
        <p:nvSpPr>
          <p:cNvPr id="6" name="23">
            <a:extLst xmlns:a="http://schemas.openxmlformats.org/drawingml/2006/main">
              <a:ext uri="{FF2B5EF4-FFF2-40B4-BE49-F238E27FC236}">
                <a16:creationId xmlns:a16="http://schemas.microsoft.com/office/drawing/2014/main" id="{4E1546DF-8FDB-4DD1-AD75-68449087F1BC}"/>
              </a:ext>
            </a:extLst>
          </p:cNvPr>
          <p:cNvSpPr>
            <a:spLocks xmlns:a="http://schemas.openxmlformats.org/drawingml/2006/main" noGrp="1"/>
          </p:cNvSpPr>
          <p:nvPr/>
        </p:nvSpPr>
        <p:spPr>
          <a:xfrm xmlns:a="http://schemas.openxmlformats.org/drawingml/2006/main">
            <a:off x="110299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111111"/>
                </a:solidFill>
                <a:latin typeface="DejaVu Sans"/>
                <a:ea typeface="DejaVu Sans"/>
                <a:cs typeface="DejaVu Sans"/>
              </a:defRPr>
            </a:pPr>
            <a:r>
              <a:rPr sz="1275" b="0">
                <a:solidFill>
                  <a:srgbClr val="111111"/>
                </a:solidFill>
                <a:latin typeface="DejaVu Sans"/>
                <a:ea typeface="DejaVu Sans"/>
                <a:cs typeface="DejaVu Sans"/>
              </a:rPr>
              <a:t>23</a:t>
            </a:r>
          </a:p>
        </p:txBody>
      </p:sp>
    </p:spTree>
    <p:extLst>
      <p:ext uri="{BB962C8B-B14F-4D97-AF65-F5344CB8AC3E}">
        <p14:creationId xmlns:p14="http://schemas.microsoft.com/office/powerpoint/2010/main" val="144694520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Rectangle 10">
            <a:extLst xmlns:a="http://schemas.openxmlformats.org/drawingml/2006/main">
              <a:ext uri="{FF2B5EF4-FFF2-40B4-BE49-F238E27FC236}">
                <a16:creationId xmlns:a16="http://schemas.microsoft.com/office/drawing/2014/main" id="{7B3ED5AC-7C3C-4793-959C-3E455F4153DE}"/>
              </a:ext>
            </a:extLst>
          </p:cNvPr>
          <p:cNvSpPr>
            <a:spLocks xmlns:a="http://schemas.openxmlformats.org/drawingml/2006/main" noGrp="1"/>
          </p:cNvSpPr>
          <p:nvPr/>
        </p:nvSpPr>
        <p:spPr>
          <a:xfrm xmlns:a="http://schemas.openxmlformats.org/drawingml/2006/main">
            <a:off x="628650" y="457200"/>
            <a:ext cx="10934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1111"/>
                </a:solidFill>
                <a:latin typeface="DejaVu Sans"/>
                <a:ea typeface="DejaVu Sans"/>
                <a:cs typeface="DejaVu Sans"/>
              </a:defRPr>
            </a:pPr>
            <a:r>
              <a:rPr sz="3300" b="1">
                <a:solidFill>
                  <a:srgbClr val="111111"/>
                </a:solidFill>
                <a:latin typeface="DejaVu Sans"/>
                <a:ea typeface="DejaVu Sans"/>
                <a:cs typeface="DejaVu Sans"/>
              </a:rPr>
              <a:t>Coordinate shared files</a:t>
            </a:r>
          </a:p>
        </p:txBody>
      </p:sp>
      <p:sp>
        <p:nvSpPr>
          <p:cNvPr id="2" name="Rectangle 1">
            <a:extLst xmlns:a="http://schemas.openxmlformats.org/drawingml/2006/main">
              <a:ext uri="{FF2B5EF4-FFF2-40B4-BE49-F238E27FC236}">
                <a16:creationId xmlns:a16="http://schemas.microsoft.com/office/drawing/2014/main" id="{4A1DE227-55DA-4434-A649-B7EB4BFE3C30}"/>
              </a:ext>
            </a:extLst>
          </p:cNvPr>
          <p:cNvSpPr>
            <a:spLocks xmlns:a="http://schemas.openxmlformats.org/drawingml/2006/main" noGrp="1"/>
          </p:cNvSpPr>
          <p:nvPr/>
        </p:nvSpPr>
        <p:spPr>
          <a:xfrm xmlns:a="http://schemas.openxmlformats.org/drawingml/2006/main">
            <a:off x="110299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111111"/>
                </a:solidFill>
                <a:latin typeface="DejaVu Sans"/>
                <a:ea typeface="DejaVu Sans"/>
                <a:cs typeface="DejaVu Sans"/>
              </a:defRPr>
            </a:pPr>
            <a:r>
              <a:rPr sz="1275" b="0">
                <a:solidFill>
                  <a:srgbClr val="111111"/>
                </a:solidFill>
                <a:latin typeface="DejaVu Sans"/>
                <a:ea typeface="DejaVu Sans"/>
                <a:cs typeface="DejaVu Sans"/>
              </a:rPr>
              <a:t>24</a:t>
            </a:r>
          </a:p>
        </p:txBody>
      </p:sp>
      <p:sp>
        <p:nvSpPr>
          <p:cNvPr id="3" name="Rectangle 2">
            <a:extLst xmlns:a="http://schemas.openxmlformats.org/drawingml/2006/main">
              <a:ext uri="{FF2B5EF4-FFF2-40B4-BE49-F238E27FC236}">
                <a16:creationId xmlns:a16="http://schemas.microsoft.com/office/drawing/2014/main" id="{CBE23D78-569D-42C6-AF95-64396BBFAE86}"/>
              </a:ext>
            </a:extLst>
          </p:cNvPr>
          <p:cNvSpPr>
            <a:spLocks xmlns:a="http://schemas.openxmlformats.org/drawingml/2006/main" noGrp="1"/>
          </p:cNvSpPr>
          <p:nvPr/>
        </p:nvSpPr>
        <p:spPr>
          <a:xfrm xmlns:a="http://schemas.openxmlformats.org/drawingml/2006/main">
            <a:off x="666750" y="1581150"/>
            <a:ext cx="309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11111"/>
                </a:solidFill>
                <a:latin typeface="DejaVu Sans"/>
                <a:ea typeface="DejaVu Sans"/>
                <a:cs typeface="DejaVu Sans"/>
              </a:defRPr>
            </a:pPr>
            <a:r>
              <a:rPr sz="1950" b="1">
                <a:solidFill>
                  <a:srgbClr val="111111"/>
                </a:solidFill>
                <a:latin typeface="DejaVu Sans"/>
                <a:ea typeface="DejaVu Sans"/>
                <a:cs typeface="DejaVu Sans"/>
              </a:rPr>
              <a:t>Incident workflow</a:t>
            </a:r>
          </a:p>
        </p:txBody>
      </p:sp>
      <p:sp>
        <p:nvSpPr>
          <p:cNvPr id="4" name="Rectangle 3">
            <a:extLst xmlns:a="http://schemas.openxmlformats.org/drawingml/2006/main">
              <a:ext uri="{FF2B5EF4-FFF2-40B4-BE49-F238E27FC236}">
                <a16:creationId xmlns:a16="http://schemas.microsoft.com/office/drawing/2014/main" id="{822DFA20-A87A-4049-9D96-070528AC5193}"/>
              </a:ext>
            </a:extLst>
          </p:cNvPr>
          <p:cNvSpPr>
            <a:spLocks xmlns:a="http://schemas.openxmlformats.org/drawingml/2006/main" noGrp="1"/>
          </p:cNvSpPr>
          <p:nvPr/>
        </p:nvSpPr>
        <p:spPr>
          <a:xfrm xmlns:a="http://schemas.openxmlformats.org/drawingml/2006/main">
            <a:off x="3981450" y="1581150"/>
            <a:ext cx="742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11111"/>
                </a:solidFill>
                <a:latin typeface="DejaVu Sans"/>
                <a:ea typeface="DejaVu Sans"/>
                <a:cs typeface="DejaVu Sans"/>
              </a:defRPr>
            </a:pPr>
            <a:r>
              <a:rPr sz="1875" b="0">
                <a:solidFill>
                  <a:srgbClr val="111111"/>
                </a:solidFill>
                <a:latin typeface="DejaVu Sans"/>
                <a:ea typeface="DejaVu Sans"/>
                <a:cs typeface="DejaVu Sans"/>
              </a:rPr>
              <a:t>backend/routers/incidents.py: reporting, analysis, review, clarification and closure.</a:t>
            </a:r>
          </a:p>
        </p:txBody>
      </p:sp>
      <p:sp>
        <p:nvSpPr>
          <p:cNvPr id="5" name="Rectangle 4">
            <a:extLst xmlns:a="http://schemas.openxmlformats.org/drawingml/2006/main">
              <a:ext uri="{FF2B5EF4-FFF2-40B4-BE49-F238E27FC236}">
                <a16:creationId xmlns:a16="http://schemas.microsoft.com/office/drawing/2014/main" id="{FF8D808E-764F-4908-BEA6-3828D8213052}"/>
              </a:ext>
            </a:extLst>
          </p:cNvPr>
          <p:cNvSpPr>
            <a:spLocks xmlns:a="http://schemas.openxmlformats.org/drawingml/2006/main" noGrp="1"/>
          </p:cNvSpPr>
          <p:nvPr/>
        </p:nvSpPr>
        <p:spPr>
          <a:xfrm xmlns:a="http://schemas.openxmlformats.org/drawingml/2006/main">
            <a:off x="666750" y="2609850"/>
            <a:ext cx="309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11111"/>
                </a:solidFill>
                <a:latin typeface="DejaVu Sans"/>
                <a:ea typeface="DejaVu Sans"/>
                <a:cs typeface="DejaVu Sans"/>
              </a:defRPr>
            </a:pPr>
            <a:r>
              <a:rPr sz="1950" b="1">
                <a:solidFill>
                  <a:srgbClr val="111111"/>
                </a:solidFill>
                <a:latin typeface="DejaVu Sans"/>
                <a:ea typeface="DejaVu Sans"/>
                <a:cs typeface="DejaVu Sans"/>
              </a:rPr>
              <a:t>AI workflow</a:t>
            </a:r>
          </a:p>
        </p:txBody>
      </p:sp>
      <p:sp>
        <p:nvSpPr>
          <p:cNvPr id="6" name="Rectangle 5">
            <a:extLst xmlns:a="http://schemas.openxmlformats.org/drawingml/2006/main">
              <a:ext uri="{FF2B5EF4-FFF2-40B4-BE49-F238E27FC236}">
                <a16:creationId xmlns:a16="http://schemas.microsoft.com/office/drawing/2014/main" id="{CDDF5309-7D5D-447D-A2A9-4A35138BCFE1}"/>
              </a:ext>
            </a:extLst>
          </p:cNvPr>
          <p:cNvSpPr>
            <a:spLocks xmlns:a="http://schemas.openxmlformats.org/drawingml/2006/main" noGrp="1"/>
          </p:cNvSpPr>
          <p:nvPr/>
        </p:nvSpPr>
        <p:spPr>
          <a:xfrm xmlns:a="http://schemas.openxmlformats.org/drawingml/2006/main">
            <a:off x="3981450" y="2609850"/>
            <a:ext cx="742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11111"/>
                </a:solidFill>
                <a:latin typeface="DejaVu Sans"/>
                <a:ea typeface="DejaVu Sans"/>
                <a:cs typeface="DejaVu Sans"/>
              </a:defRPr>
            </a:pPr>
            <a:r>
              <a:rPr sz="1875" b="0">
                <a:solidFill>
                  <a:srgbClr val="111111"/>
                </a:solidFill>
                <a:latin typeface="DejaVu Sans"/>
                <a:ea typeface="DejaVu Sans"/>
                <a:cs typeface="DejaVu Sans"/>
              </a:rPr>
              <a:t>backend/ai/agent.py: Athul geography, Vidya severity, Maanaz summary, Arya orchestration.</a:t>
            </a:r>
          </a:p>
        </p:txBody>
      </p:sp>
      <p:sp>
        <p:nvSpPr>
          <p:cNvPr id="7" name="Rectangle 6">
            <a:extLst xmlns:a="http://schemas.openxmlformats.org/drawingml/2006/main">
              <a:ext uri="{FF2B5EF4-FFF2-40B4-BE49-F238E27FC236}">
                <a16:creationId xmlns:a16="http://schemas.microsoft.com/office/drawing/2014/main" id="{6AB05407-EF06-4EF8-9FD4-ECB94A5E3945}"/>
              </a:ext>
            </a:extLst>
          </p:cNvPr>
          <p:cNvSpPr>
            <a:spLocks xmlns:a="http://schemas.openxmlformats.org/drawingml/2006/main" noGrp="1"/>
          </p:cNvSpPr>
          <p:nvPr/>
        </p:nvSpPr>
        <p:spPr>
          <a:xfrm xmlns:a="http://schemas.openxmlformats.org/drawingml/2006/main">
            <a:off x="666750" y="3638550"/>
            <a:ext cx="309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11111"/>
                </a:solidFill>
                <a:latin typeface="DejaVu Sans"/>
                <a:ea typeface="DejaVu Sans"/>
                <a:cs typeface="DejaVu Sans"/>
              </a:defRPr>
            </a:pPr>
            <a:r>
              <a:rPr sz="1950" b="1">
                <a:solidFill>
                  <a:srgbClr val="111111"/>
                </a:solidFill>
                <a:latin typeface="DejaVu Sans"/>
                <a:ea typeface="DejaVu Sans"/>
                <a:cs typeface="DejaVu Sans"/>
              </a:rPr>
              <a:t>Shared screens</a:t>
            </a:r>
          </a:p>
        </p:txBody>
      </p:sp>
      <p:sp>
        <p:nvSpPr>
          <p:cNvPr id="8" name="Rectangle 7">
            <a:extLst xmlns:a="http://schemas.openxmlformats.org/drawingml/2006/main">
              <a:ext uri="{FF2B5EF4-FFF2-40B4-BE49-F238E27FC236}">
                <a16:creationId xmlns:a16="http://schemas.microsoft.com/office/drawing/2014/main" id="{7973071E-D5DF-4A82-A349-90AFA4CC4E82}"/>
              </a:ext>
            </a:extLst>
          </p:cNvPr>
          <p:cNvSpPr>
            <a:spLocks xmlns:a="http://schemas.openxmlformats.org/drawingml/2006/main" noGrp="1"/>
          </p:cNvSpPr>
          <p:nvPr/>
        </p:nvSpPr>
        <p:spPr>
          <a:xfrm xmlns:a="http://schemas.openxmlformats.org/drawingml/2006/main">
            <a:off x="3981450" y="3638550"/>
            <a:ext cx="742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11111"/>
                </a:solidFill>
                <a:latin typeface="DejaVu Sans"/>
                <a:ea typeface="DejaVu Sans"/>
                <a:cs typeface="DejaVu Sans"/>
              </a:defRPr>
            </a:pPr>
            <a:r>
              <a:rPr sz="1875" b="0">
                <a:solidFill>
                  <a:srgbClr val="111111"/>
                </a:solidFill>
                <a:latin typeface="DejaVu Sans"/>
                <a:ea typeface="DejaVu Sans"/>
                <a:cs typeface="DejaVu Sans"/>
              </a:rPr>
              <a:t>App.jsx and IncidentDetail.jsx: agree routing, session, review, team and citizen sections.</a:t>
            </a:r>
          </a:p>
        </p:txBody>
      </p:sp>
      <p:sp>
        <p:nvSpPr>
          <p:cNvPr id="9" name="Rectangle 8">
            <a:extLst xmlns:a="http://schemas.openxmlformats.org/drawingml/2006/main">
              <a:ext uri="{FF2B5EF4-FFF2-40B4-BE49-F238E27FC236}">
                <a16:creationId xmlns:a16="http://schemas.microsoft.com/office/drawing/2014/main" id="{DEDE569E-502D-44B7-BA9B-A64341CD901A}"/>
              </a:ext>
            </a:extLst>
          </p:cNvPr>
          <p:cNvSpPr>
            <a:spLocks xmlns:a="http://schemas.openxmlformats.org/drawingml/2006/main" noGrp="1"/>
          </p:cNvSpPr>
          <p:nvPr/>
        </p:nvSpPr>
        <p:spPr>
          <a:xfrm xmlns:a="http://schemas.openxmlformats.org/drawingml/2006/main">
            <a:off x="666750" y="4667250"/>
            <a:ext cx="309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11111"/>
                </a:solidFill>
                <a:latin typeface="DejaVu Sans"/>
                <a:ea typeface="DejaVu Sans"/>
                <a:cs typeface="DejaVu Sans"/>
              </a:defRPr>
            </a:pPr>
            <a:r>
              <a:rPr sz="1950" b="1">
                <a:solidFill>
                  <a:srgbClr val="111111"/>
                </a:solidFill>
                <a:latin typeface="DejaVu Sans"/>
                <a:ea typeface="DejaVu Sans"/>
                <a:cs typeface="DejaVu Sans"/>
              </a:rPr>
              <a:t>Common contracts</a:t>
            </a:r>
          </a:p>
        </p:txBody>
      </p:sp>
      <p:sp>
        <p:nvSpPr>
          <p:cNvPr id="10" name="Rectangle 9">
            <a:extLst xmlns:a="http://schemas.openxmlformats.org/drawingml/2006/main">
              <a:ext uri="{FF2B5EF4-FFF2-40B4-BE49-F238E27FC236}">
                <a16:creationId xmlns:a16="http://schemas.microsoft.com/office/drawing/2014/main" id="{4CFF4953-C854-49B6-9903-DDC7D72AA4DB}"/>
              </a:ext>
            </a:extLst>
          </p:cNvPr>
          <p:cNvSpPr>
            <a:spLocks xmlns:a="http://schemas.openxmlformats.org/drawingml/2006/main" noGrp="1"/>
          </p:cNvSpPr>
          <p:nvPr/>
        </p:nvSpPr>
        <p:spPr>
          <a:xfrm xmlns:a="http://schemas.openxmlformats.org/drawingml/2006/main">
            <a:off x="3981450" y="4667250"/>
            <a:ext cx="742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11111"/>
                </a:solidFill>
                <a:latin typeface="DejaVu Sans"/>
                <a:ea typeface="DejaVu Sans"/>
                <a:cs typeface="DejaVu Sans"/>
              </a:defRPr>
            </a:pPr>
            <a:r>
              <a:rPr sz="1875" b="0">
                <a:solidFill>
                  <a:srgbClr val="111111"/>
                </a:solidFill>
                <a:latin typeface="DejaVu Sans"/>
                <a:ea typeface="DejaVu Sans"/>
                <a:cs typeface="DejaVu Sans"/>
              </a:rPr>
              <a:t>Keep the same roles, status names, request IDs and API fields across all weekly work.</a:t>
            </a:r>
          </a:p>
        </p:txBody>
      </p:sp>
    </p:spTree>
    <p:extLst>
      <p:ext uri="{BB962C8B-B14F-4D97-AF65-F5344CB8AC3E}">
        <p14:creationId xmlns:p14="http://schemas.microsoft.com/office/powerpoint/2010/main" val="15704769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Rectangle 10">
            <a:extLst xmlns:a="http://schemas.openxmlformats.org/drawingml/2006/main">
              <a:ext uri="{FF2B5EF4-FFF2-40B4-BE49-F238E27FC236}">
                <a16:creationId xmlns:a16="http://schemas.microsoft.com/office/drawing/2014/main" id="{BB42A3EE-958F-48E7-8413-6B2A3A7AC412}"/>
              </a:ext>
            </a:extLst>
          </p:cNvPr>
          <p:cNvSpPr>
            <a:spLocks xmlns:a="http://schemas.openxmlformats.org/drawingml/2006/main" noGrp="1"/>
          </p:cNvSpPr>
          <p:nvPr/>
        </p:nvSpPr>
        <p:spPr>
          <a:xfrm xmlns:a="http://schemas.openxmlformats.org/drawingml/2006/main">
            <a:off x="628650" y="457200"/>
            <a:ext cx="10934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1111"/>
                </a:solidFill>
                <a:latin typeface="DejaVu Sans"/>
                <a:ea typeface="DejaVu Sans"/>
                <a:cs typeface="DejaVu Sans"/>
              </a:defRPr>
            </a:pPr>
            <a:r>
              <a:rPr sz="3300" b="1">
                <a:solidFill>
                  <a:srgbClr val="111111"/>
                </a:solidFill>
                <a:latin typeface="DejaVu Sans"/>
                <a:ea typeface="DejaVu Sans"/>
                <a:cs typeface="DejaVu Sans"/>
              </a:rPr>
              <a:t>Weekly submission and demonstration</a:t>
            </a:r>
          </a:p>
        </p:txBody>
      </p:sp>
      <p:sp>
        <p:nvSpPr>
          <p:cNvPr id="2" name="Rectangle 1">
            <a:extLst xmlns:a="http://schemas.openxmlformats.org/drawingml/2006/main">
              <a:ext uri="{FF2B5EF4-FFF2-40B4-BE49-F238E27FC236}">
                <a16:creationId xmlns:a16="http://schemas.microsoft.com/office/drawing/2014/main" id="{BD4D181C-BAF0-4E90-818F-D721E6C6F125}"/>
              </a:ext>
            </a:extLst>
          </p:cNvPr>
          <p:cNvSpPr>
            <a:spLocks xmlns:a="http://schemas.openxmlformats.org/drawingml/2006/main" noGrp="1"/>
          </p:cNvSpPr>
          <p:nvPr/>
        </p:nvSpPr>
        <p:spPr>
          <a:xfrm xmlns:a="http://schemas.openxmlformats.org/drawingml/2006/main">
            <a:off x="110299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111111"/>
                </a:solidFill>
                <a:latin typeface="DejaVu Sans"/>
                <a:ea typeface="DejaVu Sans"/>
                <a:cs typeface="DejaVu Sans"/>
              </a:defRPr>
            </a:pPr>
            <a:r>
              <a:rPr sz="1275" b="0">
                <a:solidFill>
                  <a:srgbClr val="111111"/>
                </a:solidFill>
                <a:latin typeface="DejaVu Sans"/>
                <a:ea typeface="DejaVu Sans"/>
                <a:cs typeface="DejaVu Sans"/>
              </a:rPr>
              <a:t>25</a:t>
            </a:r>
          </a:p>
        </p:txBody>
      </p:sp>
      <p:sp>
        <p:nvSpPr>
          <p:cNvPr id="3" name="Rectangle 2">
            <a:extLst xmlns:a="http://schemas.openxmlformats.org/drawingml/2006/main">
              <a:ext uri="{FF2B5EF4-FFF2-40B4-BE49-F238E27FC236}">
                <a16:creationId xmlns:a16="http://schemas.microsoft.com/office/drawing/2014/main" id="{708310F4-B6DF-4B48-84B6-77480FDF84A1}"/>
              </a:ext>
            </a:extLst>
          </p:cNvPr>
          <p:cNvSpPr>
            <a:spLocks xmlns:a="http://schemas.openxmlformats.org/drawingml/2006/main" noGrp="1"/>
          </p:cNvSpPr>
          <p:nvPr/>
        </p:nvSpPr>
        <p:spPr>
          <a:xfrm xmlns:a="http://schemas.openxmlformats.org/drawingml/2006/main">
            <a:off x="666750" y="1581150"/>
            <a:ext cx="309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11111"/>
                </a:solidFill>
                <a:latin typeface="DejaVu Sans"/>
                <a:ea typeface="DejaVu Sans"/>
                <a:cs typeface="DejaVu Sans"/>
              </a:defRPr>
            </a:pPr>
            <a:r>
              <a:rPr sz="1950" b="1">
                <a:solidFill>
                  <a:srgbClr val="111111"/>
                </a:solidFill>
                <a:latin typeface="DejaVu Sans"/>
                <a:ea typeface="DejaVu Sans"/>
                <a:cs typeface="DejaVu Sans"/>
              </a:rPr>
              <a:t>Day 1: agree</a:t>
            </a:r>
          </a:p>
        </p:txBody>
      </p:sp>
      <p:sp>
        <p:nvSpPr>
          <p:cNvPr id="4" name="Rectangle 3">
            <a:extLst xmlns:a="http://schemas.openxmlformats.org/drawingml/2006/main">
              <a:ext uri="{FF2B5EF4-FFF2-40B4-BE49-F238E27FC236}">
                <a16:creationId xmlns:a16="http://schemas.microsoft.com/office/drawing/2014/main" id="{59B8F09F-D804-4A08-96D4-5230A880EE40}"/>
              </a:ext>
            </a:extLst>
          </p:cNvPr>
          <p:cNvSpPr>
            <a:spLocks xmlns:a="http://schemas.openxmlformats.org/drawingml/2006/main" noGrp="1"/>
          </p:cNvSpPr>
          <p:nvPr/>
        </p:nvSpPr>
        <p:spPr>
          <a:xfrm xmlns:a="http://schemas.openxmlformats.org/drawingml/2006/main">
            <a:off x="3981450" y="1581150"/>
            <a:ext cx="742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11111"/>
                </a:solidFill>
                <a:latin typeface="DejaVu Sans"/>
                <a:ea typeface="DejaVu Sans"/>
                <a:cs typeface="DejaVu Sans"/>
              </a:defRPr>
            </a:pPr>
            <a:r>
              <a:rPr sz="1875" b="0">
                <a:solidFill>
                  <a:srgbClr val="111111"/>
                </a:solidFill>
                <a:latin typeface="DejaVu Sans"/>
                <a:ea typeface="DejaVu Sans"/>
                <a:cs typeface="DejaVu Sans"/>
              </a:rPr>
              <a:t>Agree database fields, API inputs, roles, status names and shared-file sections.</a:t>
            </a:r>
          </a:p>
        </p:txBody>
      </p:sp>
      <p:sp>
        <p:nvSpPr>
          <p:cNvPr id="5" name="Rectangle 4">
            <a:extLst xmlns:a="http://schemas.openxmlformats.org/drawingml/2006/main">
              <a:ext uri="{FF2B5EF4-FFF2-40B4-BE49-F238E27FC236}">
                <a16:creationId xmlns:a16="http://schemas.microsoft.com/office/drawing/2014/main" id="{0D8BFE45-1114-474F-867F-7172ED459C49}"/>
              </a:ext>
            </a:extLst>
          </p:cNvPr>
          <p:cNvSpPr>
            <a:spLocks xmlns:a="http://schemas.openxmlformats.org/drawingml/2006/main" noGrp="1"/>
          </p:cNvSpPr>
          <p:nvPr/>
        </p:nvSpPr>
        <p:spPr>
          <a:xfrm xmlns:a="http://schemas.openxmlformats.org/drawingml/2006/main">
            <a:off x="666750" y="2609850"/>
            <a:ext cx="309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11111"/>
                </a:solidFill>
                <a:latin typeface="DejaVu Sans"/>
                <a:ea typeface="DejaVu Sans"/>
                <a:cs typeface="DejaVu Sans"/>
              </a:defRPr>
            </a:pPr>
            <a:r>
              <a:rPr sz="1950" b="1">
                <a:solidFill>
                  <a:srgbClr val="111111"/>
                </a:solidFill>
                <a:latin typeface="DejaVu Sans"/>
                <a:ea typeface="DejaVu Sans"/>
                <a:cs typeface="DejaVu Sans"/>
              </a:rPr>
              <a:t>Days 2–3: prepare</a:t>
            </a:r>
          </a:p>
        </p:txBody>
      </p:sp>
      <p:sp>
        <p:nvSpPr>
          <p:cNvPr id="6" name="Rectangle 5">
            <a:extLst xmlns:a="http://schemas.openxmlformats.org/drawingml/2006/main">
              <a:ext uri="{FF2B5EF4-FFF2-40B4-BE49-F238E27FC236}">
                <a16:creationId xmlns:a16="http://schemas.microsoft.com/office/drawing/2014/main" id="{22AD2C99-82D1-4534-92E8-2864A0F80BF3}"/>
              </a:ext>
            </a:extLst>
          </p:cNvPr>
          <p:cNvSpPr>
            <a:spLocks xmlns:a="http://schemas.openxmlformats.org/drawingml/2006/main" noGrp="1"/>
          </p:cNvSpPr>
          <p:nvPr/>
        </p:nvSpPr>
        <p:spPr>
          <a:xfrm xmlns:a="http://schemas.openxmlformats.org/drawingml/2006/main">
            <a:off x="3981450" y="2609850"/>
            <a:ext cx="742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11111"/>
                </a:solidFill>
                <a:latin typeface="DejaVu Sans"/>
                <a:ea typeface="DejaVu Sans"/>
                <a:cs typeface="DejaVu Sans"/>
              </a:defRPr>
            </a:pPr>
            <a:r>
              <a:rPr sz="1875" b="0">
                <a:solidFill>
                  <a:srgbClr val="111111"/>
                </a:solidFill>
                <a:latin typeface="DejaVu Sans"/>
                <a:ea typeface="DejaVu Sans"/>
                <a:cs typeface="DejaVu Sans"/>
              </a:rPr>
              <a:t>Explain your feature and selected files. Save relevant tests and demo evidence.</a:t>
            </a:r>
          </a:p>
        </p:txBody>
      </p:sp>
      <p:sp>
        <p:nvSpPr>
          <p:cNvPr id="7" name="Rectangle 6">
            <a:extLst xmlns:a="http://schemas.openxmlformats.org/drawingml/2006/main">
              <a:ext uri="{FF2B5EF4-FFF2-40B4-BE49-F238E27FC236}">
                <a16:creationId xmlns:a16="http://schemas.microsoft.com/office/drawing/2014/main" id="{4106907E-5B03-4CAD-A8FA-459A65152116}"/>
              </a:ext>
            </a:extLst>
          </p:cNvPr>
          <p:cNvSpPr>
            <a:spLocks xmlns:a="http://schemas.openxmlformats.org/drawingml/2006/main" noGrp="1"/>
          </p:cNvSpPr>
          <p:nvPr/>
        </p:nvSpPr>
        <p:spPr>
          <a:xfrm xmlns:a="http://schemas.openxmlformats.org/drawingml/2006/main">
            <a:off x="666750" y="3638550"/>
            <a:ext cx="309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11111"/>
                </a:solidFill>
                <a:latin typeface="DejaVu Sans"/>
                <a:ea typeface="DejaVu Sans"/>
                <a:cs typeface="DejaVu Sans"/>
              </a:defRPr>
            </a:pPr>
            <a:r>
              <a:rPr sz="1950" b="1">
                <a:solidFill>
                  <a:srgbClr val="111111"/>
                </a:solidFill>
                <a:latin typeface="DejaVu Sans"/>
                <a:ea typeface="DejaVu Sans"/>
                <a:cs typeface="DejaVu Sans"/>
              </a:rPr>
              <a:t>Day 4: integrate</a:t>
            </a:r>
          </a:p>
        </p:txBody>
      </p:sp>
      <p:sp>
        <p:nvSpPr>
          <p:cNvPr id="8" name="Rectangle 7">
            <a:extLst xmlns:a="http://schemas.openxmlformats.org/drawingml/2006/main">
              <a:ext uri="{FF2B5EF4-FFF2-40B4-BE49-F238E27FC236}">
                <a16:creationId xmlns:a16="http://schemas.microsoft.com/office/drawing/2014/main" id="{B0EB62CE-E1F5-4493-A8C5-F12CBB1ED526}"/>
              </a:ext>
            </a:extLst>
          </p:cNvPr>
          <p:cNvSpPr>
            <a:spLocks xmlns:a="http://schemas.openxmlformats.org/drawingml/2006/main" noGrp="1"/>
          </p:cNvSpPr>
          <p:nvPr/>
        </p:nvSpPr>
        <p:spPr>
          <a:xfrm xmlns:a="http://schemas.openxmlformats.org/drawingml/2006/main">
            <a:off x="3981450" y="3638550"/>
            <a:ext cx="742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11111"/>
                </a:solidFill>
                <a:latin typeface="DejaVu Sans"/>
                <a:ea typeface="DejaVu Sans"/>
                <a:cs typeface="DejaVu Sans"/>
              </a:defRPr>
            </a:pPr>
            <a:r>
              <a:rPr sz="1875" b="0">
                <a:solidFill>
                  <a:srgbClr val="111111"/>
                </a:solidFill>
                <a:latin typeface="DejaVu Sans"/>
                <a:ea typeface="DejaVu Sans"/>
                <a:cs typeface="DejaVu Sans"/>
              </a:rPr>
              <a:t>Connect all four members’ work in the existing project and test the weekly flow.</a:t>
            </a:r>
          </a:p>
        </p:txBody>
      </p:sp>
      <p:sp>
        <p:nvSpPr>
          <p:cNvPr id="9" name="Rectangle 8">
            <a:extLst xmlns:a="http://schemas.openxmlformats.org/drawingml/2006/main">
              <a:ext uri="{FF2B5EF4-FFF2-40B4-BE49-F238E27FC236}">
                <a16:creationId xmlns:a16="http://schemas.microsoft.com/office/drawing/2014/main" id="{98959EF2-6365-4447-94B3-AFDFAAE5C69D}"/>
              </a:ext>
            </a:extLst>
          </p:cNvPr>
          <p:cNvSpPr>
            <a:spLocks xmlns:a="http://schemas.openxmlformats.org/drawingml/2006/main" noGrp="1"/>
          </p:cNvSpPr>
          <p:nvPr/>
        </p:nvSpPr>
        <p:spPr>
          <a:xfrm xmlns:a="http://schemas.openxmlformats.org/drawingml/2006/main">
            <a:off x="666750" y="4667250"/>
            <a:ext cx="309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11111"/>
                </a:solidFill>
                <a:latin typeface="DejaVu Sans"/>
                <a:ea typeface="DejaVu Sans"/>
                <a:cs typeface="DejaVu Sans"/>
              </a:defRPr>
            </a:pPr>
            <a:r>
              <a:rPr sz="1950" b="1">
                <a:solidFill>
                  <a:srgbClr val="111111"/>
                </a:solidFill>
                <a:latin typeface="DejaVu Sans"/>
                <a:ea typeface="DejaVu Sans"/>
                <a:cs typeface="DejaVu Sans"/>
              </a:rPr>
              <a:t>Day 5: submit</a:t>
            </a:r>
          </a:p>
        </p:txBody>
      </p:sp>
      <p:sp>
        <p:nvSpPr>
          <p:cNvPr id="10" name="Rectangle 9">
            <a:extLst xmlns:a="http://schemas.openxmlformats.org/drawingml/2006/main">
              <a:ext uri="{FF2B5EF4-FFF2-40B4-BE49-F238E27FC236}">
                <a16:creationId xmlns:a16="http://schemas.microsoft.com/office/drawing/2014/main" id="{DD6E8ADF-7046-459B-9F6C-5B8B33D91728}"/>
              </a:ext>
            </a:extLst>
          </p:cNvPr>
          <p:cNvSpPr>
            <a:spLocks xmlns:a="http://schemas.openxmlformats.org/drawingml/2006/main" noGrp="1"/>
          </p:cNvSpPr>
          <p:nvPr/>
        </p:nvSpPr>
        <p:spPr>
          <a:xfrm xmlns:a="http://schemas.openxmlformats.org/drawingml/2006/main">
            <a:off x="3981450" y="4667250"/>
            <a:ext cx="742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11111"/>
                </a:solidFill>
                <a:latin typeface="DejaVu Sans"/>
                <a:ea typeface="DejaVu Sans"/>
                <a:cs typeface="DejaVu Sans"/>
              </a:defRPr>
            </a:pPr>
            <a:r>
              <a:rPr sz="1875" b="0">
                <a:solidFill>
                  <a:srgbClr val="111111"/>
                </a:solidFill>
                <a:latin typeface="DejaVu Sans"/>
                <a:ea typeface="DejaVu Sans"/>
                <a:cs typeface="DejaVu Sans"/>
              </a:rPr>
              <a:t>Show the weekly result, list shared contributions and state remaining limitations.</a:t>
            </a:r>
          </a:p>
        </p:txBody>
      </p:sp>
    </p:spTree>
    <p:extLst>
      <p:ext uri="{BB962C8B-B14F-4D97-AF65-F5344CB8AC3E}">
        <p14:creationId xmlns:p14="http://schemas.microsoft.com/office/powerpoint/2010/main" val="13285859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2026-10-03T18:05:53.8070000Z</dcterms:created>
  <dcterms:modified xsi:type="dcterms:W3CDTF">2026-10-03T18:05:53.8070000Z</dcterms:modified>
</coreProperties>
</file>